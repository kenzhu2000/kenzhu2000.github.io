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75" r:id="rId2"/>
    <p:sldId id="322" r:id="rId3"/>
    <p:sldId id="357" r:id="rId4"/>
    <p:sldId id="358" r:id="rId5"/>
    <p:sldId id="359" r:id="rId6"/>
    <p:sldId id="360" r:id="rId7"/>
    <p:sldId id="361" r:id="rId8"/>
    <p:sldId id="363" r:id="rId9"/>
    <p:sldId id="364" r:id="rId10"/>
    <p:sldId id="362" r:id="rId11"/>
    <p:sldId id="3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15" autoAdjust="0"/>
    <p:restoredTop sz="74953" autoAdjust="0"/>
  </p:normalViewPr>
  <p:slideViewPr>
    <p:cSldViewPr snapToGrid="0">
      <p:cViewPr varScale="1">
        <p:scale>
          <a:sx n="83" d="100"/>
          <a:sy n="83" d="100"/>
        </p:scale>
        <p:origin x="170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42834-A923-415F-BF9C-1B2F00B6F7D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A8166-61D3-44AA-A36C-C4C8A9BB4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40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7443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56FC7-7B57-9B34-0849-C63EFD7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6A493-5B8F-B9CD-9EE4-713326D26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2D1DF-D2CD-F0BF-62DF-8107F9243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99663-8861-F76C-865E-A2D41C6D0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675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C3A3F-CAEF-3FE1-9F98-8C2BD23D8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4008E-96FE-CFCA-B4C5-686C36468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968D4-A828-41B1-1E31-5D730D2BA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79909-0267-39E0-70C2-D45A8385A8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53053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6FEEE-401B-F1FA-A903-51ED85692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4FF31-2AEB-D0C1-B78C-533CE74AD9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F24632-CF9C-76F6-D27B-42211E440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6349B-60D1-8B20-DDBA-B69806470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76723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136EA-874E-7DC6-C719-9817D9C4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81BC9-52C1-908C-4862-2400362AD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77CE65-05E6-DAD0-7209-D6BA961FA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84432-E58C-9A38-0F1D-C1491F2968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5403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B9B1A-2E4E-FEF5-2611-F0B287E48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7CBAF-EB7F-5315-853A-CD7CE934DD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6B48BB-25B3-64E8-DBF5-072611D62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3FD13-AA00-262A-CFA9-0C9AE4CA30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09189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F39B7-61DF-8933-39E4-36D5AAE3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4E993-34A0-52D4-9B3F-A39ED847F7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E7DDD-D2FD-803B-2F99-AE547148C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746FF-0B68-19BE-50F3-B0C1BA7CA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21812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1DADE-74C7-B33B-C73C-42537FDA1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C79784-8740-E626-EC14-A8A8EAFA24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2FD280-54B0-8355-F1C1-3B9B239C0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7320D-9EED-DA25-EEC0-2CF7240AE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99831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C06C6-01F9-E3A7-AC8C-B11DE44E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509BF5-66BD-FFDD-4A4D-055EDC3C54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430830-7DE7-7398-50C4-D7018A738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59229-6A1E-5478-0EE9-970E503AB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98322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D175-A0FE-E1FF-618F-B80BE02CE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B6448-E7F0-4E89-75C0-96B1D5BD8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82CC1-D3A8-F4DF-05C6-C2A84F8D7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26B49-F8B3-D5E3-A2EB-B72ABBA97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02410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98E83-FBA6-6706-E890-134F5C33B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CC8AE-8148-3E88-6677-5DAF3C811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3A5AD5-5285-5FA0-8F88-C23D48E62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834B2-3357-0FFE-DE8C-B83A3CFFD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199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38495" y="4750278"/>
            <a:ext cx="6968291" cy="194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479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4043767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56694" y="5179121"/>
            <a:ext cx="6108700" cy="1411816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686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56694" y="5179121"/>
            <a:ext cx="6108700" cy="1411816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08800" y="3655551"/>
            <a:ext cx="4878917" cy="11979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0552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609600" y="2380617"/>
            <a:ext cx="10972800" cy="1143004"/>
          </a:xfrm>
        </p:spPr>
        <p:txBody>
          <a:bodyPr>
            <a:normAutofit/>
          </a:bodyPr>
          <a:lstStyle>
            <a:lvl1pPr>
              <a:defRPr sz="5867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3372856"/>
            <a:ext cx="10972800" cy="90593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527222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8665"/>
            <a:ext cx="10972800" cy="1143000"/>
          </a:xfrm>
        </p:spPr>
        <p:txBody>
          <a:bodyPr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116753"/>
            <a:ext cx="10972800" cy="451275"/>
          </a:xfrm>
        </p:spPr>
        <p:txBody>
          <a:bodyPr>
            <a:noAutofit/>
          </a:bodyPr>
          <a:lstStyle>
            <a:lvl1pPr marL="0" indent="0" algn="ctr">
              <a:buNone/>
              <a:defRPr sz="2667">
                <a:solidFill>
                  <a:srgbClr val="00599B"/>
                </a:solidFill>
              </a:defRPr>
            </a:lvl1pPr>
            <a:lvl2pPr marL="609585" indent="0">
              <a:buNone/>
              <a:defRPr sz="3200">
                <a:solidFill>
                  <a:srgbClr val="00599B"/>
                </a:solidFill>
              </a:defRPr>
            </a:lvl2pPr>
            <a:lvl3pPr marL="1219170" indent="0">
              <a:buNone/>
              <a:defRPr sz="3200">
                <a:solidFill>
                  <a:srgbClr val="00599B"/>
                </a:solidFill>
              </a:defRPr>
            </a:lvl3pPr>
            <a:lvl4pPr marL="1828754" indent="0">
              <a:buNone/>
              <a:defRPr sz="3200">
                <a:solidFill>
                  <a:srgbClr val="00599B"/>
                </a:solidFill>
              </a:defRPr>
            </a:lvl4pPr>
            <a:lvl5pPr marL="2438339" indent="0">
              <a:buNone/>
              <a:defRPr sz="32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47522"/>
            <a:ext cx="10972800" cy="4131733"/>
          </a:xfrm>
        </p:spPr>
        <p:txBody>
          <a:bodyPr>
            <a:normAutofit/>
          </a:bodyPr>
          <a:lstStyle>
            <a:lvl1pPr marL="457189" indent="-457189">
              <a:buFont typeface="Wingdings" pitchFamily="2" charset="2"/>
              <a:buChar char="§"/>
              <a:defRPr sz="2133"/>
            </a:lvl1pPr>
            <a:lvl2pPr marL="990575" indent="-380990">
              <a:buFont typeface="Wingdings" pitchFamily="2" charset="2"/>
              <a:buChar char="§"/>
              <a:defRPr sz="2133"/>
            </a:lvl2pPr>
            <a:lvl3pPr marL="1523962" indent="-304792">
              <a:buFont typeface="Wingdings" pitchFamily="2" charset="2"/>
              <a:buChar char="§"/>
              <a:defRPr sz="2133"/>
            </a:lvl3pPr>
            <a:lvl4pPr marL="2133547" indent="-304792">
              <a:buFont typeface="Wingdings" pitchFamily="2" charset="2"/>
              <a:buChar char="§"/>
              <a:defRPr sz="2133"/>
            </a:lvl4pPr>
            <a:lvl5pPr marL="2743131" indent="-304792">
              <a:buFont typeface="Wingdings" pitchFamily="2" charset="2"/>
              <a:buChar char="§"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661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065953"/>
            <a:ext cx="10972800" cy="451275"/>
          </a:xfrm>
        </p:spPr>
        <p:txBody>
          <a:bodyPr>
            <a:noAutofit/>
          </a:bodyPr>
          <a:lstStyle>
            <a:lvl1pPr marL="0" indent="0" algn="ctr">
              <a:buNone/>
              <a:defRPr sz="2667">
                <a:solidFill>
                  <a:srgbClr val="00599B"/>
                </a:solidFill>
              </a:defRPr>
            </a:lvl1pPr>
            <a:lvl2pPr marL="609585" indent="0">
              <a:buNone/>
              <a:defRPr sz="3200">
                <a:solidFill>
                  <a:srgbClr val="00599B"/>
                </a:solidFill>
              </a:defRPr>
            </a:lvl2pPr>
            <a:lvl3pPr marL="1219170" indent="0">
              <a:buNone/>
              <a:defRPr sz="3200">
                <a:solidFill>
                  <a:srgbClr val="00599B"/>
                </a:solidFill>
              </a:defRPr>
            </a:lvl3pPr>
            <a:lvl4pPr marL="1828754" indent="0">
              <a:buNone/>
              <a:defRPr sz="3200">
                <a:solidFill>
                  <a:srgbClr val="00599B"/>
                </a:solidFill>
              </a:defRPr>
            </a:lvl4pPr>
            <a:lvl5pPr marL="2438339" indent="0">
              <a:buNone/>
              <a:defRPr sz="32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609600" y="1747522"/>
            <a:ext cx="5384800" cy="4131733"/>
          </a:xfrm>
        </p:spPr>
        <p:txBody>
          <a:bodyPr>
            <a:normAutofit/>
          </a:bodyPr>
          <a:lstStyle>
            <a:lvl1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6197600" y="1747522"/>
            <a:ext cx="5384800" cy="4131733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96634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63335" y="1481545"/>
            <a:ext cx="3628573" cy="2224644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3333" y="3808021"/>
            <a:ext cx="3628575" cy="2224644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3892467" y="1481545"/>
            <a:ext cx="3525653" cy="2326476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3879271" y="3980299"/>
            <a:ext cx="3628575" cy="2628405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011889" y="1490548"/>
            <a:ext cx="3910937" cy="2215640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67023" y="3980299"/>
            <a:ext cx="3937332" cy="2613235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658409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04800" y="381000"/>
            <a:ext cx="11582400" cy="6096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207375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304800" y="381000"/>
            <a:ext cx="11582400" cy="6096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609476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60960" y="-45720"/>
            <a:ext cx="12313920" cy="694944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10755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60960" y="-45720"/>
            <a:ext cx="12313920" cy="694944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2112701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88411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609585" rtl="0" eaLnBrk="1" latinLnBrk="0" hangingPunct="1">
        <a:spcBef>
          <a:spcPct val="0"/>
        </a:spcBef>
        <a:buNone/>
        <a:defRPr sz="4667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90575" indent="-380990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103" y="563071"/>
            <a:ext cx="10972800" cy="2344263"/>
          </a:xfrm>
        </p:spPr>
        <p:txBody>
          <a:bodyPr>
            <a:noAutofit/>
          </a:bodyPr>
          <a:lstStyle/>
          <a:p>
            <a:r>
              <a:rPr lang="en-US" sz="4800" dirty="0"/>
              <a:t>Tutorial 3</a:t>
            </a:r>
            <a:endParaRPr lang="en-US" altLang="zh-CN" sz="5333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46EDE5-6FC5-824E-9F44-F022997BFE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" y="4906266"/>
            <a:ext cx="10972800" cy="1244300"/>
          </a:xfrm>
        </p:spPr>
        <p:txBody>
          <a:bodyPr>
            <a:normAutofit/>
          </a:bodyPr>
          <a:lstStyle/>
          <a:p>
            <a:pPr fontAlgn="base"/>
            <a:r>
              <a:rPr lang="en-US" altLang="zh-CN" dirty="0"/>
              <a:t>Presenter: Peter​ Zhang</a:t>
            </a:r>
          </a:p>
          <a:p>
            <a:pPr fontAlgn="base"/>
            <a:r>
              <a:rPr lang="en-US" altLang="zh-CN" dirty="0"/>
              <a:t>1/28/2026</a:t>
            </a:r>
          </a:p>
          <a:p>
            <a:endParaRPr lang="en-US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C796814-B4C7-06C2-94D6-3F9ED29CF958}"/>
              </a:ext>
            </a:extLst>
          </p:cNvPr>
          <p:cNvSpPr txBox="1">
            <a:spLocks/>
          </p:cNvSpPr>
          <p:nvPr/>
        </p:nvSpPr>
        <p:spPr>
          <a:xfrm>
            <a:off x="482103" y="3284650"/>
            <a:ext cx="10972800" cy="1244300"/>
          </a:xfrm>
          <a:prstGeom prst="rect">
            <a:avLst/>
          </a:prstGeom>
        </p:spPr>
        <p:txBody>
          <a:bodyPr vert="horz" lIns="121920" tIns="60960" rIns="121920" bIns="6096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24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 fontAlgn="base"/>
            <a:r>
              <a:rPr lang="fr-FR" altLang="zh-CN" sz="3733" b="1" i="1" dirty="0">
                <a:solidFill>
                  <a:prstClr val="white"/>
                </a:solidFill>
                <a:ea typeface="黑体" panose="02010609060101010101" pitchFamily="49" charset="-122"/>
              </a:rPr>
              <a:t>Quiz 4 (45 min)</a:t>
            </a:r>
            <a:endParaRPr lang="en-US" altLang="zh-CN" sz="3733" b="1" i="1" dirty="0">
              <a:solidFill>
                <a:prstClr val="white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6317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49CCE-ED76-8FB5-A257-6CCDE2B0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ADF500-6292-F3BD-B2A0-FC7ACB98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9333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en-US" altLang="zh-CN" sz="4400" kern="0" dirty="0">
                <a:ea typeface="宋体" panose="02010600030101010101" pitchFamily="2" charset="-122"/>
              </a:rPr>
              <a:t>1. “</a:t>
            </a:r>
            <a:r>
              <a:rPr lang="en-US" altLang="zh-CN" sz="4400" kern="0" dirty="0" err="1">
                <a:ea typeface="宋体" panose="02010600030101010101" pitchFamily="2" charset="-122"/>
              </a:rPr>
              <a:t>succ</a:t>
            </a:r>
            <a:r>
              <a:rPr lang="en-US" altLang="zh-CN" sz="4400" kern="0" dirty="0">
                <a:ea typeface="宋体" panose="02010600030101010101" pitchFamily="2" charset="-122"/>
              </a:rPr>
              <a:t>(n) </a:t>
            </a:r>
            <a:r>
              <a:rPr lang="en-US" altLang="zh-CN" sz="4400" kern="0" dirty="0" err="1">
                <a:ea typeface="宋体" panose="02010600030101010101" pitchFamily="2" charset="-122"/>
              </a:rPr>
              <a:t>nat</a:t>
            </a:r>
            <a:r>
              <a:rPr lang="en-US" altLang="zh-CN" sz="4400" kern="0" dirty="0">
                <a:ea typeface="宋体" panose="02010600030101010101" pitchFamily="2" charset="-122"/>
              </a:rPr>
              <a:t>” is a judgement or judgement form ?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ECEAC0-2253-E353-6059-AA6EF2D429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1733261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342900" lvl="0" indent="-342900" defTabSz="9144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3600" kern="0" dirty="0">
                <a:solidFill>
                  <a:srgbClr val="000000"/>
                </a:solidFill>
                <a:latin typeface="Gill Sans"/>
                <a:ea typeface="SimSun" panose="02010600030101010101" pitchFamily="2" charset="-122"/>
                <a:sym typeface="Gill Sans" panose="020B0502020104020203" charset="0"/>
              </a:rPr>
              <a:t>a. judgement</a:t>
            </a:r>
          </a:p>
          <a:p>
            <a:pPr marL="342900" lvl="0" indent="-342900" defTabSz="9144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3600" kern="0" dirty="0">
                <a:solidFill>
                  <a:srgbClr val="000000"/>
                </a:solidFill>
                <a:latin typeface="Gill Sans"/>
                <a:ea typeface="SimSun" panose="02010600030101010101" pitchFamily="2" charset="-122"/>
                <a:sym typeface="Gill Sans" panose="020B0502020104020203" charset="0"/>
              </a:rPr>
              <a:t>b. Judgement form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1611FA-C842-005F-004A-C64CACE99DC6}"/>
              </a:ext>
            </a:extLst>
          </p:cNvPr>
          <p:cNvSpPr/>
          <p:nvPr/>
        </p:nvSpPr>
        <p:spPr>
          <a:xfrm>
            <a:off x="9012820" y="6275046"/>
            <a:ext cx="2569580" cy="17362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999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xit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59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F0873-5C69-2454-5596-23988D90A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EC0C66-E398-B479-8453-7700A7333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405" y="270437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en-US" altLang="zh-CN" sz="4400" dirty="0">
                <a:ea typeface="SimSun" panose="02010600030101010101" pitchFamily="2" charset="-122"/>
              </a:rPr>
              <a:t>2. Which one of the following is </a:t>
            </a:r>
            <a:r>
              <a:rPr lang="en-US" altLang="zh-CN" sz="4400" dirty="0">
                <a:solidFill>
                  <a:srgbClr val="FF0000"/>
                </a:solidFill>
                <a:ea typeface="SimSun" panose="02010600030101010101" pitchFamily="2" charset="-122"/>
              </a:rPr>
              <a:t>NOT </a:t>
            </a:r>
            <a:r>
              <a:rPr lang="en-US" altLang="zh-CN" sz="4400" dirty="0">
                <a:ea typeface="SimSun" panose="02010600030101010101" pitchFamily="2" charset="-122"/>
              </a:rPr>
              <a:t>a rule of definition of judgement form a = b + c?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9B84AF-31EC-CF1B-2DD0-3AD6A6FC2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32511"/>
            <a:ext cx="4352381" cy="404761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08D8E26-7370-9C11-BE6B-5540DAB8339F}"/>
              </a:ext>
            </a:extLst>
          </p:cNvPr>
          <p:cNvSpPr/>
          <p:nvPr/>
        </p:nvSpPr>
        <p:spPr>
          <a:xfrm>
            <a:off x="8827625" y="6227180"/>
            <a:ext cx="2569580" cy="17362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627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xit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59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A4DBC-50EA-9A15-70AF-581C9CA83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D3589F-D33E-CA8A-8546-71768A56C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0908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en-US" altLang="zh-CN" sz="4400" dirty="0">
                <a:ea typeface="SimSun" panose="02010600030101010101" pitchFamily="2" charset="-122"/>
              </a:rPr>
              <a:t>3. A top-down derivation of a judgement starts from ?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E21AE5-0E3E-D6AA-9CF3-576BFB3392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2027037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Proper rules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Axioms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Premises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Conclusion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C30532-3F2C-390F-C620-160AA59850E4}"/>
              </a:ext>
            </a:extLst>
          </p:cNvPr>
          <p:cNvSpPr/>
          <p:nvPr/>
        </p:nvSpPr>
        <p:spPr>
          <a:xfrm>
            <a:off x="9097701" y="6263471"/>
            <a:ext cx="2569580" cy="17362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874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xit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59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F1A-689B-C41D-A0C5-BF754337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5E63BB-9A92-1EF0-777B-6B2BD286D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002" y="501931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en-US" altLang="zh-CN" sz="4400" dirty="0">
                <a:ea typeface="SimSun" panose="02010600030101010101" pitchFamily="2" charset="-122"/>
              </a:rPr>
              <a:t>4. Which one of the following is </a:t>
            </a:r>
            <a:r>
              <a:rPr lang="en-US" altLang="zh-CN" sz="4400" dirty="0">
                <a:solidFill>
                  <a:srgbClr val="FF0000"/>
                </a:solidFill>
                <a:ea typeface="SimSun" panose="02010600030101010101" pitchFamily="2" charset="-122"/>
              </a:rPr>
              <a:t>NOT </a:t>
            </a:r>
            <a:r>
              <a:rPr lang="en-US" altLang="zh-CN" sz="4400" dirty="0">
                <a:ea typeface="SimSun" panose="02010600030101010101" pitchFamily="2" charset="-122"/>
              </a:rPr>
              <a:t>a part of doing an inductive proof?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324041-CF8B-8DA5-6F0F-CB1B76FD1C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1946014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Clearly state the induction hypothesis.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Make a proper inductive definition.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Clearly state what you are doing induction on.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Show one case for each rule in the inductive definition.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BB941F-BB24-5855-A469-9525D0083144}"/>
              </a:ext>
            </a:extLst>
          </p:cNvPr>
          <p:cNvSpPr/>
          <p:nvPr/>
        </p:nvSpPr>
        <p:spPr>
          <a:xfrm>
            <a:off x="9236597" y="6182448"/>
            <a:ext cx="2569580" cy="17362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634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xit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59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52ACE-6626-1728-B771-3B39A21B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0E5649-8A3D-C5FE-4BA6-D3960140B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66264"/>
            <a:ext cx="10988233" cy="2715831"/>
          </a:xfrm>
        </p:spPr>
        <p:txBody>
          <a:bodyPr>
            <a:normAutofit fontScale="90000"/>
          </a:bodyPr>
          <a:lstStyle/>
          <a:p>
            <a:r>
              <a:rPr lang="en-US" altLang="zh-CN" sz="4400" dirty="0">
                <a:ea typeface="SimSun" panose="02010600030101010101" pitchFamily="2" charset="-122"/>
              </a:rPr>
              <a:t>5. If the structure of your induction hypothesis is “</a:t>
            </a:r>
            <a:r>
              <a:rPr lang="en-US" altLang="zh-CN" sz="4400" i="1" dirty="0">
                <a:ea typeface="SimSun" panose="02010600030101010101" pitchFamily="2" charset="-122"/>
              </a:rPr>
              <a:t>If X </a:t>
            </a:r>
            <a:r>
              <a:rPr lang="en-US" altLang="zh-CN" sz="4400" i="1" dirty="0">
                <a:solidFill>
                  <a:srgbClr val="FF0000"/>
                </a:solidFill>
                <a:ea typeface="SimSun" panose="02010600030101010101" pitchFamily="2" charset="-122"/>
              </a:rPr>
              <a:t>or </a:t>
            </a:r>
            <a:r>
              <a:rPr lang="en-US" altLang="zh-CN" sz="4400" i="1" dirty="0">
                <a:ea typeface="SimSun" panose="02010600030101010101" pitchFamily="2" charset="-122"/>
              </a:rPr>
              <a:t>Y then A</a:t>
            </a:r>
            <a:r>
              <a:rPr lang="en-US" altLang="zh-CN" sz="4400" dirty="0">
                <a:ea typeface="SimSun" panose="02010600030101010101" pitchFamily="2" charset="-122"/>
              </a:rPr>
              <a:t>”, which of the following things is </a:t>
            </a:r>
            <a:r>
              <a:rPr lang="en-US" altLang="zh-CN" sz="4400" dirty="0">
                <a:solidFill>
                  <a:srgbClr val="FF0000"/>
                </a:solidFill>
                <a:ea typeface="SimSun" panose="02010600030101010101" pitchFamily="2" charset="-122"/>
              </a:rPr>
              <a:t>proper</a:t>
            </a:r>
            <a:r>
              <a:rPr lang="en-US" altLang="zh-CN" sz="4400" dirty="0">
                <a:ea typeface="SimSun" panose="02010600030101010101" pitchFamily="2" charset="-122"/>
              </a:rPr>
              <a:t> for you to assume and prove?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F00C70-4C67-CB83-D71D-00BD01C40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3068759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or Y,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and Y,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prove A, or Assume Y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prove A, and Assume Y prove 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13BFDE-762D-715E-6D7E-A4D3E7732885}"/>
              </a:ext>
            </a:extLst>
          </p:cNvPr>
          <p:cNvSpPr/>
          <p:nvPr/>
        </p:nvSpPr>
        <p:spPr>
          <a:xfrm>
            <a:off x="9120850" y="6228741"/>
            <a:ext cx="2569580" cy="17362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242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xit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59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A4D9D-1E47-457A-2BFA-6CEA33C37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0CEFD3-4127-BAEB-359B-3539B6E0E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4"/>
            <a:ext cx="10895635" cy="2902493"/>
          </a:xfrm>
        </p:spPr>
        <p:txBody>
          <a:bodyPr>
            <a:normAutofit/>
          </a:bodyPr>
          <a:lstStyle/>
          <a:p>
            <a:r>
              <a:rPr lang="en-US" altLang="zh-CN" sz="4000" dirty="0">
                <a:ea typeface="SimSun" panose="02010600030101010101" pitchFamily="2" charset="-122"/>
              </a:rPr>
              <a:t>6. If the structure of your induction hypothesis is “</a:t>
            </a:r>
            <a:r>
              <a:rPr lang="en-US" altLang="zh-CN" sz="4000" i="1" dirty="0">
                <a:ea typeface="SimSun" panose="02010600030101010101" pitchFamily="2" charset="-122"/>
              </a:rPr>
              <a:t>If X </a:t>
            </a:r>
            <a:r>
              <a:rPr lang="en-US" altLang="zh-CN" sz="4000" i="1" dirty="0">
                <a:solidFill>
                  <a:srgbClr val="FF0000"/>
                </a:solidFill>
                <a:ea typeface="SimSun" panose="02010600030101010101" pitchFamily="2" charset="-122"/>
              </a:rPr>
              <a:t>and </a:t>
            </a:r>
            <a:r>
              <a:rPr lang="en-US" altLang="zh-CN" sz="4000" i="1" dirty="0">
                <a:ea typeface="SimSun" panose="02010600030101010101" pitchFamily="2" charset="-122"/>
              </a:rPr>
              <a:t>Y then A</a:t>
            </a:r>
            <a:r>
              <a:rPr lang="en-US" altLang="zh-CN" sz="4000" dirty="0">
                <a:ea typeface="SimSun" panose="02010600030101010101" pitchFamily="2" charset="-122"/>
              </a:rPr>
              <a:t>”, which of the following things is </a:t>
            </a:r>
            <a:r>
              <a:rPr lang="en-US" altLang="zh-CN" sz="4000" dirty="0">
                <a:solidFill>
                  <a:srgbClr val="FF0000"/>
                </a:solidFill>
                <a:ea typeface="SimSun" panose="02010600030101010101" pitchFamily="2" charset="-122"/>
              </a:rPr>
              <a:t>proper</a:t>
            </a:r>
            <a:r>
              <a:rPr lang="en-US" altLang="zh-CN" sz="4000" dirty="0">
                <a:ea typeface="SimSun" panose="02010600030101010101" pitchFamily="2" charset="-122"/>
              </a:rPr>
              <a:t> for you to assume and prove?</a:t>
            </a:r>
            <a:endParaRPr lang="en-US" sz="40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7EE284-535D-2878-8DA6-21C18284B3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7640" y="3068758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or Y,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and Y,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prove A, or Assume Y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prove A, and Assume Y prove 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2F2DE9-745C-2DC1-45DC-752DEE093E5B}"/>
              </a:ext>
            </a:extLst>
          </p:cNvPr>
          <p:cNvSpPr/>
          <p:nvPr/>
        </p:nvSpPr>
        <p:spPr>
          <a:xfrm>
            <a:off x="9317620" y="6286614"/>
            <a:ext cx="2569580" cy="17362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46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xit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59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1C2D2-D1A6-031B-1B5F-38D150456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3B2864-C303-38F7-1D76-98B54DBFF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4"/>
            <a:ext cx="10895635" cy="2902493"/>
          </a:xfrm>
        </p:spPr>
        <p:txBody>
          <a:bodyPr>
            <a:normAutofit/>
          </a:bodyPr>
          <a:lstStyle/>
          <a:p>
            <a:r>
              <a:rPr lang="en-US" sz="4000" dirty="0"/>
              <a:t>7. To prove that a judgement form holds for a specific instance, typically we use: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790B30-1EA6-8080-449C-BB9CCB6BFD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7640" y="3068758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Derivation (tree)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Proof by induction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Proof by exhaustion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Flow charts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9D26CC-7A47-D57A-D052-0C9697074E72}"/>
              </a:ext>
            </a:extLst>
          </p:cNvPr>
          <p:cNvSpPr/>
          <p:nvPr/>
        </p:nvSpPr>
        <p:spPr>
          <a:xfrm>
            <a:off x="9317620" y="6286614"/>
            <a:ext cx="2569580" cy="17362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617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xit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59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9782A-F60F-0790-EECA-F8E350208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BF2638-8841-CE99-CCD3-0F3A3649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4"/>
            <a:ext cx="10895635" cy="2902493"/>
          </a:xfrm>
        </p:spPr>
        <p:txBody>
          <a:bodyPr>
            <a:normAutofit/>
          </a:bodyPr>
          <a:lstStyle/>
          <a:p>
            <a:r>
              <a:rPr lang="en-US" sz="4000" dirty="0"/>
              <a:t>8. In an </a:t>
            </a:r>
            <a:r>
              <a:rPr lang="en-US" sz="4000" dirty="0">
                <a:solidFill>
                  <a:srgbClr val="FF0000"/>
                </a:solidFill>
              </a:rPr>
              <a:t>induction proof</a:t>
            </a:r>
            <a:r>
              <a:rPr lang="en-US" sz="4000" dirty="0"/>
              <a:t>, each case typically refers to: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EA78D0-3DB0-6F61-BFC3-FB2B48CFAD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7640" y="2686794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sz="3600" dirty="0"/>
              <a:t>Each possible value of the variables 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sz="3600" dirty="0"/>
              <a:t>Each inference rule in the inductive definition 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sz="3600" dirty="0"/>
              <a:t>Each arithmetic operation 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sz="3600" dirty="0"/>
              <a:t>Each possible conclusion</a:t>
            </a:r>
            <a:endParaRPr lang="en-US" altLang="zh-CN" sz="3600" dirty="0">
              <a:ea typeface="SimSun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17038A-7B01-8BC6-11C6-AB4C5D936029}"/>
              </a:ext>
            </a:extLst>
          </p:cNvPr>
          <p:cNvSpPr/>
          <p:nvPr/>
        </p:nvSpPr>
        <p:spPr>
          <a:xfrm>
            <a:off x="9317620" y="6286614"/>
            <a:ext cx="2569580" cy="17362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130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xit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59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7FE5D-8AFB-F1E6-E4FB-7892A440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CA9DB67-85C8-639B-09F3-BB28E28BFEC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09600" y="166264"/>
                <a:ext cx="11277600" cy="6120350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sz="3000" dirty="0"/>
                  <a:t>9.</a:t>
                </a:r>
                <a:br>
                  <a:rPr lang="en-US" sz="3000" dirty="0"/>
                </a:br>
                <a:r>
                  <a:rPr lang="en-US" sz="3000" dirty="0"/>
                  <a:t>(a) Give an </a:t>
                </a:r>
                <a:r>
                  <a:rPr lang="en-US" sz="3000" dirty="0">
                    <a:solidFill>
                      <a:srgbClr val="FF0000"/>
                    </a:solidFill>
                  </a:rPr>
                  <a:t>inductive definition </a:t>
                </a:r>
                <a:r>
                  <a:rPr lang="en-US" sz="3000" dirty="0"/>
                  <a:t>of the judgment form</a:t>
                </a:r>
                <a:br>
                  <a:rPr lang="en-US" sz="3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000" b="0"/>
                        <m:t>max</m:t>
                      </m:r>
                      <m:r>
                        <m:rPr>
                          <m:nor/>
                        </m:rPr>
                        <a:rPr lang="en-US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 sz="3000" b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br>
                  <a:rPr lang="ar-AE" sz="3000" b="0" dirty="0"/>
                </a:br>
                <a:r>
                  <a:rPr lang="en-US" sz="3000" dirty="0"/>
                  <a:t>which indicates the maximum number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3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0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3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300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sz="3000" dirty="0"/>
                  <a:t>.</a:t>
                </a:r>
                <a:r>
                  <a:rPr lang="en-US" sz="3000" dirty="0"/>
                  <a:t> </a:t>
                </a:r>
                <a:br>
                  <a:rPr lang="en-US" sz="3000" dirty="0"/>
                </a:br>
                <a:r>
                  <a:rPr lang="en-US" sz="3000" dirty="0"/>
                  <a:t>(Hint: Consider the inductive definition of </a:t>
                </a:r>
                <a:r>
                  <a:rPr lang="en-US" sz="3000" b="0" i="1" dirty="0"/>
                  <a:t>add</a:t>
                </a:r>
                <a:r>
                  <a:rPr lang="en-US" sz="3000" dirty="0"/>
                  <a:t> based on the inductive structure of </a:t>
                </a:r>
                <a:r>
                  <a:rPr lang="en-US" sz="3000" b="0" i="1" dirty="0"/>
                  <a:t>n </a:t>
                </a:r>
                <a:r>
                  <a:rPr lang="en-US" sz="3000" b="0" i="1" dirty="0" err="1"/>
                  <a:t>nat</a:t>
                </a:r>
                <a:r>
                  <a:rPr lang="en-US" sz="3000" dirty="0"/>
                  <a:t>)</a:t>
                </a:r>
                <a:br>
                  <a:rPr lang="en-US" sz="3000" dirty="0"/>
                </a:br>
                <a:br>
                  <a:rPr lang="ar-AE" sz="3000" dirty="0"/>
                </a:br>
                <a:r>
                  <a:rPr lang="en-US" sz="3000" dirty="0"/>
                  <a:t>(b) </a:t>
                </a:r>
                <a:r>
                  <a:rPr lang="en-US" sz="3000" dirty="0">
                    <a:solidFill>
                      <a:srgbClr val="FF0000"/>
                    </a:solidFill>
                  </a:rPr>
                  <a:t>Prove by induction</a:t>
                </a:r>
                <a:r>
                  <a:rPr lang="en-US" sz="3000" dirty="0"/>
                  <a:t>: if</a:t>
                </a:r>
                <a:br>
                  <a:rPr lang="en-US" sz="3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000" b="0"/>
                        <m:t>max</m:t>
                      </m:r>
                      <m:r>
                        <m:rPr>
                          <m:nor/>
                        </m:rPr>
                        <a:rPr lang="en-US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 sz="3000" b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br>
                  <a:rPr lang="ar-AE" sz="3000" b="0" dirty="0"/>
                </a:br>
                <a:r>
                  <a:rPr lang="en-US" sz="3000" dirty="0"/>
                  <a:t>then</a:t>
                </a:r>
                <a:br>
                  <a:rPr lang="en-US" sz="3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000" b="0"/>
                        <m:t>max</m:t>
                      </m:r>
                      <m:r>
                        <m:rPr>
                          <m:nor/>
                        </m:rPr>
                        <a:rPr lang="en-US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 sz="3000" b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ar-AE" sz="3000" b="0" dirty="0"/>
              </a:p>
            </p:txBody>
          </p:sp>
        </mc:Choice>
        <mc:Fallback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CA9DB67-85C8-639B-09F3-BB28E28BFE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09600" y="166264"/>
                <a:ext cx="11277600" cy="6120350"/>
              </a:xfrm>
              <a:blipFill>
                <a:blip r:embed="rId3"/>
                <a:stretch>
                  <a:fillRect l="-1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7228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447AF-0199-FFC1-ADD4-24D147651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8B5405-4E61-C405-27C5-9302F83E7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4"/>
            <a:ext cx="11277600" cy="6120350"/>
          </a:xfrm>
        </p:spPr>
        <p:txBody>
          <a:bodyPr>
            <a:normAutofit/>
          </a:bodyPr>
          <a:lstStyle/>
          <a:p>
            <a:pPr algn="l"/>
            <a:r>
              <a:rPr lang="en-US" sz="3000" dirty="0"/>
              <a:t>Take a photo of your quiz and upload it on Canvas, make sure it is readable.</a:t>
            </a:r>
            <a:br>
              <a:rPr lang="en-US" sz="3000" dirty="0"/>
            </a:br>
            <a:br>
              <a:rPr lang="en-US" sz="3000" dirty="0"/>
            </a:b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091015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00000"/>
    </mc:Choice>
    <mc:Fallback xmlns="">
      <p:transition spd="slow" advTm="1200000"/>
    </mc:Fallback>
  </mc:AlternateContent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</TotalTime>
  <Words>425</Words>
  <Application>Microsoft Office PowerPoint</Application>
  <PresentationFormat>Widescreen</PresentationFormat>
  <Paragraphs>51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Gill Sans</vt:lpstr>
      <vt:lpstr>SimHei</vt:lpstr>
      <vt:lpstr>SimSun</vt:lpstr>
      <vt:lpstr>SimSun</vt:lpstr>
      <vt:lpstr>Aptos</vt:lpstr>
      <vt:lpstr>Arial</vt:lpstr>
      <vt:lpstr>Calibri</vt:lpstr>
      <vt:lpstr>Cambria Math</vt:lpstr>
      <vt:lpstr>Helvetica</vt:lpstr>
      <vt:lpstr>Wingdings</vt:lpstr>
      <vt:lpstr>UTA Accessible Template</vt:lpstr>
      <vt:lpstr>Tutorial 3</vt:lpstr>
      <vt:lpstr>1. “succ(n) nat” is a judgement or judgement form ?</vt:lpstr>
      <vt:lpstr>2. Which one of the following is NOT a rule of definition of judgement form a = b + c?</vt:lpstr>
      <vt:lpstr>3. A top-down derivation of a judgement starts from ?</vt:lpstr>
      <vt:lpstr>4. Which one of the following is NOT a part of doing an inductive proof?</vt:lpstr>
      <vt:lpstr>5. If the structure of your induction hypothesis is “If X or Y then A”, which of the following things is proper for you to assume and prove?</vt:lpstr>
      <vt:lpstr>6. If the structure of your induction hypothesis is “If X and Y then A”, which of the following things is proper for you to assume and prove?</vt:lpstr>
      <vt:lpstr>7. To prove that a judgement form holds for a specific instance, typically we use:</vt:lpstr>
      <vt:lpstr>8. In an induction proof, each case typically refers to: </vt:lpstr>
      <vt:lpstr>9. (a) Give an inductive definition of the judgment form "max " n_1 " " n_2 " " n_3, which indicates the maximum number between n_1and n_2is n_3.  (Hint: Consider the inductive definition of add based on the inductive structure of n nat)  (b) Prove by induction: if "max " n_1 " " n_2 " " n_3, then "max " n_2 " " n_1 " " n_3.</vt:lpstr>
      <vt:lpstr>Take a photo of your quiz and upload it on Canvas, make sure it is readable.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Zhang, Weiran</dc:creator>
  <cp:lastModifiedBy>Zhang, Weiran</cp:lastModifiedBy>
  <cp:revision>11</cp:revision>
  <dcterms:created xsi:type="dcterms:W3CDTF">2026-01-19T23:51:43Z</dcterms:created>
  <dcterms:modified xsi:type="dcterms:W3CDTF">2026-01-28T17:49:48Z</dcterms:modified>
</cp:coreProperties>
</file>