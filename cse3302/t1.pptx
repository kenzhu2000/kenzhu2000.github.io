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75" r:id="rId5"/>
    <p:sldId id="322" r:id="rId6"/>
    <p:sldId id="326" r:id="rId7"/>
    <p:sldId id="327" r:id="rId8"/>
    <p:sldId id="328" r:id="rId9"/>
    <p:sldId id="330" r:id="rId10"/>
    <p:sldId id="329" r:id="rId11"/>
    <p:sldId id="331" r:id="rId12"/>
    <p:sldId id="332" r:id="rId13"/>
    <p:sldId id="333" r:id="rId14"/>
    <p:sldId id="334" r:id="rId15"/>
    <p:sldId id="335" r:id="rId16"/>
    <p:sldId id="288" r:id="rId17"/>
    <p:sldId id="312" r:id="rId18"/>
    <p:sldId id="287" r:id="rId1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B570E1-CFFA-F280-BAED-DB325FDF417B}" name="Bridges, Jessica L" initials="BL" userId="S::bridges@uta.edu::7543e851-fc57-4885-b57d-2df771cc28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2184"/>
    <a:srgbClr val="00599B"/>
    <a:srgbClr val="80F571"/>
    <a:srgbClr val="13409F"/>
    <a:srgbClr val="CAB447"/>
    <a:srgbClr val="FFE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40"/>
    <p:restoredTop sz="78087" autoAdjust="0"/>
  </p:normalViewPr>
  <p:slideViewPr>
    <p:cSldViewPr snapToGrid="0" snapToObjects="1">
      <p:cViewPr varScale="1">
        <p:scale>
          <a:sx n="77" d="100"/>
          <a:sy n="77" d="100"/>
        </p:scale>
        <p:origin x="2904" y="696"/>
      </p:cViewPr>
      <p:guideLst/>
    </p:cSldViewPr>
  </p:slideViewPr>
  <p:outlineViewPr>
    <p:cViewPr>
      <p:scale>
        <a:sx n="33" d="100"/>
        <a:sy n="33" d="100"/>
      </p:scale>
      <p:origin x="0" y="-18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g, Weiran" userId="S::wxz9630@mavs.uta.edu::647f5b6a-3f7d-4b03-bdb2-5e95800f4c7b" providerId="AD" clId="Web-{4F2FC696-846E-93BD-E535-7062A6697F30}"/>
    <pc:docChg chg="modSld">
      <pc:chgData name="Zhang, Weiran" userId="S::wxz9630@mavs.uta.edu::647f5b6a-3f7d-4b03-bdb2-5e95800f4c7b" providerId="AD" clId="Web-{4F2FC696-846E-93BD-E535-7062A6697F30}" dt="2026-01-15T02:07:04.572" v="12"/>
      <pc:docMkLst>
        <pc:docMk/>
      </pc:docMkLst>
      <pc:sldChg chg="modNotes">
        <pc:chgData name="Zhang, Weiran" userId="S::wxz9630@mavs.uta.edu::647f5b6a-3f7d-4b03-bdb2-5e95800f4c7b" providerId="AD" clId="Web-{4F2FC696-846E-93BD-E535-7062A6697F30}" dt="2026-01-15T02:07:01.541" v="11"/>
        <pc:sldMkLst>
          <pc:docMk/>
          <pc:sldMk cId="1044620085" sldId="288"/>
        </pc:sldMkLst>
      </pc:sldChg>
      <pc:sldChg chg="modNotes">
        <pc:chgData name="Zhang, Weiran" userId="S::wxz9630@mavs.uta.edu::647f5b6a-3f7d-4b03-bdb2-5e95800f4c7b" providerId="AD" clId="Web-{4F2FC696-846E-93BD-E535-7062A6697F30}" dt="2026-01-15T02:07:04.572" v="12"/>
        <pc:sldMkLst>
          <pc:docMk/>
          <pc:sldMk cId="350753732" sldId="312"/>
        </pc:sldMkLst>
      </pc:sldChg>
      <pc:sldChg chg="modNotes">
        <pc:chgData name="Zhang, Weiran" userId="S::wxz9630@mavs.uta.edu::647f5b6a-3f7d-4b03-bdb2-5e95800f4c7b" providerId="AD" clId="Web-{4F2FC696-846E-93BD-E535-7062A6697F30}" dt="2026-01-15T02:06:32.088" v="0"/>
        <pc:sldMkLst>
          <pc:docMk/>
          <pc:sldMk cId="1622999005" sldId="322"/>
        </pc:sldMkLst>
      </pc:sldChg>
      <pc:sldChg chg="modNotes">
        <pc:chgData name="Zhang, Weiran" userId="S::wxz9630@mavs.uta.edu::647f5b6a-3f7d-4b03-bdb2-5e95800f4c7b" providerId="AD" clId="Web-{4F2FC696-846E-93BD-E535-7062A6697F30}" dt="2026-01-15T02:06:35.619" v="1"/>
        <pc:sldMkLst>
          <pc:docMk/>
          <pc:sldMk cId="1547186827" sldId="326"/>
        </pc:sldMkLst>
      </pc:sldChg>
      <pc:sldChg chg="modNotes">
        <pc:chgData name="Zhang, Weiran" userId="S::wxz9630@mavs.uta.edu::647f5b6a-3f7d-4b03-bdb2-5e95800f4c7b" providerId="AD" clId="Web-{4F2FC696-846E-93BD-E535-7062A6697F30}" dt="2026-01-15T02:06:39.603" v="2"/>
        <pc:sldMkLst>
          <pc:docMk/>
          <pc:sldMk cId="1298751251" sldId="327"/>
        </pc:sldMkLst>
      </pc:sldChg>
      <pc:sldChg chg="modNotes">
        <pc:chgData name="Zhang, Weiran" userId="S::wxz9630@mavs.uta.edu::647f5b6a-3f7d-4b03-bdb2-5e95800f4c7b" providerId="AD" clId="Web-{4F2FC696-846E-93BD-E535-7062A6697F30}" dt="2026-01-15T02:06:43.260" v="3"/>
        <pc:sldMkLst>
          <pc:docMk/>
          <pc:sldMk cId="3286954302" sldId="328"/>
        </pc:sldMkLst>
      </pc:sldChg>
      <pc:sldChg chg="modNotes">
        <pc:chgData name="Zhang, Weiran" userId="S::wxz9630@mavs.uta.edu::647f5b6a-3f7d-4b03-bdb2-5e95800f4c7b" providerId="AD" clId="Web-{4F2FC696-846E-93BD-E535-7062A6697F30}" dt="2026-01-15T02:06:48.353" v="5"/>
        <pc:sldMkLst>
          <pc:docMk/>
          <pc:sldMk cId="4221802675" sldId="329"/>
        </pc:sldMkLst>
      </pc:sldChg>
      <pc:sldChg chg="modNotes">
        <pc:chgData name="Zhang, Weiran" userId="S::wxz9630@mavs.uta.edu::647f5b6a-3f7d-4b03-bdb2-5e95800f4c7b" providerId="AD" clId="Web-{4F2FC696-846E-93BD-E535-7062A6697F30}" dt="2026-01-15T02:06:45.916" v="4"/>
        <pc:sldMkLst>
          <pc:docMk/>
          <pc:sldMk cId="2260293411" sldId="330"/>
        </pc:sldMkLst>
      </pc:sldChg>
      <pc:sldChg chg="modNotes">
        <pc:chgData name="Zhang, Weiran" userId="S::wxz9630@mavs.uta.edu::647f5b6a-3f7d-4b03-bdb2-5e95800f4c7b" providerId="AD" clId="Web-{4F2FC696-846E-93BD-E535-7062A6697F30}" dt="2026-01-15T02:06:51.025" v="6"/>
        <pc:sldMkLst>
          <pc:docMk/>
          <pc:sldMk cId="2823674074" sldId="331"/>
        </pc:sldMkLst>
      </pc:sldChg>
      <pc:sldChg chg="modNotes">
        <pc:chgData name="Zhang, Weiran" userId="S::wxz9630@mavs.uta.edu::647f5b6a-3f7d-4b03-bdb2-5e95800f4c7b" providerId="AD" clId="Web-{4F2FC696-846E-93BD-E535-7062A6697F30}" dt="2026-01-15T02:06:52.994" v="7"/>
        <pc:sldMkLst>
          <pc:docMk/>
          <pc:sldMk cId="1926975053" sldId="332"/>
        </pc:sldMkLst>
      </pc:sldChg>
      <pc:sldChg chg="modNotes">
        <pc:chgData name="Zhang, Weiran" userId="S::wxz9630@mavs.uta.edu::647f5b6a-3f7d-4b03-bdb2-5e95800f4c7b" providerId="AD" clId="Web-{4F2FC696-846E-93BD-E535-7062A6697F30}" dt="2026-01-15T02:06:55.353" v="8"/>
        <pc:sldMkLst>
          <pc:docMk/>
          <pc:sldMk cId="671236081" sldId="333"/>
        </pc:sldMkLst>
      </pc:sldChg>
      <pc:sldChg chg="modNotes">
        <pc:chgData name="Zhang, Weiran" userId="S::wxz9630@mavs.uta.edu::647f5b6a-3f7d-4b03-bdb2-5e95800f4c7b" providerId="AD" clId="Web-{4F2FC696-846E-93BD-E535-7062A6697F30}" dt="2026-01-15T02:06:57.432" v="9"/>
        <pc:sldMkLst>
          <pc:docMk/>
          <pc:sldMk cId="1190204803" sldId="334"/>
        </pc:sldMkLst>
      </pc:sldChg>
      <pc:sldChg chg="modNotes">
        <pc:chgData name="Zhang, Weiran" userId="S::wxz9630@mavs.uta.edu::647f5b6a-3f7d-4b03-bdb2-5e95800f4c7b" providerId="AD" clId="Web-{4F2FC696-846E-93BD-E535-7062A6697F30}" dt="2026-01-15T02:06:59.713" v="10"/>
        <pc:sldMkLst>
          <pc:docMk/>
          <pc:sldMk cId="3281733755" sldId="33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F0ABC6-AE81-214D-B04B-F13CE22270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23795-EAAB-8C4B-B865-8464BECAB5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FE638-083F-2742-8710-EF25AB6A16C1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ECA2D-985E-8D44-A4FB-51751C64F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40B2F-FCD1-B940-AFB1-3C0582F356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70D12-813D-3D40-A841-271861A2D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57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A097-495F-854B-A9AD-402D045A329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0C5E2-78CD-F746-9BAF-2B89BCAF7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6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7443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FCD30-B447-862F-BA4A-F05E2DBDD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0A1D32-770F-246F-B604-45C528D5E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3246D3-D27D-DA6C-B05A-30F5B0D56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10E35-F402-B8AE-35AC-E4ADF1E505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753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A77D9-8B90-3BAF-D8CF-A509277F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368B50-A0B0-4B37-8D43-1B190EC8A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C2054-D047-69FF-5D32-5C7A629C5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1823CB-ACF9-94C5-45EF-43304D34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95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0995C-22FA-FE3A-9EFE-71DF820FD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DC4F1-F1B3-F6CF-4C6A-CEA1CE6338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8ECF27-E679-AED6-1920-68418AA4D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091B0-D741-42AD-E893-6821128AC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3411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62819-D281-C2F4-50F1-DD409BB61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8C1AA-C328-83DB-FCF8-84DA0BDBD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192E-AB4E-EC6B-235E-E22CFD13E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EAF23-9C2C-D5CE-B7DD-FD024A84B2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53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13F7F-5442-3E07-CBD0-D97CDFB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6BA024-626A-C732-9359-2E42416F8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C2D6A-44ED-1416-33B2-F49306EA05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915F4-4A03-7A33-698C-7E64FFAD04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0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D5C87-28B2-4685-3101-1644966E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CD89AC-4F2B-C544-59AC-EB3D26BFE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5273E-B511-28B4-6356-C841E6506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667F08-D555-049A-0E35-47293F0CC1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533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DEE9A-2CFC-71F0-5AB8-6A8EC0474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F2E131-1F4B-B4A3-54CE-1E7FE982C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D5F64-9A9C-5667-19E8-2C73528EA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F90DA-5832-17E1-9840-863ACE342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450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9DBFF-37A2-F2AF-3FEF-47DCE445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4D124E-6879-41E9-ED71-F48E7E8C8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D5263E-9B14-8EA9-B492-E37F73ABA9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46E863-A881-E8D4-321C-5DB2EF625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2716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F763-B0EF-521B-9735-9D6EAFCF2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10C493-7BD2-0A15-FA30-C4B07FC6A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DC96C-750F-B0EF-3B5C-38721BAEF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11234-684F-83C8-7947-C57284634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3307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8CC3-9845-F899-1CCA-477D9758C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A50A03-039B-F93E-2A5D-F2C94F822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68E09-3602-C844-FDCB-E2FD1D036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FA63B-DC1E-E44F-1333-F418AC499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0392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370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3EE68-F0FF-2C16-30E1-46707B661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7E17DE-E300-7EAE-EC78-7B929F120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557E-20CF-EC24-5650-23BD1A930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2CE8E-6164-3934-3598-F2684A7750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641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852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78871" y="3562708"/>
            <a:ext cx="5226218" cy="145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5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1750241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9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741663"/>
            <a:ext cx="3659188" cy="898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237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1785462"/>
            <a:ext cx="8229600" cy="857253"/>
          </a:xfrm>
        </p:spPr>
        <p:txBody>
          <a:bodyPr>
            <a:normAutofit/>
          </a:bodyPr>
          <a:lstStyle>
            <a:lvl1pPr>
              <a:defRPr sz="4400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2529642"/>
            <a:ext cx="8229600" cy="67945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287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8999"/>
            <a:ext cx="8229600" cy="85725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8375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8229600" cy="3098800"/>
          </a:xfrm>
        </p:spPr>
        <p:txBody>
          <a:bodyPr>
            <a:normAutofit/>
          </a:bodyPr>
          <a:lstStyle>
            <a:lvl1pPr marL="342900" indent="-342900">
              <a:buFont typeface="Wingdings" pitchFamily="2" charset="2"/>
              <a:buChar char="§"/>
              <a:defRPr sz="1600"/>
            </a:lvl1pPr>
            <a:lvl2pPr marL="742950" indent="-285750">
              <a:buFont typeface="Wingdings" pitchFamily="2" charset="2"/>
              <a:buChar char="§"/>
              <a:defRPr sz="1600"/>
            </a:lvl2pPr>
            <a:lvl3pPr marL="1143000" indent="-228600">
              <a:buFont typeface="Wingdings" pitchFamily="2" charset="2"/>
              <a:buChar char="§"/>
              <a:defRPr sz="1600"/>
            </a:lvl3pPr>
            <a:lvl4pPr marL="1600200" indent="-228600">
              <a:buFont typeface="Wingdings" pitchFamily="2" charset="2"/>
              <a:buChar char="§"/>
              <a:defRPr sz="1600"/>
            </a:lvl4pPr>
            <a:lvl5pPr marL="2057400" indent="-228600">
              <a:buFont typeface="Wingdings" pitchFamily="2" charset="2"/>
              <a:buChar char="§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6696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7994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>
            <a:normAutofit/>
          </a:bodyPr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467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7501" y="1111158"/>
            <a:ext cx="2721430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499" y="2856015"/>
            <a:ext cx="2721431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2919350" y="1111158"/>
            <a:ext cx="2644240" cy="1744857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909453" y="2985224"/>
            <a:ext cx="2721431" cy="1971304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008916" y="1117911"/>
            <a:ext cx="2933203" cy="166173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75267" y="2985224"/>
            <a:ext cx="2952999" cy="1959926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8062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181464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93325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809535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238597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415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5" r:id="rId3"/>
    <p:sldLayoutId id="2147483666" r:id="rId4"/>
    <p:sldLayoutId id="2147483654" r:id="rId5"/>
    <p:sldLayoutId id="2147483650" r:id="rId6"/>
    <p:sldLayoutId id="2147483652" r:id="rId7"/>
    <p:sldLayoutId id="2147483664" r:id="rId8"/>
    <p:sldLayoutId id="2147483659" r:id="rId9"/>
    <p:sldLayoutId id="2147483662" r:id="rId10"/>
    <p:sldLayoutId id="2147483660" r:id="rId11"/>
    <p:sldLayoutId id="2147483661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35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java/technologies/download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tutorialspoint.com/compile_java_online.php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577" y="422303"/>
            <a:ext cx="8229600" cy="1758197"/>
          </a:xfrm>
        </p:spPr>
        <p:txBody>
          <a:bodyPr>
            <a:noAutofit/>
          </a:bodyPr>
          <a:lstStyle/>
          <a:p>
            <a:r>
              <a:rPr lang="en-US" sz="3600" dirty="0"/>
              <a:t>Tutorial 1</a:t>
            </a:r>
            <a:endParaRPr lang="en-US" altLang="zh-CN" sz="40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46EDE5-6FC5-824E-9F44-F022997BFE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3679699"/>
            <a:ext cx="8229600" cy="933225"/>
          </a:xfrm>
        </p:spPr>
        <p:txBody>
          <a:bodyPr>
            <a:normAutofit/>
          </a:bodyPr>
          <a:lstStyle/>
          <a:p>
            <a:pPr fontAlgn="base"/>
            <a:r>
              <a:rPr lang="en-US" altLang="zh-CN" dirty="0"/>
              <a:t>Presenter: Peter​ Zhang</a:t>
            </a:r>
          </a:p>
          <a:p>
            <a:pPr fontAlgn="base"/>
            <a:r>
              <a:rPr lang="en-US" altLang="zh-CN" dirty="0"/>
              <a:t>1/14/2026</a:t>
            </a:r>
          </a:p>
          <a:p>
            <a:endParaRPr lang="en-US" sz="2400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C796814-B4C7-06C2-94D6-3F9ED29CF958}"/>
              </a:ext>
            </a:extLst>
          </p:cNvPr>
          <p:cNvSpPr txBox="1">
            <a:spLocks/>
          </p:cNvSpPr>
          <p:nvPr/>
        </p:nvSpPr>
        <p:spPr>
          <a:xfrm>
            <a:off x="361577" y="2463487"/>
            <a:ext cx="8229600" cy="933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24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fr-FR" altLang="zh-CN" sz="2800" b="1" i="1" dirty="0"/>
              <a:t>Java introduction </a:t>
            </a:r>
            <a:endParaRPr lang="en-US" altLang="zh-CN" sz="2800" b="1" i="1" dirty="0"/>
          </a:p>
        </p:txBody>
      </p:sp>
    </p:spTree>
    <p:extLst>
      <p:ext uri="{BB962C8B-B14F-4D97-AF65-F5344CB8AC3E}">
        <p14:creationId xmlns:p14="http://schemas.microsoft.com/office/powerpoint/2010/main" val="350631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ADF500-6292-F3BD-B2A0-FC7ACB98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/>
          <a:p>
            <a:r>
              <a:rPr lang="en-US" dirty="0"/>
              <a:t>Java Introduction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ECEAC0-2253-E353-6059-AA6EF2D42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1460" y="591477"/>
            <a:ext cx="8892540" cy="416911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altLang="zh-CN" dirty="0"/>
              <a:t>General-purpose, object-oriented programming language. </a:t>
            </a:r>
          </a:p>
          <a:p>
            <a:r>
              <a:rPr lang="en-US" altLang="zh-CN" dirty="0"/>
              <a:t>Designed for portability and safety. </a:t>
            </a:r>
          </a:p>
          <a:p>
            <a:r>
              <a:rPr lang="en-US" altLang="zh-CN" dirty="0"/>
              <a:t>Widely used in education, backend systems, and large-scale software.</a:t>
            </a:r>
          </a:p>
          <a:p>
            <a:endParaRPr lang="en-US" altLang="zh-CN" sz="1400" i="1" dirty="0"/>
          </a:p>
          <a:p>
            <a:r>
              <a:rPr lang="en-US" altLang="zh-CN" b="1" dirty="0"/>
              <a:t>Installation</a:t>
            </a:r>
            <a:r>
              <a:rPr lang="en-US" altLang="zh-CN" dirty="0"/>
              <a:t>: </a:t>
            </a:r>
            <a:r>
              <a:rPr lang="en-US" dirty="0">
                <a:hlinkClick r:id="rId3"/>
              </a:rPr>
              <a:t>https://www.oracle.com/java/technologies/downloads/</a:t>
            </a:r>
            <a:r>
              <a:rPr lang="en-US" dirty="0"/>
              <a:t>(Java Development Kit (JDK): compiler, JVM, and standard libraries; recommended version: Java 11)</a:t>
            </a:r>
          </a:p>
          <a:p>
            <a:pPr lvl="0"/>
            <a:endParaRPr lang="en-US" dirty="0"/>
          </a:p>
          <a:p>
            <a:r>
              <a:rPr lang="en-US" b="1" dirty="0"/>
              <a:t>IDE: </a:t>
            </a:r>
            <a:r>
              <a:rPr lang="en-US" dirty="0"/>
              <a:t>VS Code (lightweight, beginner-friendly), IntelliJ IDEA (full-featured, industry-standard)</a:t>
            </a:r>
          </a:p>
          <a:p>
            <a:endParaRPr lang="en-US" dirty="0"/>
          </a:p>
          <a:p>
            <a:r>
              <a:rPr lang="en-US" b="1" dirty="0"/>
              <a:t>Online Coding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https://www.tutorialspoint.com/compile_java_online.php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lvl="0"/>
            <a:endParaRPr lang="en-US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22999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264D-5C1A-7063-232E-47D6795BD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129AC0-D5B6-31B7-3AD5-9C7C738B2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/>
              <a:t>How Java Programs Run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C5F5C94-EF21-0F0D-41A7-384B94E4E2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69AC4A-B123-8BDF-4EB0-AB58E18D4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310641"/>
            <a:ext cx="4038600" cy="2029396"/>
          </a:xfrm>
          <a:prstGeom prst="rect">
            <a:avLst/>
          </a:prstGeom>
          <a:noFill/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C6A466-9FD2-0F1C-F532-9551DCA1D6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/>
              <a:t>Compile: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javac</a:t>
            </a:r>
            <a:r>
              <a:rPr lang="en-US" dirty="0"/>
              <a:t> filename.java → generates </a:t>
            </a:r>
            <a:r>
              <a:rPr lang="en-US" dirty="0" err="1"/>
              <a:t>filename.class</a:t>
            </a:r>
            <a:r>
              <a:rPr lang="en-US" dirty="0"/>
              <a:t> (bytecode)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Run:</a:t>
            </a:r>
          </a:p>
          <a:p>
            <a:pPr marL="0" indent="0">
              <a:buNone/>
            </a:pPr>
            <a:r>
              <a:rPr lang="en-US" dirty="0"/>
              <a:t>• java filename → JVM loads and executes the bytecode</a:t>
            </a:r>
          </a:p>
        </p:txBody>
      </p:sp>
    </p:spTree>
    <p:extLst>
      <p:ext uri="{BB962C8B-B14F-4D97-AF65-F5344CB8AC3E}">
        <p14:creationId xmlns:p14="http://schemas.microsoft.com/office/powerpoint/2010/main" val="1547186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C1672-C9BB-283C-A3DC-4A5617F5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FEC161-9279-8C91-A90B-771F85524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/>
              <a:t>Java Language Features - Encapsulation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0D6C6BA-050F-511C-EE75-9B429D7A811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1EAB7A-D520-D5B6-AC62-E23BCB764E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Hides internal state of an object</a:t>
            </a:r>
          </a:p>
          <a:p>
            <a:endParaRPr lang="en-US" dirty="0"/>
          </a:p>
          <a:p>
            <a:r>
              <a:rPr lang="en-US" dirty="0"/>
              <a:t>Exposes a controlled public interface</a:t>
            </a:r>
          </a:p>
          <a:p>
            <a:endParaRPr lang="en-US" dirty="0"/>
          </a:p>
          <a:p>
            <a:r>
              <a:rPr lang="en-US" dirty="0"/>
              <a:t>Prevents direct and unsafe access to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F69C8-D611-4200-CF4E-B7351B5EB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133" y="1137921"/>
            <a:ext cx="3866667" cy="22571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63F88E-3183-DB1E-2A91-0AE1B0A0FF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0133" y="3682925"/>
            <a:ext cx="3723809" cy="4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51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417C-6923-E036-C776-FFDDF82C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8BD260-44BA-9AD0-2181-2E40DF48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/>
              <a:t>Java Language Features - Inheritance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37BFF58-182C-932E-D2BC-8AD0686B32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6BA787-9006-CB86-44AA-9E0B53784B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Defines an is-a relationship</a:t>
            </a:r>
          </a:p>
          <a:p>
            <a:endParaRPr lang="en-US" dirty="0"/>
          </a:p>
          <a:p>
            <a:r>
              <a:rPr lang="en-US" dirty="0"/>
              <a:t>Enables code reuse</a:t>
            </a:r>
          </a:p>
          <a:p>
            <a:endParaRPr lang="en-US" dirty="0"/>
          </a:p>
          <a:p>
            <a:r>
              <a:rPr lang="en-US" dirty="0"/>
              <a:t>Organizes types into hierarchies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8DE47E-B970-CDD1-9DAA-9EAAA5D43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022" y="1310641"/>
            <a:ext cx="3598956" cy="30988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86954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CCB94-1040-98B4-2ABE-A0BC45B7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0D0EA0-9EF8-DEE1-1959-811647A78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Java Language Features - Polymorphism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4D202E3-8D2F-E03D-F772-AF258C60DB6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3E437-9E6A-08C4-9D1A-CA6DA46DE4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One interface, multiple implementations</a:t>
            </a:r>
          </a:p>
          <a:p>
            <a:endParaRPr lang="en-US" dirty="0"/>
          </a:p>
          <a:p>
            <a:r>
              <a:rPr lang="en-US" dirty="0"/>
              <a:t>Method dispatch resolved at runtime</a:t>
            </a:r>
          </a:p>
          <a:p>
            <a:endParaRPr lang="en-US" dirty="0"/>
          </a:p>
          <a:p>
            <a:r>
              <a:rPr lang="en-US" dirty="0"/>
              <a:t>Behavior depends on the object type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416DA6-3C07-7987-023F-6F868B089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714" y="799465"/>
            <a:ext cx="3228571" cy="43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293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76FC3-83BC-F7CE-B74F-48FF8AB65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C1A094-ADEE-AC1C-1331-1089D8AE1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/>
              <a:t>Type Casting in Java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F121EEB-5766-A82A-23E0-B9704A439C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7C30BA-EE54-C7B3-0D1B-BF8DBEBAE1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Widening casts are automatic</a:t>
            </a:r>
          </a:p>
          <a:p>
            <a:endParaRPr lang="en-US" dirty="0"/>
          </a:p>
          <a:p>
            <a:r>
              <a:rPr lang="en-US" dirty="0"/>
              <a:t>Narrowing casts require explicit conversion</a:t>
            </a:r>
          </a:p>
          <a:p>
            <a:endParaRPr lang="en-US" dirty="0"/>
          </a:p>
          <a:p>
            <a:r>
              <a:rPr lang="en-US" dirty="0"/>
              <a:t>Java does not allow casting between </a:t>
            </a:r>
            <a:r>
              <a:rPr lang="en-US" dirty="0" err="1"/>
              <a:t>boolean</a:t>
            </a:r>
            <a:r>
              <a:rPr lang="en-US" dirty="0"/>
              <a:t> and numeric types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6062F1-3B57-86A9-F3B0-22005CFCB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1642459"/>
            <a:ext cx="4038600" cy="243516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221802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A65C2-8779-00DE-B53A-175DCA6F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35AC1D-E7F7-9616-213C-763C8DA56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Data Structure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9EF67E-C64C-52D3-2113-6175081DD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7925" y="830582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b="1" dirty="0"/>
              <a:t>Arrays</a:t>
            </a:r>
            <a:endParaRPr lang="en-US" dirty="0"/>
          </a:p>
          <a:p>
            <a:endParaRPr lang="en-US" dirty="0"/>
          </a:p>
        </p:txBody>
      </p:sp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1AA8C4C2-9EB5-80E1-C8C1-B0D3267187F8}"/>
              </a:ext>
            </a:extLst>
          </p:cNvPr>
          <p:cNvSpPr txBox="1">
            <a:spLocks/>
          </p:cNvSpPr>
          <p:nvPr/>
        </p:nvSpPr>
        <p:spPr>
          <a:xfrm>
            <a:off x="4648200" y="829314"/>
            <a:ext cx="4038600" cy="3098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6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/>
              <a:t>ArrayList</a:t>
            </a:r>
            <a:endParaRPr lang="en-US" b="1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439BB3-67DF-2772-25BF-EFF79D72C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82132"/>
            <a:ext cx="4572000" cy="35505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1CACCD-3834-977A-3712-28DCD79D38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082131"/>
            <a:ext cx="4406162" cy="360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674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1DD8F-B665-5FBA-4004-9E291F7C1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8FF639-1E9D-67D7-F4B1-72B1C1F5A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Data Structure - HashMap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53034D-D043-923A-D4D4-D1DE8BE82F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7925" y="830582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/>
              <a:t>Stores data as </a:t>
            </a:r>
            <a:r>
              <a:rPr lang="en-US" b="1" dirty="0"/>
              <a:t>key–value pairs</a:t>
            </a:r>
          </a:p>
          <a:p>
            <a:r>
              <a:rPr lang="en-US" dirty="0"/>
              <a:t>Uses </a:t>
            </a:r>
            <a:r>
              <a:rPr lang="en-US" b="1" dirty="0"/>
              <a:t>hashing</a:t>
            </a:r>
            <a:r>
              <a:rPr lang="en-US" dirty="0"/>
              <a:t> to map keys to values</a:t>
            </a:r>
          </a:p>
          <a:p>
            <a:r>
              <a:rPr lang="en-US" dirty="0"/>
              <a:t>Each key must be </a:t>
            </a:r>
            <a:r>
              <a:rPr lang="en-US" b="1" dirty="0"/>
              <a:t>unique</a:t>
            </a:r>
          </a:p>
          <a:p>
            <a:r>
              <a:rPr lang="en-US" dirty="0"/>
              <a:t>Values are accessed </a:t>
            </a:r>
            <a:r>
              <a:rPr lang="en-US" b="1" dirty="0"/>
              <a:t>by key, not by index</a:t>
            </a:r>
          </a:p>
          <a:p>
            <a:r>
              <a:rPr lang="en-US" dirty="0"/>
              <a:t>Provides fast lookup for </a:t>
            </a:r>
            <a:r>
              <a:rPr lang="en-US" b="1" dirty="0"/>
              <a:t>put, get, and remove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B64C877-4DC4-CAC4-A330-1F727BC5B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56403"/>
            <a:ext cx="4536260" cy="279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975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6D651-9966-EEFC-307E-037B59CF9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69A228-B4FC-473A-AE7F-42550657E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-144907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Overload &amp; Override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47A09D-56FF-91FC-182A-4AD14FECB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7925" y="830582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477F25-D274-77A9-617F-1D447B2DCDD3}"/>
              </a:ext>
            </a:extLst>
          </p:cNvPr>
          <p:cNvSpPr txBox="1"/>
          <p:nvPr/>
        </p:nvSpPr>
        <p:spPr>
          <a:xfrm>
            <a:off x="95250" y="830582"/>
            <a:ext cx="45720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+mj-lt"/>
              </a:rPr>
              <a:t>Overloading:</a:t>
            </a:r>
          </a:p>
          <a:p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• Same method name, different parameter lists</a:t>
            </a:r>
          </a:p>
          <a:p>
            <a:r>
              <a:rPr lang="en-US" sz="1600" dirty="0">
                <a:latin typeface="+mj-lt"/>
              </a:rPr>
              <a:t>• Resolved at compile time</a:t>
            </a:r>
          </a:p>
          <a:p>
            <a:r>
              <a:rPr lang="en-US" sz="1600" dirty="0">
                <a:latin typeface="+mj-lt"/>
              </a:rPr>
              <a:t>• Does not require inheritance</a:t>
            </a:r>
          </a:p>
          <a:p>
            <a:endParaRPr lang="en-US" sz="1600" dirty="0">
              <a:latin typeface="+mj-lt"/>
            </a:endParaRPr>
          </a:p>
          <a:p>
            <a:endParaRPr lang="en-US" sz="1600" dirty="0">
              <a:latin typeface="+mj-lt"/>
            </a:endParaRPr>
          </a:p>
          <a:p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Overriding:</a:t>
            </a:r>
          </a:p>
          <a:p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• Same method, </a:t>
            </a:r>
            <a:r>
              <a:rPr lang="en-US" sz="1600" dirty="0"/>
              <a:t>same parameter lists</a:t>
            </a:r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• Resolved at runtime</a:t>
            </a:r>
          </a:p>
          <a:p>
            <a:r>
              <a:rPr lang="en-US" sz="1600" dirty="0">
                <a:latin typeface="+mj-lt"/>
              </a:rPr>
              <a:t>• Requires inheritance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795B8A-F651-446D-58C5-FBBD32C67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525" y="486710"/>
            <a:ext cx="3961905" cy="19904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086F12E-B783-3F97-BB8E-3B65DE5091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7764" y="2477186"/>
            <a:ext cx="3914286" cy="26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236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6C909-5A4B-CBF1-ACE5-54F6A7638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2D2D4E-9B85-C984-A0B2-6D8F2B6A6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"/>
            <a:ext cx="8229600" cy="857250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Pass-by-value &amp; memory allocation - Java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7460DD-3F1C-8E0B-38C3-AE752DC68B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7925" y="830582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B43077-E380-82E4-EE1E-4AD988396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838" y="714434"/>
            <a:ext cx="2828571" cy="23428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2D2F03F-39B0-E620-BD06-7606A1D34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838" y="3074740"/>
            <a:ext cx="2833680" cy="1385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FB6E486-7463-E92E-58C3-31ABE3E68C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6113" y="750902"/>
            <a:ext cx="3255327" cy="211464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11A00F-3D57-6229-E775-243CAEA37C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506" y="2865549"/>
            <a:ext cx="2817785" cy="2231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204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C4324-556A-6994-0CCB-F4147E4E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32F737-0583-71C0-687A-71F6A06CC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Pass-by-pointer &amp; memory allocation - C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910787-42F1-2467-ABB7-D0B3DF18D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7925" y="830582"/>
            <a:ext cx="4038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627A1D-17B0-0A73-D462-E4D1D5F2D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74" y="981949"/>
            <a:ext cx="1718615" cy="27253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3934D51-7BF1-17DC-5819-1414C4E5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9819" y="981949"/>
            <a:ext cx="1718615" cy="27258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8DE80E4-8D29-0608-9BE5-1DBCAA0674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48" y="981949"/>
            <a:ext cx="4605651" cy="2721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733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9E8B2B-D684-8840-AAB5-5EFB37EBC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/>
          <a:lstStyle/>
          <a:p>
            <a:r>
              <a:rPr lang="en-US" altLang="zh-CN" dirty="0"/>
              <a:t>Java vs C</a:t>
            </a:r>
            <a:endParaRPr lang="en-US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AEDBF18-92EE-1EB3-1A34-EC1C0F85C00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02265165"/>
              </p:ext>
            </p:extLst>
          </p:nvPr>
        </p:nvGraphicFramePr>
        <p:xfrm>
          <a:off x="470647" y="1089751"/>
          <a:ext cx="8202705" cy="3106874"/>
        </p:xfrm>
        <a:graphic>
          <a:graphicData uri="http://schemas.openxmlformats.org/drawingml/2006/table">
            <a:tbl>
              <a:tblPr/>
              <a:tblGrid>
                <a:gridCol w="2734235">
                  <a:extLst>
                    <a:ext uri="{9D8B030D-6E8A-4147-A177-3AD203B41FA5}">
                      <a16:colId xmlns:a16="http://schemas.microsoft.com/office/drawing/2014/main" val="2058990457"/>
                    </a:ext>
                  </a:extLst>
                </a:gridCol>
                <a:gridCol w="2734235">
                  <a:extLst>
                    <a:ext uri="{9D8B030D-6E8A-4147-A177-3AD203B41FA5}">
                      <a16:colId xmlns:a16="http://schemas.microsoft.com/office/drawing/2014/main" val="2445946148"/>
                    </a:ext>
                  </a:extLst>
                </a:gridCol>
                <a:gridCol w="2734235">
                  <a:extLst>
                    <a:ext uri="{9D8B030D-6E8A-4147-A177-3AD203B41FA5}">
                      <a16:colId xmlns:a16="http://schemas.microsoft.com/office/drawing/2014/main" val="2262430236"/>
                    </a:ext>
                  </a:extLst>
                </a:gridCol>
              </a:tblGrid>
              <a:tr h="3645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Feature</a:t>
                      </a:r>
                      <a:endParaRPr lang="en-US" sz="1800" dirty="0"/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 Language</a:t>
                      </a:r>
                      <a:endParaRPr lang="en-US" sz="1800"/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Java Language</a:t>
                      </a:r>
                      <a:endParaRPr lang="en-US" sz="1800"/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625125"/>
                  </a:ext>
                </a:extLst>
              </a:tr>
              <a:tr h="6379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Pointers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Explicit pointer manipulation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No direct pointer access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829955"/>
                  </a:ext>
                </a:extLst>
              </a:tr>
              <a:tr h="3645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Memory Management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Manual (malloc/free)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Automatic (GC)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688791"/>
                  </a:ext>
                </a:extLst>
              </a:tr>
              <a:tr h="3645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Parameter Passing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Value &amp; pointer passing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Value passing only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5351"/>
                  </a:ext>
                </a:extLst>
              </a:tr>
              <a:tr h="3645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Type Safety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Weak type checking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Strong type checking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32650"/>
                  </a:ext>
                </a:extLst>
              </a:tr>
              <a:tr h="6379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Polymorphism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Manual via function pointers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Built-in OOP support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431938"/>
                  </a:ext>
                </a:extLst>
              </a:tr>
              <a:tr h="3645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Garbage Collection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Not available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Automatic GC</a:t>
                      </a:r>
                    </a:p>
                  </a:txBody>
                  <a:tcPr marL="91141" marR="91141" marT="45571" marB="4557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3345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4620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FCB5A-A016-3F71-1B25-CBF3E7CC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BC1959-2ED8-1BB4-4095-271856DFA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 Modern Development</a:t>
            </a:r>
          </a:p>
        </p:txBody>
      </p:sp>
      <p:pic>
        <p:nvPicPr>
          <p:cNvPr id="11270" name="Picture 6" descr="Microservices Toolbox: Spring Boot ...">
            <a:extLst>
              <a:ext uri="{FF2B5EF4-FFF2-40B4-BE49-F238E27FC236}">
                <a16:creationId xmlns:a16="http://schemas.microsoft.com/office/drawing/2014/main" id="{D531B7BE-457B-2BFD-BFFC-1E83715A70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127" y="2997723"/>
            <a:ext cx="1609725" cy="846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D4DC50-8CD7-3C04-4DAA-2D91CD020347}"/>
              </a:ext>
            </a:extLst>
          </p:cNvPr>
          <p:cNvSpPr txBox="1"/>
          <p:nvPr/>
        </p:nvSpPr>
        <p:spPr>
          <a:xfrm>
            <a:off x="245641" y="866380"/>
            <a:ext cx="458641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+mj-lt"/>
              </a:rPr>
              <a:t>Backend:</a:t>
            </a:r>
          </a:p>
          <a:p>
            <a:endParaRPr lang="en-US" sz="16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Spring Boot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Java EE (Jakarta EE)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Maven (Build &amp; Dependency Management)</a:t>
            </a:r>
          </a:p>
          <a:p>
            <a:endParaRPr lang="en-US" sz="1600" dirty="0">
              <a:latin typeface="+mj-lt"/>
            </a:endParaRPr>
          </a:p>
        </p:txBody>
      </p:sp>
      <p:pic>
        <p:nvPicPr>
          <p:cNvPr id="11276" name="Picture 12" descr="Java EE Essentials: Building Enterprise ...">
            <a:extLst>
              <a:ext uri="{FF2B5EF4-FFF2-40B4-BE49-F238E27FC236}">
                <a16:creationId xmlns:a16="http://schemas.microsoft.com/office/drawing/2014/main" id="{D2A40336-E68B-668F-CDFC-1DC5C56E33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30" t="12129" r="11291" b="11573"/>
          <a:stretch>
            <a:fillRect/>
          </a:stretch>
        </p:blipFill>
        <p:spPr bwMode="auto">
          <a:xfrm>
            <a:off x="6807715" y="2640546"/>
            <a:ext cx="1053970" cy="1103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Beginner's Guide to Efficient Java ...">
            <a:extLst>
              <a:ext uri="{FF2B5EF4-FFF2-40B4-BE49-F238E27FC236}">
                <a16:creationId xmlns:a16="http://schemas.microsoft.com/office/drawing/2014/main" id="{123E50CD-5344-EC68-E413-792B7313A5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8" t="21515" r="4454" b="17218"/>
          <a:stretch>
            <a:fillRect/>
          </a:stretch>
        </p:blipFill>
        <p:spPr bwMode="auto">
          <a:xfrm>
            <a:off x="1423371" y="3067524"/>
            <a:ext cx="2231233" cy="736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7537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1854878"/>
      </p:ext>
    </p:extLst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E8C2F9B7856C4FB1B45376C9CA1279" ma:contentTypeVersion="12" ma:contentTypeDescription="Create a new document." ma:contentTypeScope="" ma:versionID="47b510a268ab94799d39988294a018bf">
  <xsd:schema xmlns:xsd="http://www.w3.org/2001/XMLSchema" xmlns:xs="http://www.w3.org/2001/XMLSchema" xmlns:p="http://schemas.microsoft.com/office/2006/metadata/properties" xmlns:ns2="56169281-d10e-4687-8d86-e0ae9795bb4c" xmlns:ns3="d98033a5-711e-4d41-9a92-34dc22feb152" targetNamespace="http://schemas.microsoft.com/office/2006/metadata/properties" ma:root="true" ma:fieldsID="430f78a0ddeb4ad93cb2cb32c7d65c5c" ns2:_="" ns3:_="">
    <xsd:import namespace="56169281-d10e-4687-8d86-e0ae9795bb4c"/>
    <xsd:import namespace="d98033a5-711e-4d41-9a92-34dc22feb1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169281-d10e-4687-8d86-e0ae9795bb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033a5-711e-4d41-9a92-34dc22feb15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87676A-099B-4B53-B66D-C60F83A714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499CAED-701D-44BF-B45E-0631AD0D07E6}">
  <ds:schemaRefs>
    <ds:schemaRef ds:uri="56169281-d10e-4687-8d86-e0ae9795bb4c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d98033a5-711e-4d41-9a92-34dc22feb152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DAF4F739-B76C-4907-A1E7-133652B3E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169281-d10e-4687-8d86-e0ae9795bb4c"/>
    <ds:schemaRef ds:uri="d98033a5-711e-4d41-9a92-34dc22feb1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UTA Accessible Template</Template>
  <TotalTime>3731</TotalTime>
  <Words>1744</Words>
  <Application>Microsoft Office PowerPoint</Application>
  <PresentationFormat>On-screen Show (16:9)</PresentationFormat>
  <Paragraphs>156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UTA Accessible Template</vt:lpstr>
      <vt:lpstr>Tutorial 1</vt:lpstr>
      <vt:lpstr>Java Introduction</vt:lpstr>
      <vt:lpstr>How Java Programs Run</vt:lpstr>
      <vt:lpstr>Java Language Features - Encapsulation</vt:lpstr>
      <vt:lpstr>Java Language Features - Inheritance</vt:lpstr>
      <vt:lpstr>Java Language Features - Polymorphism</vt:lpstr>
      <vt:lpstr>Type Casting in Java</vt:lpstr>
      <vt:lpstr>Data Structure</vt:lpstr>
      <vt:lpstr>Data Structure - HashMap</vt:lpstr>
      <vt:lpstr>Overload &amp; Override</vt:lpstr>
      <vt:lpstr>Pass-by-value &amp; memory allocation - Java</vt:lpstr>
      <vt:lpstr>Pass-by-pointer &amp; memory allocation - C</vt:lpstr>
      <vt:lpstr>Java vs C</vt:lpstr>
      <vt:lpstr>Java in Modern Development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George, Melissa J</dc:creator>
  <cp:lastModifiedBy>Zhang, Weiran</cp:lastModifiedBy>
  <cp:revision>101</cp:revision>
  <dcterms:created xsi:type="dcterms:W3CDTF">2021-08-31T19:16:02Z</dcterms:created>
  <dcterms:modified xsi:type="dcterms:W3CDTF">2026-01-15T02:07:12Z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0x0101006AE8C2F9B7856C4FB1B45376C9CA1279</vt:lpwstr>
  </property>
</Properties>
</file>