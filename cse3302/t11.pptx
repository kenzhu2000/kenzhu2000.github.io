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386" r:id="rId3"/>
    <p:sldId id="412" r:id="rId4"/>
    <p:sldId id="268" r:id="rId5"/>
    <p:sldId id="269" r:id="rId6"/>
    <p:sldId id="270" r:id="rId7"/>
    <p:sldId id="272" r:id="rId8"/>
    <p:sldId id="271" r:id="rId9"/>
    <p:sldId id="276" r:id="rId10"/>
    <p:sldId id="266" r:id="rId11"/>
    <p:sldId id="274" r:id="rId12"/>
    <p:sldId id="275" r:id="rId13"/>
    <p:sldId id="287" r:id="rId14"/>
    <p:sldId id="257" r:id="rId15"/>
    <p:sldId id="371" r:id="rId16"/>
    <p:sldId id="413" r:id="rId17"/>
    <p:sldId id="414" r:id="rId18"/>
    <p:sldId id="415" r:id="rId19"/>
    <p:sldId id="416" r:id="rId20"/>
    <p:sldId id="418" r:id="rId21"/>
    <p:sldId id="417" r:id="rId22"/>
    <p:sldId id="419" r:id="rId23"/>
    <p:sldId id="420" r:id="rId24"/>
    <p:sldId id="421" r:id="rId25"/>
    <p:sldId id="422" r:id="rId26"/>
    <p:sldId id="423" r:id="rId27"/>
  </p:sldIdLst>
  <p:sldSz cx="12192000" cy="6858000"/>
  <p:notesSz cx="6858000" cy="9144000"/>
  <p:defaultTextStyle>
    <a:defPPr>
      <a:defRPr lang="en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8841CCE-A015-CE82-A4EA-26FE98D9D613}" v="1" dt="2025-10-30T03:11:37.7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91"/>
    <p:restoredTop sz="94658"/>
  </p:normalViewPr>
  <p:slideViewPr>
    <p:cSldViewPr snapToGrid="0" showGuides="1">
      <p:cViewPr varScale="1">
        <p:scale>
          <a:sx n="96" d="100"/>
          <a:sy n="96" d="100"/>
        </p:scale>
        <p:origin x="168" y="5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rk, Wonjun" userId="S::wxp7177@mavs.uta.edu::b7ccadb5-266d-4b52-a139-568b916a9101" providerId="AD" clId="Web-{88841CCE-A015-CE82-A4EA-26FE98D9D613}"/>
    <pc:docChg chg="delSld">
      <pc:chgData name="Park, Wonjun" userId="S::wxp7177@mavs.uta.edu::b7ccadb5-266d-4b52-a139-568b916a9101" providerId="AD" clId="Web-{88841CCE-A015-CE82-A4EA-26FE98D9D613}" dt="2025-10-30T03:11:37.746" v="0"/>
      <pc:docMkLst>
        <pc:docMk/>
      </pc:docMkLst>
      <pc:sldChg chg="del">
        <pc:chgData name="Park, Wonjun" userId="S::wxp7177@mavs.uta.edu::b7ccadb5-266d-4b52-a139-568b916a9101" providerId="AD" clId="Web-{88841CCE-A015-CE82-A4EA-26FE98D9D613}" dt="2025-10-30T03:11:37.746" v="0"/>
        <pc:sldMkLst>
          <pc:docMk/>
          <pc:sldMk cId="1642022803" sldId="41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C4774C-2001-2447-8C80-801716BED38F}" type="datetimeFigureOut">
              <a:rPr lang="en-KR" smtClean="0"/>
              <a:t>10/29/2025</a:t>
            </a:fld>
            <a:endParaRPr lang="en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K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K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8E2000-37FB-9848-9C26-A1CB0B8468E2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1697446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0A8BC-11DA-E44C-8FB8-1843834ECF3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52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D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0A8BC-11DA-E44C-8FB8-1843834ECF3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8508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63C9C5-BB55-4660-AD73-E06DD1309FF2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514230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CA8B9-5C32-621E-FFAC-B8FF10D660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7FAEDB-0E61-D74C-44A3-ADA0CDFAE7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2FDAE2-A828-9C35-C635-8735319EB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93C486-3FC1-D047-8AAD-775C03B1D46D}" type="datetime1">
              <a:rPr lang="en-US" smtClean="0"/>
              <a:t>10/29/2025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01D897-4B14-F8D7-9B29-3072C9940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0203F9-B0A9-722F-B2AA-4062D25C9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511794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D4619-9B98-0FB4-C25C-D4335A5C9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A6249-4691-7630-5AD6-296190A242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640156-C9B6-DB5B-B8AF-13A40B1D5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10/29/2025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489562-5734-F68E-3384-F88C45533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5AFC42-DD36-16D9-1F81-78579DC45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8934622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B4C6-3DE5-E0E5-7562-C4FA090F2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5E39A4-343B-429B-7CE4-39557BA6F5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919C57-C27D-0D81-C445-50FEA9F63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4F0C8A-8D87-224E-912B-0C981F57F905}" type="datetime1">
              <a:rPr lang="en-US" smtClean="0"/>
              <a:t>10/29/2025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2BF4E2-7DF8-1BA9-B802-42B4DEDDA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483876-84A7-CF6B-F8DC-346ABA46E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1793911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C1BE7-923B-8C8D-3955-932F3C376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B652B8-D053-E37E-3F54-2A5D912583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5CA33A-844B-2713-40D2-5E88EB6A85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9AC3BF-64B1-DEFD-A2E1-14137B0C2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C3F313-F49C-2040-9962-BF560DDCC7CA}" type="datetime1">
              <a:rPr lang="en-US" smtClean="0"/>
              <a:t>10/29/2025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BADEBB-0A5E-0EFE-FAE4-B942A0C40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C7D413-C30C-C659-0895-DF7A7AA12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4466926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51BC5-52EE-0D89-BEC4-B014655FC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916CBA-44C3-9338-6085-78F787597C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BF7092-5233-17E5-3D08-98EE078D14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7F56F1-B52F-FB7C-A460-2595EAB5CB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95A295-AB16-465C-B27E-4A8CEEFFDF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806501D-03EE-220F-B77B-7D69994409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67C72-4FC2-E744-89F6-2196F33FEDFC}" type="datetime1">
              <a:rPr lang="en-US" smtClean="0"/>
              <a:t>10/29/2025</a:t>
            </a:fld>
            <a:endParaRPr lang="en-K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662C4D-5885-C553-1167-F9440B003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82D276-276A-1933-4128-29D556D30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7238275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B2DF5-AD5A-EFCE-9CA5-09F5AB81E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D0BD82-3FFC-C245-0E49-FE28B587D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3D0B36-39CF-3C40-AF2F-273CBE04BEB2}" type="datetime1">
              <a:rPr lang="en-US" smtClean="0"/>
              <a:t>10/29/2025</a:t>
            </a:fld>
            <a:endParaRPr lang="en-K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5D9F9C-118E-2CFC-ACC4-38080D096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7B37BF-673D-26FD-7FC5-5AF4FD2E3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991718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A9038B-A85B-38E8-F405-F8D815326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50A9D-8DFF-B740-A01D-EB2FF93D258C}" type="datetime1">
              <a:rPr lang="en-US" smtClean="0"/>
              <a:t>10/29/2025</a:t>
            </a:fld>
            <a:endParaRPr lang="en-K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5BAA64-E923-95F3-7C32-C392FAD0B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7EDC67-94A4-743C-BB52-3DF8DA5E6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599708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AF049-BD4E-F2ED-F635-50F3EE4479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04C4EE-5F43-5EF4-C4B5-8BABB0C562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4810D6-8BD5-C43E-C8D8-9CD2C7554C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E758D3-80C7-65E2-7116-73EB88B27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5983C3-29C2-8D4D-9024-3854AFA4D352}" type="datetime1">
              <a:rPr lang="en-US" smtClean="0"/>
              <a:t>10/29/2025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150750-DA97-53AC-ECFD-5C89297D13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5C2564-5288-95ED-0759-7C531195A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532600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1170F-5360-4E09-7EFD-88CC4DF64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FACEC0-BCEB-4160-BDF7-636D1138BF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K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D841AE-0EFA-2508-7699-65D8270D5F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032804-297B-3A8E-3F6A-86F408F4B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2AF14-B600-2C4D-ABB0-51C5A8D429B0}" type="datetime1">
              <a:rPr lang="en-US" smtClean="0"/>
              <a:t>10/29/2025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F67707-C75E-016B-189E-2E33AE9AB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E80B5B-19C5-A575-83D6-6B3B6D012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7989763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57EAD3-9AFD-62DB-72C8-605C3B402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497C8C-BA83-EA20-B154-059B9C0863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5B5986-84B2-DA81-C542-B2E359670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F43B52-1EE7-7E49-82A9-FAE84E3792EC}" type="datetime1">
              <a:rPr lang="en-US" smtClean="0"/>
              <a:t>10/29/2025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AA76B6-53AF-97BE-665A-85F532E28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1304F-415C-0E74-1989-E4D562391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0867271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F861C39-FD12-CCF4-6122-A5C7D6F57A4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A14E29-1E1A-7351-9168-63C0CBDFF9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E1AD27-D8C6-F703-2690-0B4C3EF7F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E00662-EEAF-0D45-B5FF-93297BDD54C0}" type="datetime1">
              <a:rPr lang="en-US" smtClean="0"/>
              <a:t>10/29/2025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0DA1A3-84F3-6FB6-A9EC-7DDCD0E323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004B29-EF1E-B888-F0C3-D2F13D631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6607904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48A4A1B-CE80-99CB-D27C-67C4517170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680DD7-08B8-819B-927B-86188A40C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FBB74A-B273-3E57-9117-667359C40B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0F38A0-08EA-A847-AADD-5A3F09E1CFA9}" type="datetime1">
              <a:rPr lang="en-US" smtClean="0"/>
              <a:t>10/29/2025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AF17F1-471C-564A-4D92-0C76761417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7C234D-285F-B79D-13F8-9013A6198B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A7C90A-C1D4-1A4A-BB39-07FDF258A5BB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6211922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937C9-2D88-6EE2-255C-709A1BF81C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6487" y="1122363"/>
            <a:ext cx="9379026" cy="2387600"/>
          </a:xfrm>
        </p:spPr>
        <p:txBody>
          <a:bodyPr>
            <a:normAutofit/>
          </a:bodyPr>
          <a:lstStyle/>
          <a:p>
            <a:r>
              <a:rPr lang="en-KR" sz="4800" b="1" dirty="0">
                <a:latin typeface="Apple SD Gothic Neo" panose="02000300000000000000" pitchFamily="2" charset="-127"/>
                <a:ea typeface="Apple SD Gothic Neo" panose="02000300000000000000" pitchFamily="2" charset="-127"/>
                <a:cs typeface="Apple Symbols" panose="02000000000000000000" pitchFamily="2" charset="-79"/>
              </a:rPr>
              <a:t>Programming Language Concepts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CCA8F9-2699-C14D-432C-5FE58B14651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KR" dirty="0">
                <a:latin typeface="Apple SD Gothic Neo" panose="02000300000000000000" pitchFamily="2" charset="-127"/>
                <a:ea typeface="Apple SD Gothic Neo" panose="02000300000000000000" pitchFamily="2" charset="-127"/>
                <a:cs typeface="Apple Symbols" panose="02000000000000000000" pitchFamily="2" charset="-79"/>
              </a:rPr>
              <a:t>CSE 3302 / 5307 - Dr. Kenny Zhu</a:t>
            </a:r>
          </a:p>
          <a:p>
            <a:endParaRPr lang="en-KR" dirty="0">
              <a:latin typeface="Apple SD Gothic Neo" panose="02000300000000000000" pitchFamily="2" charset="-127"/>
              <a:ea typeface="Apple SD Gothic Neo" panose="02000300000000000000" pitchFamily="2" charset="-127"/>
              <a:cs typeface="Apple Symbols" panose="02000000000000000000" pitchFamily="2" charset="-79"/>
            </a:endParaRPr>
          </a:p>
          <a:p>
            <a: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  <a:cs typeface="Apple Symbols" panose="02000000000000000000" pitchFamily="2" charset="-79"/>
              </a:rPr>
              <a:t>Tutorial 11</a:t>
            </a:r>
          </a:p>
          <a:p>
            <a:r>
              <a:rPr lang="en-KR" dirty="0">
                <a:latin typeface="Apple SD Gothic Neo" panose="02000300000000000000" pitchFamily="2" charset="-127"/>
                <a:ea typeface="Apple SD Gothic Neo" panose="02000300000000000000" pitchFamily="2" charset="-127"/>
                <a:cs typeface="Apple Symbols" panose="02000000000000000000" pitchFamily="2" charset="-79"/>
              </a:rPr>
              <a:t>Wonjun Park</a:t>
            </a:r>
          </a:p>
        </p:txBody>
      </p:sp>
    </p:spTree>
    <p:extLst>
      <p:ext uri="{BB962C8B-B14F-4D97-AF65-F5344CB8AC3E}">
        <p14:creationId xmlns:p14="http://schemas.microsoft.com/office/powerpoint/2010/main" val="34035769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92DD3-C256-2008-6442-B1B0C1B21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F291E-D5F8-FFAB-AD29-366205C92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ctr"/>
            <a:r>
              <a:rPr lang="en-US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Quiz</a:t>
            </a:r>
            <a:endParaRPr lang="en-KR" b="1" dirty="0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3C7D55-C27B-C586-9E88-16B8A9500F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06DDED-01E8-3A3C-A45B-7A9FA0F26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4F0C8A-8D87-224E-912B-0C981F57F905}" type="datetime1">
              <a:rPr lang="en-US" smtClean="0"/>
              <a:t>10/29/2025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CEFDFC-5262-152C-A9AE-AB60E7427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2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673334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/>
          <p:cNvSpPr txBox="1">
            <a:spLocks noChangeArrowheads="1"/>
          </p:cNvSpPr>
          <p:nvPr/>
        </p:nvSpPr>
        <p:spPr bwMode="auto">
          <a:xfrm>
            <a:off x="1011464" y="387351"/>
            <a:ext cx="10464800" cy="1345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+mj-lt"/>
                <a:ea typeface="+mj-ea"/>
                <a:cs typeface="+mj-cs"/>
                <a:sym typeface="Gill Sans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9pPr>
          </a:lstStyle>
          <a:p>
            <a:pPr algn="l" eaLnBrk="1" hangingPunct="1"/>
            <a:r>
              <a:rPr lang="en-US" altLang="zh-CN" sz="4000" kern="0" dirty="0">
                <a:latin typeface="+mn-lt"/>
                <a:ea typeface="宋体" panose="02010600030101010101" pitchFamily="2" charset="-122"/>
              </a:rPr>
              <a:t>1. </a:t>
            </a:r>
            <a:r>
              <a:rPr lang="en-US" altLang="zh-CN" sz="4000" kern="0" dirty="0">
                <a:latin typeface="+mn-lt"/>
              </a:rPr>
              <a:t>Let Γ = f:X, a:Y and t = f a. Then which one is not a solution for (Γ, t)?</a:t>
            </a:r>
            <a:endParaRPr lang="en-US" altLang="zh-CN" sz="4000" kern="0" dirty="0">
              <a:latin typeface="+mn-lt"/>
              <a:ea typeface="宋体" panose="02010600030101010101" pitchFamily="2" charset="-122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6A5658-ECE0-4BE4-B6D5-AB783F20D6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441" y="2229395"/>
            <a:ext cx="11703050" cy="38143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>
            <a:lvl1pPr marL="8382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1pPr>
            <a:lvl2pPr marL="12827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2pPr>
            <a:lvl3pPr marL="17272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3pPr>
            <a:lvl4pPr marL="21717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4pPr>
            <a:lvl5pPr marL="26162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5pPr>
            <a:lvl6pPr marL="30734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6pPr>
            <a:lvl7pPr marL="35306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7pPr>
            <a:lvl8pPr marL="39878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8pPr>
            <a:lvl9pPr marL="44450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9pPr>
          </a:lstStyle>
          <a:p>
            <a:pPr marL="1009650" indent="-742950" eaLnBrk="1" hangingPunct="1">
              <a:buSzPct val="100000"/>
              <a:buFont typeface="Gill Sans" charset="0"/>
              <a:buAutoNum type="alphaLcPeriod"/>
            </a:pPr>
            <a:r>
              <a:rPr lang="en-US" altLang="zh-CN" sz="3200" kern="0" dirty="0"/>
              <a:t>X-&gt;Y-&gt;Nat</a:t>
            </a:r>
          </a:p>
          <a:p>
            <a:pPr marL="1009650" indent="-742950" eaLnBrk="1" hangingPunct="1">
              <a:buSzPct val="100000"/>
              <a:buFont typeface="Gill Sans" charset="0"/>
              <a:buAutoNum type="alphaLcPeriod"/>
            </a:pPr>
            <a:r>
              <a:rPr lang="en-US" altLang="zh-CN" sz="3200" kern="0" dirty="0"/>
              <a:t>X-&gt;Y-&gt;Nat-&gt;Nat</a:t>
            </a:r>
          </a:p>
          <a:p>
            <a:pPr marL="1009650" indent="-742950" eaLnBrk="1" hangingPunct="1">
              <a:buSzPct val="100000"/>
              <a:buFont typeface="Gill Sans" charset="0"/>
              <a:buAutoNum type="alphaLcPeriod"/>
            </a:pPr>
            <a:r>
              <a:rPr lang="en-US" altLang="zh-CN" sz="3200" kern="0" dirty="0"/>
              <a:t>X-&gt;Nat, Y-&gt;Nat</a:t>
            </a:r>
          </a:p>
          <a:p>
            <a:pPr marL="1009650" indent="-742950" eaLnBrk="1" hangingPunct="1">
              <a:buSzPct val="100000"/>
              <a:buFont typeface="Gill Sans" charset="0"/>
              <a:buAutoNum type="alphaLcPeriod"/>
            </a:pPr>
            <a:r>
              <a:rPr lang="en-US" altLang="zh-CN" sz="3200" kern="0" dirty="0"/>
              <a:t>X-&gt;Nat-&gt;Nat, Y-&gt;Nat</a:t>
            </a:r>
          </a:p>
        </p:txBody>
      </p:sp>
    </p:spTree>
    <p:extLst>
      <p:ext uri="{BB962C8B-B14F-4D97-AF65-F5344CB8AC3E}">
        <p14:creationId xmlns:p14="http://schemas.microsoft.com/office/powerpoint/2010/main" val="37995797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2.Which is wrong about type substitution?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lphaLcPeriod"/>
            </a:pPr>
            <a:r>
              <a:rPr lang="en-US" sz="3600" dirty="0"/>
              <a:t>If S is any type substitution and G |- e : s, then S(G) |- S(e) : S(s) .</a:t>
            </a:r>
          </a:p>
          <a:p>
            <a:pPr marL="514350" indent="-514350">
              <a:buFont typeface="+mj-lt"/>
              <a:buAutoNum type="alphaLcPeriod"/>
            </a:pPr>
            <a:r>
              <a:rPr lang="en-US" sz="3600" dirty="0"/>
              <a:t>T &lt;= S if and only if T = U o S for some U.</a:t>
            </a:r>
          </a:p>
          <a:p>
            <a:pPr marL="514350" indent="-514350">
              <a:buFont typeface="+mj-lt"/>
              <a:buAutoNum type="alphaLcPeriod"/>
            </a:pPr>
            <a:r>
              <a:rPr lang="en-US" sz="3600" dirty="0"/>
              <a:t>Any substitution is less general than the identity substitution I.</a:t>
            </a:r>
          </a:p>
          <a:p>
            <a:pPr marL="514350" indent="-514350">
              <a:buFont typeface="+mj-lt"/>
              <a:buAutoNum type="alphaLcPeriod"/>
            </a:pPr>
            <a:r>
              <a:rPr lang="mr-IN" sz="3600" dirty="0"/>
              <a:t>(</a:t>
            </a:r>
            <a:r>
              <a:rPr lang="mr-IN" sz="3600" dirty="0" err="1"/>
              <a:t>U</a:t>
            </a:r>
            <a:r>
              <a:rPr lang="en-US" sz="3600" dirty="0"/>
              <a:t> </a:t>
            </a:r>
            <a:r>
              <a:rPr lang="mr-IN" sz="3600" dirty="0" err="1"/>
              <a:t>o</a:t>
            </a:r>
            <a:r>
              <a:rPr lang="en-US" sz="3600" dirty="0"/>
              <a:t> </a:t>
            </a:r>
            <a:r>
              <a:rPr lang="mr-IN" sz="3600" dirty="0" err="1"/>
              <a:t>S</a:t>
            </a:r>
            <a:r>
              <a:rPr lang="mr-IN" sz="3600" dirty="0"/>
              <a:t>)(</a:t>
            </a:r>
            <a:r>
              <a:rPr lang="mr-IN" sz="3600" dirty="0" err="1"/>
              <a:t>a</a:t>
            </a:r>
            <a:r>
              <a:rPr lang="mr-IN" sz="3600" dirty="0"/>
              <a:t>)</a:t>
            </a:r>
            <a:r>
              <a:rPr lang="en-US" sz="3600" dirty="0"/>
              <a:t> </a:t>
            </a:r>
            <a:r>
              <a:rPr lang="mr-IN" sz="3600" dirty="0"/>
              <a:t>=</a:t>
            </a:r>
            <a:r>
              <a:rPr lang="en-US" sz="3600" dirty="0"/>
              <a:t> S</a:t>
            </a:r>
            <a:r>
              <a:rPr lang="mr-IN" sz="3600" dirty="0"/>
              <a:t>(</a:t>
            </a:r>
            <a:r>
              <a:rPr lang="en-US" sz="3600" dirty="0" err="1"/>
              <a:t>U</a:t>
            </a:r>
            <a:r>
              <a:rPr lang="mr-IN" sz="3600" dirty="0"/>
              <a:t>(</a:t>
            </a:r>
            <a:r>
              <a:rPr lang="mr-IN" sz="3600" dirty="0" err="1"/>
              <a:t>a</a:t>
            </a:r>
            <a:r>
              <a:rPr lang="mr-IN" sz="3600" dirty="0"/>
              <a:t>)) </a:t>
            </a:r>
            <a:endParaRPr lang="mr-IN" sz="3600" dirty="0">
              <a:effectLst/>
            </a:endParaRPr>
          </a:p>
          <a:p>
            <a:pPr marL="514350" indent="-514350">
              <a:buFont typeface="+mj-lt"/>
              <a:buAutoNum type="alphaLcPeriod"/>
            </a:pPr>
            <a:endParaRPr lang="en-US" sz="3600" dirty="0"/>
          </a:p>
          <a:p>
            <a:pPr marL="514350" indent="-514350">
              <a:buFont typeface="+mj-lt"/>
              <a:buAutoNum type="alphaLcPeriod"/>
            </a:pPr>
            <a:endParaRPr lang="en-US" sz="3600" dirty="0">
              <a:effectLst/>
            </a:endParaRPr>
          </a:p>
          <a:p>
            <a:pPr marL="514350" indent="-514350">
              <a:buFont typeface="+mj-lt"/>
              <a:buAutoNum type="alphaLcPeriod"/>
            </a:pP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1272575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/>
          <p:cNvSpPr txBox="1">
            <a:spLocks noChangeArrowheads="1"/>
          </p:cNvSpPr>
          <p:nvPr/>
        </p:nvSpPr>
        <p:spPr bwMode="auto">
          <a:xfrm>
            <a:off x="1011464" y="387351"/>
            <a:ext cx="10464800" cy="1345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+mj-lt"/>
                <a:ea typeface="+mj-ea"/>
                <a:cs typeface="+mj-cs"/>
                <a:sym typeface="Gill Sans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9pPr>
          </a:lstStyle>
          <a:p>
            <a:pPr algn="l" eaLnBrk="1" hangingPunct="1"/>
            <a:r>
              <a:rPr lang="en-US" altLang="zh-CN" sz="4000" kern="0" dirty="0">
                <a:latin typeface="+mn-lt"/>
                <a:ea typeface="宋体" panose="02010600030101010101" pitchFamily="2" charset="-122"/>
              </a:rPr>
              <a:t>3. </a:t>
            </a:r>
            <a:r>
              <a:rPr lang="en-US" altLang="zh-CN" sz="4000" kern="0" dirty="0">
                <a:latin typeface="+mn-lt"/>
              </a:rPr>
              <a:t>What is the starting state and final state of unification algorithm ?</a:t>
            </a:r>
            <a:endParaRPr lang="en-US" altLang="zh-CN" sz="4000" kern="0" dirty="0">
              <a:latin typeface="+mn-lt"/>
              <a:ea typeface="宋体" panose="02010600030101010101" pitchFamily="2" charset="-122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6A5658-ECE0-4BE4-B6D5-AB783F20D6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4176" y="2148529"/>
            <a:ext cx="11703050" cy="38143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>
            <a:lvl1pPr marL="8382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1pPr>
            <a:lvl2pPr marL="12827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2pPr>
            <a:lvl3pPr marL="17272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3pPr>
            <a:lvl4pPr marL="21717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4pPr>
            <a:lvl5pPr marL="26162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5pPr>
            <a:lvl6pPr marL="30734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6pPr>
            <a:lvl7pPr marL="35306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7pPr>
            <a:lvl8pPr marL="39878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8pPr>
            <a:lvl9pPr marL="44450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9pPr>
          </a:lstStyle>
          <a:p>
            <a:pPr marL="1009650" indent="-742950" eaLnBrk="1" hangingPunct="1">
              <a:buSzPct val="100000"/>
              <a:buFont typeface="Gill Sans" charset="0"/>
              <a:buAutoNum type="alphaLcPeriod"/>
            </a:pPr>
            <a:r>
              <a:rPr lang="en-US" altLang="zh-CN" sz="3200" kern="0" dirty="0"/>
              <a:t>(I, {}); (S, q)</a:t>
            </a:r>
          </a:p>
          <a:p>
            <a:pPr marL="1009650" indent="-742950" eaLnBrk="1" hangingPunct="1">
              <a:buSzPct val="100000"/>
              <a:buFont typeface="Gill Sans" charset="0"/>
              <a:buAutoNum type="alphaLcPeriod"/>
            </a:pPr>
            <a:r>
              <a:rPr lang="en-US" altLang="zh-CN" sz="3200" kern="0" dirty="0"/>
              <a:t>(I, q); (S, {})</a:t>
            </a:r>
          </a:p>
          <a:p>
            <a:pPr marL="1009650" indent="-742950" eaLnBrk="1" hangingPunct="1">
              <a:buSzPct val="100000"/>
              <a:buFont typeface="Gill Sans" charset="0"/>
              <a:buAutoNum type="alphaLcPeriod"/>
            </a:pPr>
            <a:r>
              <a:rPr lang="en-US" altLang="zh-CN" sz="3200" kern="0" dirty="0"/>
              <a:t>(S, {}); (I, q)</a:t>
            </a:r>
          </a:p>
          <a:p>
            <a:pPr marL="1009650" indent="-742950" eaLnBrk="1" hangingPunct="1">
              <a:buSzPct val="100000"/>
              <a:buFont typeface="Gill Sans" charset="0"/>
              <a:buAutoNum type="alphaLcPeriod"/>
            </a:pPr>
            <a:r>
              <a:rPr lang="en-US" altLang="zh-CN" sz="3200" kern="0" dirty="0"/>
              <a:t>(S, q); (I, {})</a:t>
            </a:r>
          </a:p>
        </p:txBody>
      </p:sp>
    </p:spTree>
    <p:extLst>
      <p:ext uri="{BB962C8B-B14F-4D97-AF65-F5344CB8AC3E}">
        <p14:creationId xmlns:p14="http://schemas.microsoft.com/office/powerpoint/2010/main" val="18616598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/>
          <p:cNvSpPr txBox="1">
            <a:spLocks noChangeArrowheads="1"/>
          </p:cNvSpPr>
          <p:nvPr/>
        </p:nvSpPr>
        <p:spPr bwMode="auto">
          <a:xfrm>
            <a:off x="1011464" y="387351"/>
            <a:ext cx="10464800" cy="1345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+mj-lt"/>
                <a:ea typeface="+mj-ea"/>
                <a:cs typeface="+mj-cs"/>
                <a:sym typeface="Gill Sans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9pPr>
          </a:lstStyle>
          <a:p>
            <a:pPr algn="l" eaLnBrk="1" hangingPunct="1"/>
            <a:r>
              <a:rPr lang="en-US" altLang="zh-CN" sz="4000" kern="0" dirty="0">
                <a:latin typeface="+mn-lt"/>
                <a:ea typeface="宋体" panose="02010600030101010101" pitchFamily="2" charset="-122"/>
              </a:rPr>
              <a:t>4. </a:t>
            </a:r>
            <a:r>
              <a:rPr lang="en-US" altLang="zh-CN" sz="4000" kern="0" dirty="0">
                <a:latin typeface="+mn-lt"/>
              </a:rPr>
              <a:t>If (S, q) is a stuck state. Then which one can not be q?</a:t>
            </a:r>
            <a:endParaRPr lang="en-US" altLang="zh-CN" sz="4000" kern="0" dirty="0">
              <a:latin typeface="+mn-lt"/>
              <a:ea typeface="宋体" panose="02010600030101010101" pitchFamily="2" charset="-122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6A5658-ECE0-4BE4-B6D5-AB783F20D6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4176" y="2148529"/>
            <a:ext cx="11703050" cy="38143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>
            <a:lvl1pPr marL="8382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1pPr>
            <a:lvl2pPr marL="12827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2pPr>
            <a:lvl3pPr marL="17272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3pPr>
            <a:lvl4pPr marL="21717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4pPr>
            <a:lvl5pPr marL="26162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5pPr>
            <a:lvl6pPr marL="30734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6pPr>
            <a:lvl7pPr marL="35306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7pPr>
            <a:lvl8pPr marL="39878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8pPr>
            <a:lvl9pPr marL="44450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9pPr>
          </a:lstStyle>
          <a:p>
            <a:pPr marL="1009650" indent="-742950" eaLnBrk="1" hangingPunct="1">
              <a:buSzPct val="100000"/>
              <a:buFont typeface="Gill Sans" charset="0"/>
              <a:buAutoNum type="alphaLcPeriod"/>
            </a:pPr>
            <a:r>
              <a:rPr lang="en-US" altLang="zh-CN" sz="3200" kern="0" dirty="0"/>
              <a:t>Int = bool</a:t>
            </a:r>
          </a:p>
          <a:p>
            <a:pPr marL="1009650" indent="-742950" eaLnBrk="1" hangingPunct="1">
              <a:buSzPct val="100000"/>
              <a:buFont typeface="Gill Sans" charset="0"/>
              <a:buAutoNum type="alphaLcPeriod"/>
            </a:pPr>
            <a:r>
              <a:rPr lang="en-US" altLang="zh-CN" sz="3200" kern="0" dirty="0"/>
              <a:t>S1-&gt;S2 = int </a:t>
            </a:r>
          </a:p>
          <a:p>
            <a:pPr marL="1009650" indent="-742950" eaLnBrk="1" hangingPunct="1">
              <a:buSzPct val="100000"/>
              <a:buFont typeface="Gill Sans" charset="0"/>
              <a:buAutoNum type="alphaLcPeriod"/>
            </a:pPr>
            <a:r>
              <a:rPr lang="en-US" altLang="zh-CN" sz="3200" kern="0" dirty="0"/>
              <a:t>a=a-&gt;int</a:t>
            </a:r>
          </a:p>
          <a:p>
            <a:pPr marL="1009650" indent="-742950" eaLnBrk="1" hangingPunct="1">
              <a:buSzPct val="100000"/>
              <a:buFont typeface="Gill Sans" charset="0"/>
              <a:buAutoNum type="alphaLcPeriod"/>
            </a:pPr>
            <a:r>
              <a:rPr lang="en-US" altLang="zh-CN" sz="3200" kern="0" dirty="0"/>
              <a:t>S1 = S2 -&gt; S2</a:t>
            </a:r>
          </a:p>
        </p:txBody>
      </p:sp>
    </p:spTree>
    <p:extLst>
      <p:ext uri="{BB962C8B-B14F-4D97-AF65-F5344CB8AC3E}">
        <p14:creationId xmlns:p14="http://schemas.microsoft.com/office/powerpoint/2010/main" val="6296557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/>
          <p:cNvSpPr txBox="1">
            <a:spLocks noChangeArrowheads="1"/>
          </p:cNvSpPr>
          <p:nvPr/>
        </p:nvSpPr>
        <p:spPr bwMode="auto">
          <a:xfrm>
            <a:off x="1011464" y="387351"/>
            <a:ext cx="10464800" cy="1345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+mj-lt"/>
                <a:ea typeface="+mj-ea"/>
                <a:cs typeface="+mj-cs"/>
                <a:sym typeface="Gill Sans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9pPr>
          </a:lstStyle>
          <a:p>
            <a:pPr algn="l" eaLnBrk="1" hangingPunct="1"/>
            <a:r>
              <a:rPr lang="en-US" altLang="zh-CN" sz="4000" kern="0" dirty="0">
                <a:latin typeface="+mn-lt"/>
                <a:ea typeface="宋体" panose="02010600030101010101" pitchFamily="2" charset="-122"/>
              </a:rPr>
              <a:t>5. </a:t>
            </a:r>
            <a:r>
              <a:rPr lang="en-US" altLang="zh-CN" sz="4000" kern="0" dirty="0">
                <a:latin typeface="+mn-lt"/>
              </a:rPr>
              <a:t>Which rule is used for occur check ?</a:t>
            </a:r>
            <a:endParaRPr lang="en-US" altLang="zh-CN" sz="4000" kern="0" dirty="0">
              <a:latin typeface="+mn-lt"/>
              <a:ea typeface="宋体" panose="02010600030101010101" pitchFamily="2" charset="-122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6A5658-ECE0-4BE4-B6D5-AB783F20D6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4176" y="2148529"/>
            <a:ext cx="11703050" cy="38143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>
            <a:lvl1pPr marL="8382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1pPr>
            <a:lvl2pPr marL="12827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2pPr>
            <a:lvl3pPr marL="17272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3pPr>
            <a:lvl4pPr marL="21717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4pPr>
            <a:lvl5pPr marL="26162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5pPr>
            <a:lvl6pPr marL="30734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6pPr>
            <a:lvl7pPr marL="35306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7pPr>
            <a:lvl8pPr marL="39878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8pPr>
            <a:lvl9pPr marL="44450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9pPr>
          </a:lstStyle>
          <a:p>
            <a:pPr marL="1009650" indent="-742950" eaLnBrk="1" hangingPunct="1">
              <a:buSzPct val="100000"/>
              <a:buFont typeface="Gill Sans" charset="0"/>
              <a:buAutoNum type="alphaLcPeriod"/>
            </a:pPr>
            <a:r>
              <a:rPr lang="en-US" altLang="zh-CN" sz="3200" kern="0" dirty="0"/>
              <a:t>(S,{int=int} U q) -&gt; (S, q)  (u-int)</a:t>
            </a:r>
          </a:p>
          <a:p>
            <a:pPr marL="1009650" indent="-742950" eaLnBrk="1" hangingPunct="1">
              <a:buSzPct val="100000"/>
              <a:buFont typeface="Gill Sans" charset="0"/>
              <a:buAutoNum type="alphaLcPeriod"/>
            </a:pPr>
            <a:r>
              <a:rPr lang="pl-PL" altLang="zh-CN" sz="3200" kern="0" dirty="0"/>
              <a:t>(S,{a=a} U q) -&gt; (S, q)</a:t>
            </a:r>
            <a:r>
              <a:rPr lang="en-US" altLang="zh-CN" sz="3200" kern="0" dirty="0"/>
              <a:t> </a:t>
            </a:r>
            <a:r>
              <a:rPr lang="pl-PL" altLang="zh-CN" sz="3200" kern="0" dirty="0"/>
              <a:t> (u-eq)</a:t>
            </a:r>
          </a:p>
          <a:p>
            <a:pPr marL="1009650" indent="-742950" eaLnBrk="1" hangingPunct="1">
              <a:buSzPct val="100000"/>
              <a:buFont typeface="Gill Sans" charset="0"/>
              <a:buAutoNum type="alphaLcPeriod"/>
            </a:pPr>
            <a:r>
              <a:rPr lang="en-US" altLang="zh-CN" sz="3200" kern="0" dirty="0"/>
              <a:t>(S, {s11 -&gt; s12= s21 -&gt; s22} U q)-&gt;(S, {s11 = s21, s12 = s22} U q)</a:t>
            </a:r>
          </a:p>
          <a:p>
            <a:pPr marL="1009650" indent="-742950" eaLnBrk="1" hangingPunct="1">
              <a:buSzPct val="100000"/>
              <a:buFont typeface="Gill Sans" charset="0"/>
              <a:buAutoNum type="alphaLcPeriod"/>
            </a:pPr>
            <a:r>
              <a:rPr lang="en-US" altLang="zh-CN" sz="3200" kern="0" dirty="0"/>
              <a:t>(S,{a=s} U q) -&gt; ([a=s] o S, q[s/a]) (a not in FV(s)) (u-var1)</a:t>
            </a:r>
          </a:p>
        </p:txBody>
      </p:sp>
    </p:spTree>
    <p:extLst>
      <p:ext uri="{BB962C8B-B14F-4D97-AF65-F5344CB8AC3E}">
        <p14:creationId xmlns:p14="http://schemas.microsoft.com/office/powerpoint/2010/main" val="105151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/>
          <p:cNvSpPr txBox="1">
            <a:spLocks noChangeArrowheads="1"/>
          </p:cNvSpPr>
          <p:nvPr/>
        </p:nvSpPr>
        <p:spPr bwMode="auto">
          <a:xfrm>
            <a:off x="1011464" y="387351"/>
            <a:ext cx="10464800" cy="1345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+mj-lt"/>
                <a:ea typeface="+mj-ea"/>
                <a:cs typeface="+mj-cs"/>
                <a:sym typeface="Gill Sans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9pPr>
          </a:lstStyle>
          <a:p>
            <a:pPr algn="l" eaLnBrk="1" hangingPunct="1"/>
            <a:r>
              <a:rPr lang="en-US" altLang="zh-CN" sz="4000" kern="0" dirty="0">
                <a:latin typeface="+mn-lt"/>
                <a:ea typeface="宋体" panose="02010600030101010101" pitchFamily="2" charset="-122"/>
              </a:rPr>
              <a:t>6. </a:t>
            </a:r>
            <a:r>
              <a:rPr lang="en-US" altLang="zh-CN" sz="4000" kern="0" dirty="0">
                <a:latin typeface="+mn-lt"/>
              </a:rPr>
              <a:t>Is unification algorithm always terminates?</a:t>
            </a:r>
            <a:endParaRPr lang="en-US" altLang="zh-CN" sz="4000" kern="0" dirty="0">
              <a:latin typeface="+mn-lt"/>
              <a:ea typeface="宋体" panose="02010600030101010101" pitchFamily="2" charset="-122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6A5658-ECE0-4BE4-B6D5-AB783F20D6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7293" y="2142308"/>
            <a:ext cx="11703050" cy="38143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>
            <a:lvl1pPr marL="8382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1pPr>
            <a:lvl2pPr marL="12827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2pPr>
            <a:lvl3pPr marL="17272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3pPr>
            <a:lvl4pPr marL="21717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4pPr>
            <a:lvl5pPr marL="26162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5pPr>
            <a:lvl6pPr marL="30734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6pPr>
            <a:lvl7pPr marL="35306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7pPr>
            <a:lvl8pPr marL="39878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8pPr>
            <a:lvl9pPr marL="44450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9pPr>
          </a:lstStyle>
          <a:p>
            <a:pPr marL="1009650" indent="-742950" eaLnBrk="1" hangingPunct="1">
              <a:buSzPct val="100000"/>
              <a:buFont typeface="Gill Sans" charset="0"/>
              <a:buAutoNum type="alphaLcPeriod"/>
            </a:pPr>
            <a:r>
              <a:rPr lang="en-US" altLang="zh-CN" sz="3200" kern="0" dirty="0"/>
              <a:t>Yes</a:t>
            </a:r>
          </a:p>
          <a:p>
            <a:pPr marL="1009650" indent="-742950" eaLnBrk="1" hangingPunct="1">
              <a:buSzPct val="100000"/>
              <a:buFont typeface="Gill Sans" charset="0"/>
              <a:buAutoNum type="alphaLcPeriod"/>
            </a:pPr>
            <a:r>
              <a:rPr lang="en-US" altLang="zh-CN" sz="3200" kern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20886134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/>
          <p:cNvSpPr txBox="1">
            <a:spLocks noChangeArrowheads="1"/>
          </p:cNvSpPr>
          <p:nvPr/>
        </p:nvSpPr>
        <p:spPr bwMode="auto">
          <a:xfrm>
            <a:off x="1011464" y="387351"/>
            <a:ext cx="10464800" cy="1345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+mj-lt"/>
                <a:ea typeface="+mj-ea"/>
                <a:cs typeface="+mj-cs"/>
                <a:sym typeface="Gill Sans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9pPr>
          </a:lstStyle>
          <a:p>
            <a:pPr algn="l" eaLnBrk="1" hangingPunct="1"/>
            <a:r>
              <a:rPr lang="en-US" altLang="zh-CN" sz="4000" kern="0" dirty="0">
                <a:latin typeface="+mn-lt"/>
                <a:ea typeface="宋体" panose="02010600030101010101" pitchFamily="2" charset="-122"/>
              </a:rPr>
              <a:t>7. </a:t>
            </a:r>
            <a:r>
              <a:rPr lang="en-US" altLang="zh-CN" sz="4000" kern="0" dirty="0">
                <a:latin typeface="+mn-lt"/>
              </a:rPr>
              <a:t>If (S, q) -&gt; (S’, q’) then T is complete for (</a:t>
            </a:r>
            <a:r>
              <a:rPr lang="en-US" altLang="zh-CN" sz="4000" kern="0" dirty="0" err="1">
                <a:latin typeface="+mn-lt"/>
              </a:rPr>
              <a:t>S,q</a:t>
            </a:r>
            <a:r>
              <a:rPr lang="en-US" altLang="zh-CN" sz="4000" kern="0" dirty="0">
                <a:latin typeface="+mn-lt"/>
              </a:rPr>
              <a:t>) </a:t>
            </a:r>
          </a:p>
          <a:p>
            <a:pPr algn="l" eaLnBrk="1" hangingPunct="1"/>
            <a:r>
              <a:rPr lang="en-US" altLang="zh-CN" sz="4000" kern="0" dirty="0">
                <a:latin typeface="+mn-lt"/>
              </a:rPr>
              <a:t>	     </a:t>
            </a:r>
            <a:r>
              <a:rPr lang="en-US" altLang="zh-CN" sz="4000" kern="0" dirty="0" err="1">
                <a:latin typeface="+mn-lt"/>
              </a:rPr>
              <a:t>iff</a:t>
            </a:r>
            <a:r>
              <a:rPr lang="en-US" altLang="zh-CN" sz="4000" kern="0" dirty="0">
                <a:latin typeface="+mn-lt"/>
              </a:rPr>
              <a:t> T is principal for (</a:t>
            </a:r>
            <a:r>
              <a:rPr lang="en-US" altLang="zh-CN" sz="4000" kern="0" dirty="0" err="1">
                <a:latin typeface="+mn-lt"/>
              </a:rPr>
              <a:t>S’,q</a:t>
            </a:r>
            <a:r>
              <a:rPr lang="en-US" altLang="zh-CN" sz="4000" kern="0" dirty="0">
                <a:latin typeface="+mn-lt"/>
              </a:rPr>
              <a:t>’) </a:t>
            </a:r>
            <a:endParaRPr lang="en-US" altLang="zh-CN" sz="4000" kern="0" dirty="0">
              <a:latin typeface="+mn-lt"/>
              <a:ea typeface="宋体" panose="02010600030101010101" pitchFamily="2" charset="-122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6A5658-ECE0-4BE4-B6D5-AB783F20D6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7293" y="2142308"/>
            <a:ext cx="11703050" cy="38143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>
            <a:lvl1pPr marL="8382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1pPr>
            <a:lvl2pPr marL="12827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2pPr>
            <a:lvl3pPr marL="17272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3pPr>
            <a:lvl4pPr marL="21717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4pPr>
            <a:lvl5pPr marL="26162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5pPr>
            <a:lvl6pPr marL="30734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6pPr>
            <a:lvl7pPr marL="35306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7pPr>
            <a:lvl8pPr marL="39878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8pPr>
            <a:lvl9pPr marL="44450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9pPr>
          </a:lstStyle>
          <a:p>
            <a:pPr marL="1009650" indent="-742950" eaLnBrk="1" hangingPunct="1">
              <a:buSzPct val="100000"/>
              <a:buFont typeface="Gill Sans" charset="0"/>
              <a:buAutoNum type="alphaLcPeriod"/>
            </a:pPr>
            <a:r>
              <a:rPr lang="en-US" altLang="zh-CN" sz="3200" kern="0" dirty="0"/>
              <a:t>Yes</a:t>
            </a:r>
          </a:p>
          <a:p>
            <a:pPr marL="1009650" indent="-742950" eaLnBrk="1" hangingPunct="1">
              <a:buSzPct val="100000"/>
              <a:buFont typeface="Gill Sans" charset="0"/>
              <a:buAutoNum type="alphaLcPeriod"/>
            </a:pPr>
            <a:r>
              <a:rPr lang="en-US" altLang="zh-CN" sz="3200" kern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26485351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BC3484D-6E33-43C1-8885-8F881666C052}"/>
              </a:ext>
            </a:extLst>
          </p:cNvPr>
          <p:cNvSpPr/>
          <p:nvPr/>
        </p:nvSpPr>
        <p:spPr>
          <a:xfrm>
            <a:off x="768893" y="470032"/>
            <a:ext cx="959153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3600" dirty="0"/>
              <a:t>8. Every final state (S, { }) has a complete solution. 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63255EA4-8124-49C5-92E4-DC2E6369E5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7293" y="2142308"/>
            <a:ext cx="11703050" cy="38143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>
            <a:lvl1pPr marL="8382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1pPr>
            <a:lvl2pPr marL="12827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2pPr>
            <a:lvl3pPr marL="17272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3pPr>
            <a:lvl4pPr marL="21717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4pPr>
            <a:lvl5pPr marL="26162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5pPr>
            <a:lvl6pPr marL="30734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6pPr>
            <a:lvl7pPr marL="35306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7pPr>
            <a:lvl8pPr marL="39878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8pPr>
            <a:lvl9pPr marL="44450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9pPr>
          </a:lstStyle>
          <a:p>
            <a:pPr marL="1009650" indent="-742950" eaLnBrk="1" hangingPunct="1">
              <a:buSzPct val="100000"/>
              <a:buFont typeface="Gill Sans" charset="0"/>
              <a:buAutoNum type="alphaLcPeriod"/>
            </a:pPr>
            <a:r>
              <a:rPr lang="en-US" altLang="zh-CN" sz="3200" kern="0" dirty="0"/>
              <a:t>Yes</a:t>
            </a:r>
          </a:p>
          <a:p>
            <a:pPr marL="1009650" indent="-742950" eaLnBrk="1" hangingPunct="1">
              <a:buSzPct val="100000"/>
              <a:buFont typeface="Gill Sans" charset="0"/>
              <a:buAutoNum type="alphaLcPeriod"/>
            </a:pPr>
            <a:r>
              <a:rPr lang="en-US" altLang="zh-CN" sz="3200" kern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2637004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/>
          <p:cNvSpPr txBox="1">
            <a:spLocks noChangeArrowheads="1"/>
          </p:cNvSpPr>
          <p:nvPr/>
        </p:nvSpPr>
        <p:spPr bwMode="auto">
          <a:xfrm>
            <a:off x="1011464" y="387351"/>
            <a:ext cx="10464800" cy="1345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+mj-lt"/>
                <a:ea typeface="+mj-ea"/>
                <a:cs typeface="+mj-cs"/>
                <a:sym typeface="Gill Sans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9pPr>
          </a:lstStyle>
          <a:p>
            <a:pPr algn="l" eaLnBrk="1" hangingPunct="1"/>
            <a:r>
              <a:rPr lang="en-US" altLang="zh-CN" sz="4000" kern="0" dirty="0">
                <a:latin typeface="+mn-lt"/>
                <a:ea typeface="宋体" panose="02010600030101010101" pitchFamily="2" charset="-122"/>
              </a:rPr>
              <a:t>9. </a:t>
            </a:r>
            <a:r>
              <a:rPr lang="en-US" altLang="zh-CN" sz="4000" kern="0" dirty="0">
                <a:latin typeface="+mn-lt"/>
              </a:rPr>
              <a:t>Is a principal solution always a complete solution?</a:t>
            </a:r>
            <a:endParaRPr lang="en-US" altLang="zh-CN" sz="4000" kern="0" dirty="0">
              <a:latin typeface="+mn-lt"/>
              <a:ea typeface="宋体" panose="02010600030101010101" pitchFamily="2" charset="-122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6A5658-ECE0-4BE4-B6D5-AB783F20D6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4176" y="2148529"/>
            <a:ext cx="11703050" cy="38143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>
            <a:lvl1pPr marL="8382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1pPr>
            <a:lvl2pPr marL="12827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2pPr>
            <a:lvl3pPr marL="17272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3pPr>
            <a:lvl4pPr marL="21717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4pPr>
            <a:lvl5pPr marL="26162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5pPr>
            <a:lvl6pPr marL="30734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6pPr>
            <a:lvl7pPr marL="35306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7pPr>
            <a:lvl8pPr marL="39878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8pPr>
            <a:lvl9pPr marL="44450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9pPr>
          </a:lstStyle>
          <a:p>
            <a:pPr marL="1009650" indent="-742950" eaLnBrk="1" hangingPunct="1">
              <a:buSzPct val="100000"/>
              <a:buFont typeface="Gill Sans" charset="0"/>
              <a:buAutoNum type="alphaLcPeriod"/>
            </a:pPr>
            <a:r>
              <a:rPr lang="en-US" altLang="zh-CN" sz="3200" kern="0" dirty="0"/>
              <a:t>Yes</a:t>
            </a:r>
          </a:p>
          <a:p>
            <a:pPr marL="1009650" indent="-742950" eaLnBrk="1" hangingPunct="1">
              <a:buSzPct val="100000"/>
              <a:buFont typeface="Gill Sans" charset="0"/>
              <a:buAutoNum type="alphaLcPeriod"/>
            </a:pPr>
            <a:r>
              <a:rPr lang="en-US" altLang="zh-CN" sz="3200" kern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718987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/>
          <p:cNvSpPr txBox="1">
            <a:spLocks noChangeArrowheads="1"/>
          </p:cNvSpPr>
          <p:nvPr/>
        </p:nvSpPr>
        <p:spPr bwMode="auto">
          <a:xfrm>
            <a:off x="1011464" y="387351"/>
            <a:ext cx="10464800" cy="1345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+mj-lt"/>
                <a:ea typeface="+mj-ea"/>
                <a:cs typeface="+mj-cs"/>
                <a:sym typeface="Gill Sans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9pPr>
          </a:lstStyle>
          <a:p>
            <a:pPr algn="l" eaLnBrk="1" hangingPunct="1"/>
            <a:r>
              <a:rPr lang="en-US" altLang="zh-CN" sz="4000" kern="0" dirty="0">
                <a:latin typeface="+mn-lt"/>
                <a:ea typeface="宋体" panose="02010600030101010101" pitchFamily="2" charset="-122"/>
              </a:rPr>
              <a:t>10. </a:t>
            </a:r>
            <a:r>
              <a:rPr lang="en-US" altLang="zh-CN" sz="4000" kern="0" dirty="0">
                <a:latin typeface="+mn-lt"/>
              </a:rPr>
              <a:t>Is a complete solution always a principal solution?</a:t>
            </a:r>
            <a:endParaRPr lang="en-US" altLang="zh-CN" sz="4000" kern="0" dirty="0">
              <a:latin typeface="+mn-lt"/>
              <a:ea typeface="宋体" panose="02010600030101010101" pitchFamily="2" charset="-122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6A5658-ECE0-4BE4-B6D5-AB783F20D6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4176" y="2148529"/>
            <a:ext cx="11703050" cy="38143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>
            <a:lvl1pPr marL="8382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1pPr>
            <a:lvl2pPr marL="12827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2pPr>
            <a:lvl3pPr marL="17272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3pPr>
            <a:lvl4pPr marL="21717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4pPr>
            <a:lvl5pPr marL="26162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5pPr>
            <a:lvl6pPr marL="30734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6pPr>
            <a:lvl7pPr marL="35306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7pPr>
            <a:lvl8pPr marL="39878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8pPr>
            <a:lvl9pPr marL="44450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9pPr>
          </a:lstStyle>
          <a:p>
            <a:pPr marL="1009650" indent="-742950" eaLnBrk="1" hangingPunct="1">
              <a:buSzPct val="100000"/>
              <a:buFont typeface="Gill Sans" charset="0"/>
              <a:buAutoNum type="alphaLcPeriod"/>
            </a:pPr>
            <a:r>
              <a:rPr lang="en-US" altLang="zh-CN" sz="3200" kern="0" dirty="0"/>
              <a:t>Yes</a:t>
            </a:r>
          </a:p>
          <a:p>
            <a:pPr marL="1009650" indent="-742950" eaLnBrk="1" hangingPunct="1">
              <a:buSzPct val="100000"/>
              <a:buFont typeface="Gill Sans" charset="0"/>
              <a:buAutoNum type="alphaLcPeriod"/>
            </a:pPr>
            <a:r>
              <a:rPr lang="en-US" altLang="zh-CN" sz="3200" kern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15382953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5036C-31C6-08FA-A107-E05B577B8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70390-9247-7F1B-8E1E-7CB86D918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ctr"/>
            <a: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Homework </a:t>
            </a:r>
            <a:r>
              <a:rPr lang="en-US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10</a:t>
            </a:r>
            <a:endParaRPr lang="en-KR" b="1" dirty="0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7329AC-66CF-E330-FD66-38C7B04A88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BF6AB5-0B6E-F42F-2F97-61BD8E816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4F0C8A-8D87-224E-912B-0C981F57F905}" type="datetime1">
              <a:rPr lang="en-US" smtClean="0"/>
              <a:t>10/29/2025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6EAFF5-5F7B-E950-66E9-284F339E9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13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6912366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31B8DB-EA24-160D-E42C-6853651A0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10/29/2025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BECE32-7FFC-1F2B-A131-76CC7A4B6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14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4A13E9D5-8E0A-CB61-98A8-A5841E46D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1</a:t>
            </a:r>
            <a:b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Description</a:t>
            </a:r>
            <a:endParaRPr lang="en-KR" b="1" dirty="0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1F5ABBC-39E6-280E-4720-4ABC28601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45894"/>
            <a:ext cx="10515600" cy="471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5895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BDE270-3551-D5E9-853C-3C118F195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9F2FE1-6745-DD95-AA5F-3964429835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10/29/2025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910856-46E3-C471-9ACF-5BB5FACD9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15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1E897508-015D-653E-5C6D-1B281BF8A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1</a:t>
            </a:r>
            <a:b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Solution – (1)</a:t>
            </a:r>
            <a:endParaRPr lang="en-KR" b="1" dirty="0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DB3AC4-04B6-228A-18C9-5D8203C774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865" y="2363118"/>
            <a:ext cx="8556870" cy="2131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8350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C43E9-4433-62C1-30F6-68B7DF0A9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6654BF-501D-95F0-F6AF-20FD456B1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10/29/2025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D053F0-70F3-5120-3FBD-4A0E624F9D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16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C87285F6-0B25-5722-5210-5391832C8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1</a:t>
            </a:r>
            <a:b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Solution – (2)</a:t>
            </a:r>
            <a:endParaRPr lang="en-KR" b="1" dirty="0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CA27380-5168-B2C1-0040-39A5A9C8BF6E}"/>
              </a:ext>
            </a:extLst>
          </p:cNvPr>
          <p:cNvGrpSpPr/>
          <p:nvPr/>
        </p:nvGrpSpPr>
        <p:grpSpPr>
          <a:xfrm>
            <a:off x="928387" y="2393108"/>
            <a:ext cx="8074626" cy="2630584"/>
            <a:chOff x="1320800" y="2520950"/>
            <a:chExt cx="7289800" cy="2374900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41563246-A915-05A2-AD12-1BDCAA468B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20800" y="2520950"/>
              <a:ext cx="7289800" cy="18161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3AFB869-7404-8E96-6EB9-C702CE4607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20800" y="4337050"/>
              <a:ext cx="7289800" cy="558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877477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4A873-44AD-3FD4-2D68-ADD051F77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3FFBFB-325F-3A40-1B59-00EEF2DAB0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10/29/2025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531E17-719B-AE06-FE95-DF5CCBD14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17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051C889A-049C-0E91-F86B-9F3E013D4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1</a:t>
            </a:r>
            <a:b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Solution – (3)</a:t>
            </a:r>
            <a:endParaRPr lang="en-KR" b="1" dirty="0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57A69F7-893B-2A6B-6EAD-0A1F01493B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216" y="2103437"/>
            <a:ext cx="10121568" cy="3266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86091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238B9-E021-44AE-B282-62590E4B7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0E309B-CC3E-6122-320B-D40407921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10/29/2025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4C7CB7-A9FE-0EED-C6AB-E18117169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18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CA820713-3EF9-CF35-69C9-05F57C54D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1</a:t>
            </a:r>
            <a:b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Solution – (4,5,6)</a:t>
            </a:r>
            <a:endParaRPr lang="en-KR" b="1" dirty="0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004DC4-4C87-12C4-13CB-97D789BE09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060" y="2726675"/>
            <a:ext cx="10289880" cy="140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0880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A80D8-F339-38BB-81B6-48BC4C0D1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3F6988-D51C-4954-ED58-A193D8EE8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10/29/2025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3A56EC-E8C0-EA27-59DB-4EC122556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19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1125432D-96EF-B3B3-0B80-02A26DCA8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2</a:t>
            </a:r>
            <a:b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Description</a:t>
            </a:r>
            <a:endParaRPr lang="en-KR" b="1" dirty="0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45E3F9B-B185-0B4D-AE5E-8956F767F6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263" y="1690688"/>
            <a:ext cx="10195474" cy="111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84912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0E2E6-A564-55D0-C5FA-C7A571F29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4AA1D4-CA2F-0670-02F3-BF52516DB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10/29/2025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FFFB0B-C387-DCFA-B36D-EB645B34F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20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EBBD9C99-AD11-74DC-2C59-385DDE35EE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2</a:t>
            </a:r>
            <a:b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Description</a:t>
            </a:r>
            <a:endParaRPr lang="en-KR" b="1" dirty="0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B775842-549E-28A0-0689-D207A4B443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4622" y="1400037"/>
            <a:ext cx="9202756" cy="5053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021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AA77B-8747-06BF-098C-00C9DE65B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61D44E-E3C5-B458-1013-62468B920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10/29/2025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BF877A-C282-DB8B-F2DD-BCF82E2CF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21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912C31D0-0410-821F-95DB-6D3EF32CB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2</a:t>
            </a:r>
            <a:b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Solution</a:t>
            </a:r>
            <a:endParaRPr lang="en-KR" b="1" dirty="0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0D392F6-C897-B2EF-87B3-FC6E2800AD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902" y="1690688"/>
            <a:ext cx="10444196" cy="13738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C36B24D-1843-C030-A2CA-52956BDC2E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902" y="3595797"/>
            <a:ext cx="10515612" cy="846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45690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39D9F9-2BDB-6C28-2EBB-6E5290FC0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EA281-79EA-712C-47D1-F059583EF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10/29/2025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90F2F4-C6DB-7802-11A6-70A007E91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22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3568EE87-FDC2-C7A9-359F-7D2780E5CA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2</a:t>
            </a:r>
            <a:b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Solution</a:t>
            </a:r>
            <a:endParaRPr lang="en-KR" b="1" dirty="0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1A1AD17-ED91-E877-7FD0-92232F4CB4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099" y="1600292"/>
            <a:ext cx="9885802" cy="4846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2743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359EF-5EC9-AC4E-CC05-31DA22AE9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756A98-3DD3-32A8-4E59-4E96792BA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10/29/2025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A13233-26D6-A5EC-B2BE-893B3FE8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23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EFCBC1CD-4AB9-026A-2496-41814A15B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2</a:t>
            </a:r>
            <a:b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Solution</a:t>
            </a:r>
            <a:endParaRPr lang="en-KR" b="1" dirty="0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82C076-C3D1-DF99-5082-3650FC8D36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792" y="2392016"/>
            <a:ext cx="10754416" cy="2073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76019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C1056-8E97-9FCD-45D0-55A6A8283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5D11FF-6B01-D4D5-1488-44207D912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10/29/2025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23E5D6-C6B4-FE96-981D-A97B0A7EE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24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1DB0AC3E-8A5A-5A30-2F83-74F800798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2</a:t>
            </a:r>
            <a:b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Solution</a:t>
            </a:r>
            <a:endParaRPr lang="en-KR" b="1" dirty="0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A63FFF-B5C0-7A02-5DAD-BFE0DDB0B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571" y="1935508"/>
            <a:ext cx="10732858" cy="3717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4169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EB77D-3546-B0CD-BCB0-E41B89931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6186FF-C7E3-4B5F-DF9D-4F4874752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10/29/2025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1FF93E-B880-07E1-3607-61C152C83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25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EEE4DF58-A276-FA2F-3958-060561A18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2</a:t>
            </a:r>
            <a:b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Solution</a:t>
            </a:r>
            <a:endParaRPr lang="en-KR" b="1" dirty="0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5D9EB1A-F833-3012-1E40-68E379632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436" y="2034208"/>
            <a:ext cx="10603128" cy="278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0765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F7DEE-3279-8702-12C0-3035BF73A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765101-3E11-45B3-7E33-FF45A616D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10/29/2025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B0AE68-57A1-E044-B6AE-0E7695464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26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DD0F1FBC-9E8D-8D73-AFBA-C0AD7188E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2</a:t>
            </a:r>
            <a:br>
              <a:rPr lang="en-KR" b="1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 dirty="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Solution</a:t>
            </a:r>
            <a:endParaRPr lang="en-KR" b="1" dirty="0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7FBC6FA-1214-DEC8-DF90-503EBB2E92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4" y="1795670"/>
            <a:ext cx="10702072" cy="3266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2941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3644</TotalTime>
  <Words>558</Words>
  <Application>Microsoft Office PowerPoint</Application>
  <PresentationFormat>Widescreen</PresentationFormat>
  <Paragraphs>98</Paragraphs>
  <Slides>26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7" baseType="lpstr">
      <vt:lpstr>Office Theme</vt:lpstr>
      <vt:lpstr>Programming Language Concepts</vt:lpstr>
      <vt:lpstr>Quiz</vt:lpstr>
      <vt:lpstr>PowerPoint Presentation</vt:lpstr>
      <vt:lpstr>2.Which is wrong about type substitution?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Homework 10</vt:lpstr>
      <vt:lpstr>Problem 1 Description</vt:lpstr>
      <vt:lpstr>Problem 1 Solution – (1)</vt:lpstr>
      <vt:lpstr>Problem 1 Solution – (2)</vt:lpstr>
      <vt:lpstr>Problem 1 Solution – (3)</vt:lpstr>
      <vt:lpstr>Problem 1 Solution – (4,5,6)</vt:lpstr>
      <vt:lpstr>Problem 2 Description</vt:lpstr>
      <vt:lpstr>Problem 2 Description</vt:lpstr>
      <vt:lpstr>Problem 2 Solution</vt:lpstr>
      <vt:lpstr>Problem 2 Solution</vt:lpstr>
      <vt:lpstr>Problem 2 Solution</vt:lpstr>
      <vt:lpstr>Problem 2 Solution</vt:lpstr>
      <vt:lpstr>Problem 2 Solution</vt:lpstr>
      <vt:lpstr>Problem 2 Solution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Park, Wonjun</dc:creator>
  <cp:lastModifiedBy>Park, Wonjun</cp:lastModifiedBy>
  <cp:revision>92</cp:revision>
  <dcterms:created xsi:type="dcterms:W3CDTF">2025-08-27T00:41:02Z</dcterms:created>
  <dcterms:modified xsi:type="dcterms:W3CDTF">2025-10-30T03:11:38Z</dcterms:modified>
</cp:coreProperties>
</file>