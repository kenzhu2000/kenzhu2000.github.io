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75" r:id="rId2"/>
    <p:sldId id="322" r:id="rId3"/>
    <p:sldId id="357" r:id="rId4"/>
    <p:sldId id="281" r:id="rId5"/>
    <p:sldId id="257" r:id="rId6"/>
    <p:sldId id="282" r:id="rId7"/>
    <p:sldId id="283" r:id="rId8"/>
    <p:sldId id="378" r:id="rId9"/>
    <p:sldId id="286" r:id="rId10"/>
    <p:sldId id="288" r:id="rId11"/>
    <p:sldId id="285" r:id="rId12"/>
    <p:sldId id="258" r:id="rId13"/>
    <p:sldId id="369" r:id="rId14"/>
    <p:sldId id="372" r:id="rId15"/>
    <p:sldId id="380" r:id="rId16"/>
    <p:sldId id="373" r:id="rId17"/>
    <p:sldId id="379" r:id="rId18"/>
    <p:sldId id="28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15" autoAdjust="0"/>
    <p:restoredTop sz="81921" autoAdjust="0"/>
  </p:normalViewPr>
  <p:slideViewPr>
    <p:cSldViewPr snapToGrid="0">
      <p:cViewPr varScale="1">
        <p:scale>
          <a:sx n="130" d="100"/>
          <a:sy n="130" d="100"/>
        </p:scale>
        <p:origin x="381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42834-A923-415F-BF9C-1B2F00B6F7D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A8166-61D3-44AA-A36C-C4C8A9BB4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40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744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56FC7-7B57-9B34-0849-C63EFD745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6A493-5B8F-B9CD-9EE4-713326D268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2D1DF-D2CD-F0BF-62DF-8107F9243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99663-8861-F76C-865E-A2D41C6D0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4242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97BB0-077F-D10F-EC57-35E30B2D2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E2FF1-88C4-CB8B-434E-A9B3E079F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D8BBB-A6BF-A5B1-1909-A8C14F1D0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D0062-B18B-4B98-14A5-403497FDD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0870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A8166-61D3-44AA-A36C-C4C8A9BB498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784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A8166-61D3-44AA-A36C-C4C8A9BB498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166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6A677-E523-E49C-B75C-ED4376751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3243FB-643D-9DAF-1F23-1878983D1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05A7C2-BFA9-FE1C-A300-FF83AA7B1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FBCB6-7661-B58A-0B7C-F49354E477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6002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02D7C-43D6-CE86-DC02-5B7806F24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5C595-798B-7480-629C-857720784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E1BA8-3081-57EA-46D3-1BC9E6320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u="none" dirty="0"/>
              <a:t>How 5.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E6607-6AD0-2F34-337D-E8A9FE658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5676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7A823-36A9-D752-6291-32BA5CD19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C49A00-904E-0F49-1691-D8917F0ACB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B0AF9-39D8-AF3E-3959-C00154050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95681-4CE6-9BD8-A7BE-A60C5F0BD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4437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8913B-81BF-DE84-8C36-A75F9C066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0C43C-B7B7-A613-E274-03806CEC8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E43655-CA4F-3BF4-20E0-5544FC357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7FBEE-326E-7D04-E2B9-BE17BFEA1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7368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DE865-42A9-A797-82F0-02C5CF0B5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D403AD-61C3-5829-FED5-BB629D7AC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9A6936-36A3-4591-1022-C031C98D8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B2655-F785-BFF3-2A0D-53A5BF941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36320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852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A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31E7C7E-200A-F626-0A3D-92CC978B8D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38495" y="4750278"/>
            <a:ext cx="6968291" cy="194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479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</p:spTree>
    <p:extLst>
      <p:ext uri="{BB962C8B-B14F-4D97-AF65-F5344CB8AC3E}">
        <p14:creationId xmlns:p14="http://schemas.microsoft.com/office/powerpoint/2010/main" val="4043767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56694" y="5179121"/>
            <a:ext cx="6108700" cy="141181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8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56694" y="5179121"/>
            <a:ext cx="6108700" cy="1411816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55C03-226B-5FC2-208E-578716830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08800" y="3655551"/>
            <a:ext cx="4878917" cy="11979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0552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609600" y="2380617"/>
            <a:ext cx="10972800" cy="1143004"/>
          </a:xfrm>
        </p:spPr>
        <p:txBody>
          <a:bodyPr>
            <a:normAutofit/>
          </a:bodyPr>
          <a:lstStyle>
            <a:lvl1pPr>
              <a:defRPr sz="5867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DB257BD6-4D9A-CD45-BCE2-728C5AB620C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3372856"/>
            <a:ext cx="10972800" cy="905933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27222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88B4A6B9-381D-5D40-84AC-41D60C0A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8665"/>
            <a:ext cx="10972800" cy="1143000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H2 Subtitle">
            <a:extLst>
              <a:ext uri="{FF2B5EF4-FFF2-40B4-BE49-F238E27FC236}">
                <a16:creationId xmlns:a16="http://schemas.microsoft.com/office/drawing/2014/main" id="{5B196C90-74A6-5E42-A204-A1E0DBCB67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1116753"/>
            <a:ext cx="10972800" cy="451275"/>
          </a:xfrm>
        </p:spPr>
        <p:txBody>
          <a:bodyPr>
            <a:noAutofit/>
          </a:bodyPr>
          <a:lstStyle>
            <a:lvl1pPr marL="0" indent="0" algn="ctr">
              <a:buNone/>
              <a:defRPr sz="2667">
                <a:solidFill>
                  <a:srgbClr val="00599B"/>
                </a:solidFill>
              </a:defRPr>
            </a:lvl1pPr>
            <a:lvl2pPr marL="609585" indent="0">
              <a:buNone/>
              <a:defRPr sz="3200">
                <a:solidFill>
                  <a:srgbClr val="00599B"/>
                </a:solidFill>
              </a:defRPr>
            </a:lvl2pPr>
            <a:lvl3pPr marL="1219170" indent="0">
              <a:buNone/>
              <a:defRPr sz="3200">
                <a:solidFill>
                  <a:srgbClr val="00599B"/>
                </a:solidFill>
              </a:defRPr>
            </a:lvl3pPr>
            <a:lvl4pPr marL="1828754" indent="0">
              <a:buNone/>
              <a:defRPr sz="3200">
                <a:solidFill>
                  <a:srgbClr val="00599B"/>
                </a:solidFill>
              </a:defRPr>
            </a:lvl4pPr>
            <a:lvl5pPr marL="2438339" indent="0">
              <a:buNone/>
              <a:defRPr sz="32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Body Content">
            <a:extLst>
              <a:ext uri="{FF2B5EF4-FFF2-40B4-BE49-F238E27FC236}">
                <a16:creationId xmlns:a16="http://schemas.microsoft.com/office/drawing/2014/main" id="{4F275BD8-ECF8-F54B-B4E2-A66F7AB2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47522"/>
            <a:ext cx="10972800" cy="4131733"/>
          </a:xfrm>
        </p:spPr>
        <p:txBody>
          <a:bodyPr>
            <a:normAutofit/>
          </a:bodyPr>
          <a:lstStyle>
            <a:lvl1pPr marL="457189" indent="-457189">
              <a:buFont typeface="Wingdings" pitchFamily="2" charset="2"/>
              <a:buChar char="§"/>
              <a:defRPr sz="2133"/>
            </a:lvl1pPr>
            <a:lvl2pPr marL="990575" indent="-380990">
              <a:buFont typeface="Wingdings" pitchFamily="2" charset="2"/>
              <a:buChar char="§"/>
              <a:defRPr sz="2133"/>
            </a:lvl2pPr>
            <a:lvl3pPr marL="1523962" indent="-304792">
              <a:buFont typeface="Wingdings" pitchFamily="2" charset="2"/>
              <a:buChar char="§"/>
              <a:defRPr sz="2133"/>
            </a:lvl3pPr>
            <a:lvl4pPr marL="2133547" indent="-304792">
              <a:buFont typeface="Wingdings" pitchFamily="2" charset="2"/>
              <a:buChar char="§"/>
              <a:defRPr sz="2133"/>
            </a:lvl4pPr>
            <a:lvl5pPr marL="2743131" indent="-304792">
              <a:buFont typeface="Wingdings" pitchFamily="2" charset="2"/>
              <a:buChar char="§"/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6614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H2 Subtitle">
            <a:extLst>
              <a:ext uri="{FF2B5EF4-FFF2-40B4-BE49-F238E27FC236}">
                <a16:creationId xmlns:a16="http://schemas.microsoft.com/office/drawing/2014/main" id="{7E449A25-5BA8-A049-892B-A920427B81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1065953"/>
            <a:ext cx="10972800" cy="451275"/>
          </a:xfrm>
        </p:spPr>
        <p:txBody>
          <a:bodyPr>
            <a:noAutofit/>
          </a:bodyPr>
          <a:lstStyle>
            <a:lvl1pPr marL="0" indent="0" algn="ctr">
              <a:buNone/>
              <a:defRPr sz="2667">
                <a:solidFill>
                  <a:srgbClr val="00599B"/>
                </a:solidFill>
              </a:defRPr>
            </a:lvl1pPr>
            <a:lvl2pPr marL="609585" indent="0">
              <a:buNone/>
              <a:defRPr sz="3200">
                <a:solidFill>
                  <a:srgbClr val="00599B"/>
                </a:solidFill>
              </a:defRPr>
            </a:lvl2pPr>
            <a:lvl3pPr marL="1219170" indent="0">
              <a:buNone/>
              <a:defRPr sz="3200">
                <a:solidFill>
                  <a:srgbClr val="00599B"/>
                </a:solidFill>
              </a:defRPr>
            </a:lvl3pPr>
            <a:lvl4pPr marL="1828754" indent="0">
              <a:buNone/>
              <a:defRPr sz="3200">
                <a:solidFill>
                  <a:srgbClr val="00599B"/>
                </a:solidFill>
              </a:defRPr>
            </a:lvl4pPr>
            <a:lvl5pPr marL="2438339" indent="0">
              <a:buNone/>
              <a:defRPr sz="32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Body Content 1"/>
          <p:cNvSpPr>
            <a:spLocks noGrp="1"/>
          </p:cNvSpPr>
          <p:nvPr>
            <p:ph sz="half" idx="1"/>
          </p:nvPr>
        </p:nvSpPr>
        <p:spPr>
          <a:xfrm>
            <a:off x="609600" y="1747522"/>
            <a:ext cx="5384800" cy="4131733"/>
          </a:xfrm>
        </p:spPr>
        <p:txBody>
          <a:bodyPr>
            <a:normAutofit/>
          </a:bodyPr>
          <a:lstStyle>
            <a:lvl1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6197600" y="1747522"/>
            <a:ext cx="5384800" cy="4131733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96634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63335" y="1481545"/>
            <a:ext cx="3628573" cy="2224644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Body Content 2">
            <a:extLst>
              <a:ext uri="{FF2B5EF4-FFF2-40B4-BE49-F238E27FC236}">
                <a16:creationId xmlns:a16="http://schemas.microsoft.com/office/drawing/2014/main" id="{AF760239-E1E4-98A8-BC2A-AD64F71B7E0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3333" y="3808021"/>
            <a:ext cx="3628575" cy="2224644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Body Content 2">
            <a:extLst>
              <a:ext uri="{FF2B5EF4-FFF2-40B4-BE49-F238E27FC236}">
                <a16:creationId xmlns:a16="http://schemas.microsoft.com/office/drawing/2014/main" id="{52458702-0A0A-743A-4663-E0EA4FBC4EB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892467" y="1481545"/>
            <a:ext cx="3525653" cy="2326476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Body Content 2">
            <a:extLst>
              <a:ext uri="{FF2B5EF4-FFF2-40B4-BE49-F238E27FC236}">
                <a16:creationId xmlns:a16="http://schemas.microsoft.com/office/drawing/2014/main" id="{E7DCE5C4-5A12-8BD9-2E79-6B094F4C1F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879271" y="3980299"/>
            <a:ext cx="3628575" cy="2628405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Body Content 2">
            <a:extLst>
              <a:ext uri="{FF2B5EF4-FFF2-40B4-BE49-F238E27FC236}">
                <a16:creationId xmlns:a16="http://schemas.microsoft.com/office/drawing/2014/main" id="{3180402C-B205-3B02-80EC-1389CEFE02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011889" y="1490548"/>
            <a:ext cx="3910937" cy="2215640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Body Content 2">
            <a:extLst>
              <a:ext uri="{FF2B5EF4-FFF2-40B4-BE49-F238E27FC236}">
                <a16:creationId xmlns:a16="http://schemas.microsoft.com/office/drawing/2014/main" id="{1D0698A4-F993-1339-EDDC-E122275B26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67023" y="3980299"/>
            <a:ext cx="3937332" cy="2613235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58409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Wide Table">
            <a:extLst>
              <a:ext uri="{FF2B5EF4-FFF2-40B4-BE49-F238E27FC236}">
                <a16:creationId xmlns:a16="http://schemas.microsoft.com/office/drawing/2014/main" id="{A31F2DD0-A818-C246-A801-671F4BC2994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04800" y="381000"/>
            <a:ext cx="11582400" cy="60960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207375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Wide Chart">
            <a:extLst>
              <a:ext uri="{FF2B5EF4-FFF2-40B4-BE49-F238E27FC236}">
                <a16:creationId xmlns:a16="http://schemas.microsoft.com/office/drawing/2014/main" id="{21B7D27F-640B-514B-9B11-9D1645F3F49A}"/>
              </a:ext>
            </a:extLst>
          </p:cNvPr>
          <p:cNvSpPr>
            <a:spLocks noGrp="1" noChangeAspect="1"/>
          </p:cNvSpPr>
          <p:nvPr>
            <p:ph type="chart" sz="quarter" idx="11"/>
          </p:nvPr>
        </p:nvSpPr>
        <p:spPr>
          <a:xfrm>
            <a:off x="304800" y="381000"/>
            <a:ext cx="11582400" cy="6096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3609476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ull Bleed Photo">
            <a:extLst>
              <a:ext uri="{FF2B5EF4-FFF2-40B4-BE49-F238E27FC236}">
                <a16:creationId xmlns:a16="http://schemas.microsoft.com/office/drawing/2014/main" id="{3D0D2707-18C2-FA48-9C1E-B114D1A3869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60960" y="-45720"/>
            <a:ext cx="12313920" cy="694944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07556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ull Bleed Video">
            <a:extLst>
              <a:ext uri="{FF2B5EF4-FFF2-40B4-BE49-F238E27FC236}">
                <a16:creationId xmlns:a16="http://schemas.microsoft.com/office/drawing/2014/main" id="{E64AE5ED-FB71-2940-A0AA-8B776317FAB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-60960" y="-45720"/>
            <a:ext cx="12313920" cy="694944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21127013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noProof="1"/>
              <a:t>Click to edit Master title style</a:t>
            </a:r>
            <a:endParaRPr lang="zh-CN" alt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noProof="1"/>
              <a:t>Click to edit Master text styles</a:t>
            </a:r>
          </a:p>
          <a:p>
            <a:pPr lvl="1"/>
            <a:r>
              <a:rPr lang="en-US" altLang="zh-CN" noProof="1"/>
              <a:t>Second level</a:t>
            </a:r>
          </a:p>
          <a:p>
            <a:pPr lvl="2"/>
            <a:r>
              <a:rPr lang="en-US" altLang="zh-CN" noProof="1"/>
              <a:t>Third level</a:t>
            </a:r>
          </a:p>
          <a:p>
            <a:pPr lvl="3"/>
            <a:r>
              <a:rPr lang="en-US" altLang="zh-CN" noProof="1"/>
              <a:t>Fourth level</a:t>
            </a:r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</p:spTree>
    <p:extLst>
      <p:ext uri="{BB962C8B-B14F-4D97-AF65-F5344CB8AC3E}">
        <p14:creationId xmlns:p14="http://schemas.microsoft.com/office/powerpoint/2010/main" val="1912950176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850658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 Content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88411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4667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575" indent="-380990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3962" indent="-304792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03" y="563071"/>
            <a:ext cx="10972800" cy="2344263"/>
          </a:xfrm>
        </p:spPr>
        <p:txBody>
          <a:bodyPr>
            <a:noAutofit/>
          </a:bodyPr>
          <a:lstStyle/>
          <a:p>
            <a:r>
              <a:rPr lang="en-US" sz="4800" dirty="0"/>
              <a:t>Tutorial 5</a:t>
            </a:r>
            <a:endParaRPr lang="en-US" altLang="zh-CN" sz="5333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46EDE5-6FC5-824E-9F44-F022997BFE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" y="4906266"/>
            <a:ext cx="10972800" cy="1244300"/>
          </a:xfrm>
        </p:spPr>
        <p:txBody>
          <a:bodyPr>
            <a:normAutofit/>
          </a:bodyPr>
          <a:lstStyle/>
          <a:p>
            <a:pPr fontAlgn="base"/>
            <a:r>
              <a:rPr lang="en-US" altLang="zh-CN" dirty="0"/>
              <a:t>Presenter: Peter​ Zhang</a:t>
            </a:r>
          </a:p>
          <a:p>
            <a:pPr fontAlgn="base"/>
            <a:r>
              <a:rPr lang="en-US" altLang="zh-CN" dirty="0"/>
              <a:t>2/25/2026</a:t>
            </a:r>
          </a:p>
          <a:p>
            <a:endParaRPr lang="en-US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7C796814-B4C7-06C2-94D6-3F9ED29CF958}"/>
              </a:ext>
            </a:extLst>
          </p:cNvPr>
          <p:cNvSpPr txBox="1">
            <a:spLocks/>
          </p:cNvSpPr>
          <p:nvPr/>
        </p:nvSpPr>
        <p:spPr>
          <a:xfrm>
            <a:off x="482103" y="3284650"/>
            <a:ext cx="10972800" cy="1244300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2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 fontAlgn="base"/>
            <a:r>
              <a:rPr lang="fr-FR" altLang="zh-CN" sz="3733" b="1" i="1" dirty="0">
                <a:solidFill>
                  <a:prstClr val="white"/>
                </a:solidFill>
                <a:ea typeface="黑体" panose="02010609060101010101" pitchFamily="49" charset="-122"/>
              </a:rPr>
              <a:t>Quiz 7,8 &amp; HW 5</a:t>
            </a:r>
            <a:endParaRPr lang="en-US" altLang="zh-CN" sz="3733" b="1" i="1" dirty="0">
              <a:solidFill>
                <a:prstClr val="white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6317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49CCE-ED76-8FB5-A257-6CCDE2B0D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18C6FAE-881C-0B75-04F3-B500D147A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608707"/>
            <a:ext cx="7535917" cy="53222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1F95B0-D4C6-B272-40DC-F8DA4FDA1F30}"/>
              </a:ext>
            </a:extLst>
          </p:cNvPr>
          <p:cNvSpPr txBox="1"/>
          <p:nvPr/>
        </p:nvSpPr>
        <p:spPr>
          <a:xfrm>
            <a:off x="0" y="0"/>
            <a:ext cx="1223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Quiz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F6BD94-DF5F-9F5E-2445-D09609FB589E}"/>
              </a:ext>
            </a:extLst>
          </p:cNvPr>
          <p:cNvSpPr txBox="1"/>
          <p:nvPr/>
        </p:nvSpPr>
        <p:spPr>
          <a:xfrm>
            <a:off x="7644809" y="3284025"/>
            <a:ext cx="30798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Expr ::=    Term + Expr</a:t>
            </a:r>
          </a:p>
          <a:p>
            <a:r>
              <a:rPr lang="en-US" dirty="0"/>
              <a:t>       	| Term - Expr</a:t>
            </a:r>
          </a:p>
          <a:p>
            <a:r>
              <a:rPr lang="en-US" dirty="0"/>
              <a:t>       	| Term</a:t>
            </a:r>
          </a:p>
        </p:txBody>
      </p:sp>
    </p:spTree>
    <p:extLst>
      <p:ext uri="{BB962C8B-B14F-4D97-AF65-F5344CB8AC3E}">
        <p14:creationId xmlns:p14="http://schemas.microsoft.com/office/powerpoint/2010/main" val="132400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FA7C9-6F09-1F6A-65D0-5556C046C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66C66F-32E9-27DF-3C3D-B08A10277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2" y="0"/>
            <a:ext cx="7296525" cy="47690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D564C2-F87A-6585-C356-0B1FC68C3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7415" y="4855583"/>
            <a:ext cx="1714286" cy="6761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F60E81-8313-CE05-C628-1441EBD9F7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7981" y="4941297"/>
            <a:ext cx="1790476" cy="5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853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>
            <a:extLst>
              <a:ext uri="{FF2B5EF4-FFF2-40B4-BE49-F238E27FC236}">
                <a16:creationId xmlns:a16="http://schemas.microsoft.com/office/drawing/2014/main" id="{DB36F8A9-0FC7-9AC4-6369-5265F8F034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98651" y="178594"/>
            <a:ext cx="8050113" cy="1782589"/>
          </a:xfrm>
        </p:spPr>
        <p:txBody>
          <a:bodyPr/>
          <a:lstStyle/>
          <a:p>
            <a:pPr algn="l" eaLnBrk="1" hangingPunct="1"/>
            <a:r>
              <a:rPr lang="en-US" altLang="zh-CN" sz="3375" dirty="0">
                <a:ea typeface="SimSun" panose="02010600030101010101" pitchFamily="2" charset="-122"/>
              </a:rPr>
              <a:t>1. Which one of the following statements is </a:t>
            </a:r>
            <a:r>
              <a:rPr lang="en-US" altLang="zh-CN" sz="3375" dirty="0">
                <a:solidFill>
                  <a:srgbClr val="FF0000"/>
                </a:solidFill>
                <a:ea typeface="SimSun" panose="02010600030101010101" pitchFamily="2" charset="-122"/>
              </a:rPr>
              <a:t>correct?</a:t>
            </a:r>
            <a:endParaRPr lang="en-US" altLang="zh-CN" sz="3375" dirty="0">
              <a:ea typeface="SimSun" panose="02010600030101010101" pitchFamily="2" charset="-122"/>
            </a:endParaRPr>
          </a:p>
        </p:txBody>
      </p:sp>
      <p:sp>
        <p:nvSpPr>
          <p:cNvPr id="16387" name="内容占位符 1">
            <a:extLst>
              <a:ext uri="{FF2B5EF4-FFF2-40B4-BE49-F238E27FC236}">
                <a16:creationId xmlns:a16="http://schemas.microsoft.com/office/drawing/2014/main" id="{235E9F63-21D5-1BC6-6D66-97F70A3D3C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97075" y="1961183"/>
            <a:ext cx="7358063" cy="4018359"/>
          </a:xfrm>
        </p:spPr>
        <p:txBody>
          <a:bodyPr/>
          <a:lstStyle/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n-US" altLang="zh-CN" sz="2812" dirty="0">
                <a:ea typeface="SimSun" panose="02010600030101010101" pitchFamily="2" charset="-122"/>
              </a:rPr>
              <a:t>a name and the object it denote are the same thing.</a:t>
            </a:r>
          </a:p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n-US" altLang="zh-CN" sz="2812" dirty="0">
                <a:ea typeface="SimSun" panose="02010600030101010101" pitchFamily="2" charset="-122"/>
              </a:rPr>
              <a:t>an object can have only one name.</a:t>
            </a:r>
          </a:p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n-US" altLang="zh-CN" sz="2812" dirty="0">
                <a:ea typeface="SimSun" panose="02010600030101010101" pitchFamily="2" charset="-122"/>
              </a:rPr>
              <a:t>a name can denote different objects at different times.</a:t>
            </a:r>
          </a:p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l-GR" altLang="zh-CN" sz="2812" dirty="0"/>
              <a:t>λ </a:t>
            </a:r>
            <a:r>
              <a:rPr lang="en-US" altLang="zh-CN" sz="2812" dirty="0">
                <a:ea typeface="SimSun" panose="02010600030101010101" pitchFamily="2" charset="-122"/>
              </a:rPr>
              <a:t>-calculus uses dynamic binding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6EBC10-29AE-E4BE-908E-3762E0BC1A4F}"/>
              </a:ext>
            </a:extLst>
          </p:cNvPr>
          <p:cNvSpPr txBox="1"/>
          <p:nvPr/>
        </p:nvSpPr>
        <p:spPr>
          <a:xfrm>
            <a:off x="0" y="0"/>
            <a:ext cx="1223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Quiz 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>
            <a:extLst>
              <a:ext uri="{FF2B5EF4-FFF2-40B4-BE49-F238E27FC236}">
                <a16:creationId xmlns:a16="http://schemas.microsoft.com/office/drawing/2014/main" id="{51D032B8-768E-7A52-A2E3-39C4B8EF01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98651" y="178594"/>
            <a:ext cx="7476381" cy="1782589"/>
          </a:xfrm>
        </p:spPr>
        <p:txBody>
          <a:bodyPr/>
          <a:lstStyle/>
          <a:p>
            <a:pPr algn="l" eaLnBrk="1" hangingPunct="1"/>
            <a:r>
              <a:rPr lang="en-US" altLang="zh-CN" sz="3375" dirty="0">
                <a:ea typeface="SimSun" panose="02010600030101010101" pitchFamily="2" charset="-122"/>
              </a:rPr>
              <a:t>2. What are the free variables in the following lambda expression?</a:t>
            </a:r>
            <a:br>
              <a:rPr lang="en-US" altLang="zh-CN" sz="3375" dirty="0">
                <a:ea typeface="SimSun" panose="02010600030101010101" pitchFamily="2" charset="-122"/>
              </a:rPr>
            </a:br>
            <a:r>
              <a:rPr lang="en-US" altLang="zh-CN" sz="3375" dirty="0">
                <a:ea typeface="SimSun" panose="02010600030101010101" pitchFamily="2" charset="-122"/>
              </a:rPr>
              <a:t>	</a:t>
            </a:r>
            <a:r>
              <a:rPr lang="en-US" altLang="zh-CN" sz="3375" i="1" dirty="0">
                <a:ea typeface="SimSun" panose="02010600030101010101" pitchFamily="2" charset="-122"/>
              </a:rPr>
              <a:t>x (</a:t>
            </a:r>
            <a:r>
              <a:rPr lang="en-US" altLang="zh-CN" sz="3375" i="1" dirty="0" err="1">
                <a:ea typeface="SimSun" panose="02010600030101010101" pitchFamily="2" charset="-122"/>
              </a:rPr>
              <a:t>λy</a:t>
            </a:r>
            <a:r>
              <a:rPr lang="en-US" altLang="zh-CN" sz="3375" i="1" dirty="0">
                <a:ea typeface="SimSun" panose="02010600030101010101" pitchFamily="2" charset="-122"/>
              </a:rPr>
              <a:t> · y z x) (</a:t>
            </a:r>
            <a:r>
              <a:rPr lang="en-US" altLang="zh-CN" sz="3375" i="1" dirty="0" err="1">
                <a:ea typeface="SimSun" panose="02010600030101010101" pitchFamily="2" charset="-122"/>
              </a:rPr>
              <a:t>λm</a:t>
            </a:r>
            <a:r>
              <a:rPr lang="en-US" altLang="zh-CN" sz="3375" i="1" dirty="0">
                <a:ea typeface="SimSun" panose="02010600030101010101" pitchFamily="2" charset="-122"/>
              </a:rPr>
              <a:t> · </a:t>
            </a:r>
            <a:r>
              <a:rPr lang="en-US" altLang="zh-CN" sz="3375" i="1" dirty="0" err="1">
                <a:ea typeface="SimSun" panose="02010600030101010101" pitchFamily="2" charset="-122"/>
              </a:rPr>
              <a:t>λn</a:t>
            </a:r>
            <a:r>
              <a:rPr lang="en-US" altLang="zh-CN" sz="3375" i="1" dirty="0">
                <a:ea typeface="SimSun" panose="02010600030101010101" pitchFamily="2" charset="-122"/>
              </a:rPr>
              <a:t> · l m n)</a:t>
            </a:r>
            <a:endParaRPr lang="en-US" altLang="zh-CN" sz="3375" dirty="0">
              <a:ea typeface="SimSun" panose="02010600030101010101" pitchFamily="2" charset="-122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89B43AAA-9C98-C475-FBEE-CF58CC27AE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2662" y="2153443"/>
            <a:ext cx="10972800" cy="4525963"/>
          </a:xfrm>
        </p:spPr>
        <p:txBody>
          <a:bodyPr/>
          <a:lstStyle/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n-US" altLang="zh-CN" dirty="0">
                <a:ea typeface="SimSun" panose="02010600030101010101" pitchFamily="2" charset="-122"/>
              </a:rPr>
              <a:t>x, z, l</a:t>
            </a:r>
          </a:p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n-US" altLang="zh-CN" dirty="0">
                <a:ea typeface="SimSun" panose="02010600030101010101" pitchFamily="2" charset="-122"/>
              </a:rPr>
              <a:t>x, y, z, l, m, n</a:t>
            </a:r>
            <a:endParaRPr lang="zh-CN" altLang="zh-CN" dirty="0">
              <a:ea typeface="SimSun" panose="02010600030101010101" pitchFamily="2" charset="-122"/>
            </a:endParaRPr>
          </a:p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n-US" altLang="zh-CN" dirty="0">
                <a:ea typeface="SimSun" panose="02010600030101010101" pitchFamily="2" charset="-122"/>
              </a:rPr>
              <a:t>x, z, n</a:t>
            </a:r>
          </a:p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n-US" altLang="zh-CN" dirty="0">
                <a:ea typeface="SimSun" panose="02010600030101010101" pitchFamily="2" charset="-122"/>
              </a:rPr>
              <a:t>y, l, m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>
            <a:extLst>
              <a:ext uri="{FF2B5EF4-FFF2-40B4-BE49-F238E27FC236}">
                <a16:creationId xmlns:a16="http://schemas.microsoft.com/office/drawing/2014/main" id="{9C8185C9-B8C2-8D11-E647-0E0C9FA85D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98651" y="178594"/>
            <a:ext cx="8101459" cy="1782589"/>
          </a:xfrm>
        </p:spPr>
        <p:txBody>
          <a:bodyPr/>
          <a:lstStyle/>
          <a:p>
            <a:pPr algn="l" eaLnBrk="1" hangingPunct="1"/>
            <a:r>
              <a:rPr lang="en-US" altLang="zh-CN" sz="3375" dirty="0">
                <a:ea typeface="SimSun" panose="02010600030101010101" pitchFamily="2" charset="-122"/>
              </a:rPr>
              <a:t>3. Which one of the following is </a:t>
            </a:r>
            <a:r>
              <a:rPr lang="en-US" altLang="zh-CN" sz="3375" dirty="0">
                <a:solidFill>
                  <a:srgbClr val="FF0000"/>
                </a:solidFill>
                <a:ea typeface="SimSun" panose="02010600030101010101" pitchFamily="2" charset="-122"/>
              </a:rPr>
              <a:t>different</a:t>
            </a:r>
            <a:r>
              <a:rPr lang="en-US" altLang="zh-CN" sz="3375" dirty="0">
                <a:ea typeface="SimSun" panose="02010600030101010101" pitchFamily="2" charset="-122"/>
              </a:rPr>
              <a:t> from the other three after </a:t>
            </a:r>
            <a:r>
              <a:rPr lang="en-US" altLang="zh-CN" sz="3375" dirty="0">
                <a:solidFill>
                  <a:srgbClr val="FF0000"/>
                </a:solidFill>
                <a:ea typeface="SimSun" panose="02010600030101010101" pitchFamily="2" charset="-122"/>
              </a:rPr>
              <a:t>call by name </a:t>
            </a:r>
            <a:r>
              <a:rPr lang="en-US" altLang="zh-CN" sz="3375" dirty="0">
                <a:ea typeface="SimSun" panose="02010600030101010101" pitchFamily="2" charset="-122"/>
              </a:rPr>
              <a:t>evaluation?</a:t>
            </a: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8BFE8489-CBBC-657A-159A-16C501C840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98650" y="3747120"/>
            <a:ext cx="7358063" cy="2481337"/>
          </a:xfrm>
        </p:spPr>
        <p:txBody>
          <a:bodyPr/>
          <a:lstStyle/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n-US" altLang="zh-CN" dirty="0" err="1">
                <a:ea typeface="SimSun" panose="02010600030101010101" pitchFamily="2" charset="-122"/>
              </a:rPr>
              <a:t>λx</a:t>
            </a:r>
            <a:r>
              <a:rPr lang="en-US" altLang="zh-CN" dirty="0">
                <a:ea typeface="SimSun" panose="02010600030101010101" pitchFamily="2" charset="-122"/>
              </a:rPr>
              <a:t>. x </a:t>
            </a:r>
            <a:r>
              <a:rPr lang="en-US" altLang="zh-CN" dirty="0" err="1">
                <a:ea typeface="SimSun" panose="02010600030101010101" pitchFamily="2" charset="-122"/>
              </a:rPr>
              <a:t>x</a:t>
            </a:r>
            <a:endParaRPr lang="en-US" altLang="zh-CN" dirty="0">
              <a:ea typeface="SimSun" panose="02010600030101010101" pitchFamily="2" charset="-122"/>
            </a:endParaRPr>
          </a:p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s-ES" altLang="zh-CN" dirty="0">
                <a:ea typeface="SimSun" panose="02010600030101010101" pitchFamily="2" charset="-122"/>
              </a:rPr>
              <a:t>(</a:t>
            </a:r>
            <a:r>
              <a:rPr lang="es-ES" altLang="zh-CN" dirty="0" err="1">
                <a:ea typeface="SimSun" panose="02010600030101010101" pitchFamily="2" charset="-122"/>
              </a:rPr>
              <a:t>λx</a:t>
            </a:r>
            <a:r>
              <a:rPr lang="es-ES" altLang="zh-CN" dirty="0">
                <a:ea typeface="SimSun" panose="02010600030101010101" pitchFamily="2" charset="-122"/>
              </a:rPr>
              <a:t>. x x) (</a:t>
            </a:r>
            <a:r>
              <a:rPr lang="es-ES" altLang="zh-CN" dirty="0" err="1">
                <a:ea typeface="SimSun" panose="02010600030101010101" pitchFamily="2" charset="-122"/>
              </a:rPr>
              <a:t>λy</a:t>
            </a:r>
            <a:r>
              <a:rPr lang="es-ES" altLang="zh-CN" dirty="0">
                <a:ea typeface="SimSun" panose="02010600030101010101" pitchFamily="2" charset="-122"/>
              </a:rPr>
              <a:t>. y y)</a:t>
            </a:r>
          </a:p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s-ES" altLang="zh-CN" dirty="0">
                <a:ea typeface="SimSun" panose="02010600030101010101" pitchFamily="2" charset="-122"/>
              </a:rPr>
              <a:t>(</a:t>
            </a:r>
            <a:r>
              <a:rPr lang="es-ES" altLang="zh-CN" dirty="0" err="1">
                <a:ea typeface="SimSun" panose="02010600030101010101" pitchFamily="2" charset="-122"/>
              </a:rPr>
              <a:t>λy</a:t>
            </a:r>
            <a:r>
              <a:rPr lang="es-ES" altLang="zh-CN" dirty="0">
                <a:ea typeface="SimSun" panose="02010600030101010101" pitchFamily="2" charset="-122"/>
              </a:rPr>
              <a:t>. </a:t>
            </a:r>
            <a:r>
              <a:rPr lang="es-ES" altLang="zh-CN" dirty="0" err="1">
                <a:ea typeface="SimSun" panose="02010600030101010101" pitchFamily="2" charset="-122"/>
              </a:rPr>
              <a:t>λx</a:t>
            </a:r>
            <a:r>
              <a:rPr lang="es-ES" altLang="zh-CN" dirty="0">
                <a:ea typeface="SimSun" panose="02010600030101010101" pitchFamily="2" charset="-122"/>
              </a:rPr>
              <a:t>. y x) (</a:t>
            </a:r>
            <a:r>
              <a:rPr lang="es-ES" altLang="zh-CN" dirty="0" err="1">
                <a:ea typeface="SimSun" panose="02010600030101010101" pitchFamily="2" charset="-122"/>
              </a:rPr>
              <a:t>λx</a:t>
            </a:r>
            <a:r>
              <a:rPr lang="es-ES" altLang="zh-CN" dirty="0">
                <a:ea typeface="SimSun" panose="02010600030101010101" pitchFamily="2" charset="-122"/>
              </a:rPr>
              <a:t>. x x) (</a:t>
            </a:r>
            <a:r>
              <a:rPr lang="es-ES" altLang="zh-CN" dirty="0" err="1">
                <a:ea typeface="SimSun" panose="02010600030101010101" pitchFamily="2" charset="-122"/>
              </a:rPr>
              <a:t>λy</a:t>
            </a:r>
            <a:r>
              <a:rPr lang="es-ES" altLang="zh-CN" dirty="0">
                <a:ea typeface="SimSun" panose="02010600030101010101" pitchFamily="2" charset="-122"/>
              </a:rPr>
              <a:t>. y y)</a:t>
            </a:r>
          </a:p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l-GR" altLang="zh-CN" dirty="0">
                <a:ea typeface="SimSun" panose="02010600030101010101" pitchFamily="2" charset="-122"/>
              </a:rPr>
              <a:t>(λ</a:t>
            </a:r>
            <a:r>
              <a:rPr lang="en-US" altLang="zh-CN" dirty="0">
                <a:ea typeface="SimSun" panose="02010600030101010101" pitchFamily="2" charset="-122"/>
              </a:rPr>
              <a:t>x. (</a:t>
            </a:r>
            <a:r>
              <a:rPr lang="el-GR" altLang="zh-CN" dirty="0">
                <a:ea typeface="SimSun" panose="02010600030101010101" pitchFamily="2" charset="-122"/>
              </a:rPr>
              <a:t>λ</a:t>
            </a:r>
            <a:r>
              <a:rPr lang="en-US" altLang="zh-CN" dirty="0">
                <a:ea typeface="SimSun" panose="02010600030101010101" pitchFamily="2" charset="-122"/>
              </a:rPr>
              <a:t>x. x x) x) (</a:t>
            </a:r>
            <a:r>
              <a:rPr lang="el-GR" altLang="zh-CN" dirty="0">
                <a:ea typeface="SimSun" panose="02010600030101010101" pitchFamily="2" charset="-122"/>
              </a:rPr>
              <a:t>λ</a:t>
            </a:r>
            <a:r>
              <a:rPr lang="en-US" altLang="zh-CN" dirty="0">
                <a:ea typeface="SimSun" panose="02010600030101010101" pitchFamily="2" charset="-122"/>
              </a:rPr>
              <a:t>x. x x)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F6027A6-5C9F-9D9F-C3B2-AA08083A1DCD}"/>
              </a:ext>
            </a:extLst>
          </p:cNvPr>
          <p:cNvSpPr txBox="1"/>
          <p:nvPr/>
        </p:nvSpPr>
        <p:spPr>
          <a:xfrm>
            <a:off x="2299767" y="1961183"/>
            <a:ext cx="7358063" cy="2871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66" i="1" dirty="0">
                <a:solidFill>
                  <a:schemeClr val="bg1">
                    <a:lumMod val="65000"/>
                  </a:schemeClr>
                </a:solidFill>
              </a:rPr>
              <a:t>Call-by-name</a:t>
            </a:r>
            <a:r>
              <a:rPr lang="en-US" sz="1266" dirty="0">
                <a:solidFill>
                  <a:schemeClr val="bg1">
                    <a:lumMod val="65000"/>
                  </a:schemeClr>
                </a:solidFill>
              </a:rPr>
              <a:t>: leftmost, outermost </a:t>
            </a:r>
            <a:r>
              <a:rPr lang="en-US" sz="1266" dirty="0" err="1">
                <a:solidFill>
                  <a:schemeClr val="bg1">
                    <a:lumMod val="65000"/>
                  </a:schemeClr>
                </a:solidFill>
              </a:rPr>
              <a:t>redex</a:t>
            </a:r>
            <a:r>
              <a:rPr lang="en-US" sz="1266" dirty="0">
                <a:solidFill>
                  <a:schemeClr val="bg1">
                    <a:lumMod val="65000"/>
                  </a:schemeClr>
                </a:solidFill>
              </a:rPr>
              <a:t> first, NO reduction inside lambda abstractions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02609F36-8D92-18FA-1D53-987B406785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48421" y="650751"/>
            <a:ext cx="7358063" cy="17145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altLang="zh-CN" sz="3375" dirty="0">
                <a:ea typeface="SimSun" panose="02010600030101010101" pitchFamily="2" charset="-122"/>
              </a:rPr>
              <a:t>4. What’s the result of the following lambda expression, under </a:t>
            </a:r>
            <a:r>
              <a:rPr lang="en-US" altLang="zh-CN" sz="3375" dirty="0">
                <a:solidFill>
                  <a:srgbClr val="FF0000"/>
                </a:solidFill>
                <a:ea typeface="SimSun" panose="02010600030101010101" pitchFamily="2" charset="-122"/>
              </a:rPr>
              <a:t>full beta-reduction?</a:t>
            </a:r>
            <a:br>
              <a:rPr lang="en-US" altLang="zh-CN" sz="3375" dirty="0">
                <a:ea typeface="SimSun" panose="02010600030101010101" pitchFamily="2" charset="-122"/>
              </a:rPr>
            </a:br>
            <a:r>
              <a:rPr lang="en-US" altLang="zh-CN" sz="3375" dirty="0">
                <a:ea typeface="SimSun" panose="02010600030101010101" pitchFamily="2" charset="-122"/>
              </a:rPr>
              <a:t> 	</a:t>
            </a:r>
            <a:r>
              <a:rPr lang="en-US" altLang="zh-CN" sz="3375" i="1" dirty="0">
                <a:ea typeface="SimSun" panose="02010600030101010101" pitchFamily="2" charset="-122"/>
              </a:rPr>
              <a:t>(</a:t>
            </a:r>
            <a:r>
              <a:rPr lang="en-US" altLang="zh-CN" sz="3375" i="1" dirty="0" err="1">
                <a:ea typeface="SimSun" panose="02010600030101010101" pitchFamily="2" charset="-122"/>
              </a:rPr>
              <a:t>λx</a:t>
            </a:r>
            <a:r>
              <a:rPr lang="en-US" altLang="zh-CN" sz="3375" i="1" dirty="0">
                <a:ea typeface="SimSun" panose="02010600030101010101" pitchFamily="2" charset="-122"/>
              </a:rPr>
              <a:t> · x)((</a:t>
            </a:r>
            <a:r>
              <a:rPr lang="en-US" altLang="zh-CN" sz="3375" i="1" dirty="0" err="1">
                <a:ea typeface="SimSun" panose="02010600030101010101" pitchFamily="2" charset="-122"/>
              </a:rPr>
              <a:t>λx</a:t>
            </a:r>
            <a:r>
              <a:rPr lang="en-US" altLang="zh-CN" sz="3375" i="1" dirty="0">
                <a:ea typeface="SimSun" panose="02010600030101010101" pitchFamily="2" charset="-122"/>
              </a:rPr>
              <a:t> · x)(</a:t>
            </a:r>
            <a:r>
              <a:rPr lang="en-US" altLang="zh-CN" sz="3375" i="1" dirty="0" err="1">
                <a:ea typeface="SimSun" panose="02010600030101010101" pitchFamily="2" charset="-122"/>
              </a:rPr>
              <a:t>λz</a:t>
            </a:r>
            <a:r>
              <a:rPr lang="en-US" altLang="zh-CN" sz="3375" i="1" dirty="0">
                <a:ea typeface="SimSun" panose="02010600030101010101" pitchFamily="2" charset="-122"/>
              </a:rPr>
              <a:t> · (</a:t>
            </a:r>
            <a:r>
              <a:rPr lang="en-US" altLang="zh-CN" sz="3375" i="1" dirty="0" err="1">
                <a:ea typeface="SimSun" panose="02010600030101010101" pitchFamily="2" charset="-122"/>
              </a:rPr>
              <a:t>λx</a:t>
            </a:r>
            <a:r>
              <a:rPr lang="en-US" altLang="zh-CN" sz="3375" i="1" dirty="0">
                <a:ea typeface="SimSun" panose="02010600030101010101" pitchFamily="2" charset="-122"/>
              </a:rPr>
              <a:t> · x)z))</a:t>
            </a:r>
            <a:endParaRPr lang="en-US" altLang="zh-CN" sz="3375" dirty="0">
              <a:ea typeface="SimSun" panose="02010600030101010101" pitchFamily="2" charset="-122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EF3F63DF-53D7-87A8-8E2D-16FF603696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96617" y="3732610"/>
            <a:ext cx="8150572" cy="2531566"/>
          </a:xfrm>
        </p:spPr>
        <p:txBody>
          <a:bodyPr/>
          <a:lstStyle/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pl-PL" altLang="zh-CN" dirty="0">
                <a:ea typeface="SimSun" panose="02010600030101010101" pitchFamily="2" charset="-122"/>
              </a:rPr>
              <a:t>λ z · z</a:t>
            </a:r>
          </a:p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n-US" altLang="zh-CN" dirty="0">
                <a:ea typeface="SimSun" panose="02010600030101010101" pitchFamily="2" charset="-122"/>
              </a:rPr>
              <a:t> </a:t>
            </a:r>
            <a:r>
              <a:rPr lang="pl-PL" altLang="zh-CN" dirty="0">
                <a:ea typeface="SimSun" panose="02010600030101010101" pitchFamily="2" charset="-122"/>
              </a:rPr>
              <a:t>x</a:t>
            </a:r>
          </a:p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n-US" altLang="zh-CN" dirty="0">
                <a:ea typeface="SimSun" panose="02010600030101010101" pitchFamily="2" charset="-122"/>
              </a:rPr>
              <a:t> </a:t>
            </a:r>
            <a:r>
              <a:rPr lang="pl-PL" altLang="zh-CN" dirty="0">
                <a:ea typeface="SimSun" panose="02010600030101010101" pitchFamily="2" charset="-122"/>
              </a:rPr>
              <a:t>z</a:t>
            </a:r>
          </a:p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n-US" altLang="zh-CN" dirty="0">
                <a:ea typeface="SimSun" panose="02010600030101010101" pitchFamily="2" charset="-122"/>
              </a:rPr>
              <a:t> </a:t>
            </a:r>
            <a:r>
              <a:rPr lang="pl-PL" altLang="zh-CN" dirty="0">
                <a:ea typeface="SimSun" panose="02010600030101010101" pitchFamily="2" charset="-122"/>
              </a:rPr>
              <a:t>λ z · λz · z z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1BEF49-89DF-C287-CB65-04133BB17D9A}"/>
              </a:ext>
            </a:extLst>
          </p:cNvPr>
          <p:cNvSpPr txBox="1"/>
          <p:nvPr/>
        </p:nvSpPr>
        <p:spPr>
          <a:xfrm>
            <a:off x="2248421" y="2740298"/>
            <a:ext cx="7358063" cy="2871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66" i="1" dirty="0">
                <a:solidFill>
                  <a:schemeClr val="bg1">
                    <a:lumMod val="65000"/>
                  </a:schemeClr>
                </a:solidFill>
              </a:rPr>
              <a:t>Full beta-reduction: any </a:t>
            </a:r>
            <a:r>
              <a:rPr lang="en-US" sz="1266" i="1" dirty="0" err="1">
                <a:solidFill>
                  <a:schemeClr val="bg1">
                    <a:lumMod val="65000"/>
                  </a:schemeClr>
                </a:solidFill>
              </a:rPr>
              <a:t>redex</a:t>
            </a:r>
            <a:endParaRPr lang="en-US" sz="1266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>
            <a:extLst>
              <a:ext uri="{FF2B5EF4-FFF2-40B4-BE49-F238E27FC236}">
                <a16:creationId xmlns:a16="http://schemas.microsoft.com/office/drawing/2014/main" id="{7C7A5D1D-B1C2-A924-648C-33D9F6C784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48421" y="650751"/>
            <a:ext cx="7358063" cy="17145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altLang="zh-CN" sz="3375" dirty="0">
                <a:ea typeface="SimSun" panose="02010600030101010101" pitchFamily="2" charset="-122"/>
              </a:rPr>
              <a:t>5. What is the </a:t>
            </a:r>
            <a:r>
              <a:rPr lang="en-US" altLang="zh-CN" sz="3375" dirty="0">
                <a:solidFill>
                  <a:srgbClr val="FF0000"/>
                </a:solidFill>
                <a:ea typeface="SimSun" panose="02010600030101010101" pitchFamily="2" charset="-122"/>
              </a:rPr>
              <a:t>first step </a:t>
            </a:r>
            <a:r>
              <a:rPr lang="en-US" altLang="zh-CN" sz="3375" dirty="0">
                <a:ea typeface="SimSun" panose="02010600030101010101" pitchFamily="2" charset="-122"/>
              </a:rPr>
              <a:t>of </a:t>
            </a:r>
            <a:br>
              <a:rPr lang="en-US" altLang="zh-CN" sz="3375" dirty="0">
                <a:ea typeface="SimSun" panose="02010600030101010101" pitchFamily="2" charset="-122"/>
              </a:rPr>
            </a:br>
            <a:r>
              <a:rPr lang="en-US" altLang="zh-CN" sz="3375" dirty="0">
                <a:ea typeface="SimSun" panose="02010600030101010101" pitchFamily="2" charset="-122"/>
              </a:rPr>
              <a:t>	</a:t>
            </a:r>
            <a:r>
              <a:rPr lang="el-GR" altLang="en-US" sz="3375" dirty="0"/>
              <a:t>(λy. (λx. x) y) ((λu. u) (λv. v))</a:t>
            </a:r>
            <a:br>
              <a:rPr lang="en-US" altLang="en-US" sz="3375" dirty="0"/>
            </a:br>
            <a:r>
              <a:rPr lang="en-US" altLang="en-US" sz="3375" dirty="0"/>
              <a:t>    under call-by-</a:t>
            </a:r>
            <a:r>
              <a:rPr lang="en-US" altLang="en-US" sz="3375" dirty="0">
                <a:solidFill>
                  <a:srgbClr val="FF0000"/>
                </a:solidFill>
              </a:rPr>
              <a:t>name</a:t>
            </a:r>
            <a:r>
              <a:rPr lang="en-US" altLang="en-US" sz="3375" dirty="0"/>
              <a:t> evaluation?</a:t>
            </a:r>
            <a:r>
              <a:rPr lang="en-US" altLang="zh-CN" sz="3375" dirty="0">
                <a:ea typeface="SimSun" panose="02010600030101010101" pitchFamily="2" charset="-122"/>
              </a:rPr>
              <a:t> 	</a:t>
            </a: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6B880630-73BA-B885-1ED5-BA5ABE09E4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96617" y="3530576"/>
            <a:ext cx="8150572" cy="2733600"/>
          </a:xfrm>
        </p:spPr>
        <p:txBody>
          <a:bodyPr>
            <a:normAutofit/>
          </a:bodyPr>
          <a:lstStyle/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l-GR" altLang="en-US" dirty="0"/>
              <a:t>(λy. </a:t>
            </a:r>
            <a:r>
              <a:rPr lang="en-US" altLang="en-US" dirty="0"/>
              <a:t>y</a:t>
            </a:r>
            <a:r>
              <a:rPr lang="el-GR" altLang="en-US" dirty="0"/>
              <a:t>) ((λu. u) (λv. v)) </a:t>
            </a:r>
            <a:endParaRPr lang="en-US" altLang="en-US" dirty="0"/>
          </a:p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l-GR" altLang="en-US" dirty="0"/>
              <a:t>(λx. x) ((λu. u) (λv. v)) </a:t>
            </a:r>
            <a:endParaRPr lang="en-US" altLang="en-US" dirty="0"/>
          </a:p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l-GR" altLang="en-US" dirty="0"/>
              <a:t>(λy. (λx. x) y) (λv. v) </a:t>
            </a:r>
            <a:endParaRPr lang="en-US" altLang="en-US" dirty="0"/>
          </a:p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l-GR" altLang="en-US" dirty="0"/>
              <a:t>(λy. (λx. x) y) (λ</a:t>
            </a:r>
            <a:r>
              <a:rPr lang="en-US" altLang="en-US" dirty="0"/>
              <a:t>u</a:t>
            </a:r>
            <a:r>
              <a:rPr lang="el-GR" altLang="en-US" dirty="0"/>
              <a:t>. </a:t>
            </a:r>
            <a:r>
              <a:rPr lang="en-US" altLang="en-US" dirty="0"/>
              <a:t>u</a:t>
            </a:r>
            <a:r>
              <a:rPr lang="el-GR" altLang="en-US" dirty="0"/>
              <a:t>) </a:t>
            </a:r>
            <a:endParaRPr lang="en-US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837244-3EEC-42FC-27A4-9A30B1B82CC4}"/>
              </a:ext>
            </a:extLst>
          </p:cNvPr>
          <p:cNvSpPr txBox="1"/>
          <p:nvPr/>
        </p:nvSpPr>
        <p:spPr>
          <a:xfrm>
            <a:off x="2248421" y="2365251"/>
            <a:ext cx="7358063" cy="2871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66" i="1" dirty="0">
                <a:solidFill>
                  <a:schemeClr val="bg1">
                    <a:lumMod val="65000"/>
                  </a:schemeClr>
                </a:solidFill>
              </a:rPr>
              <a:t>Call-by-name</a:t>
            </a:r>
            <a:r>
              <a:rPr lang="en-US" sz="1266" dirty="0">
                <a:solidFill>
                  <a:schemeClr val="bg1">
                    <a:lumMod val="65000"/>
                  </a:schemeClr>
                </a:solidFill>
              </a:rPr>
              <a:t>: leftmost, outermost </a:t>
            </a:r>
            <a:r>
              <a:rPr lang="en-US" sz="1266" dirty="0" err="1">
                <a:solidFill>
                  <a:schemeClr val="bg1">
                    <a:lumMod val="65000"/>
                  </a:schemeClr>
                </a:solidFill>
              </a:rPr>
              <a:t>redex</a:t>
            </a:r>
            <a:r>
              <a:rPr lang="en-US" sz="1266" dirty="0">
                <a:solidFill>
                  <a:schemeClr val="bg1">
                    <a:lumMod val="65000"/>
                  </a:schemeClr>
                </a:solidFill>
              </a:rPr>
              <a:t> first, NO reduction inside lambda abstractions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>
            <a:extLst>
              <a:ext uri="{FF2B5EF4-FFF2-40B4-BE49-F238E27FC236}">
                <a16:creationId xmlns:a16="http://schemas.microsoft.com/office/drawing/2014/main" id="{93C17F82-9657-062C-CFBE-C4ABDD5A2D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48421" y="650751"/>
            <a:ext cx="7543354" cy="1714500"/>
          </a:xfrm>
        </p:spPr>
        <p:txBody>
          <a:bodyPr/>
          <a:lstStyle/>
          <a:p>
            <a:pPr algn="l" eaLnBrk="1" hangingPunct="1"/>
            <a:r>
              <a:rPr lang="en-US" altLang="zh-CN" sz="3375" dirty="0">
                <a:ea typeface="SimSun" panose="02010600030101010101" pitchFamily="2" charset="-122"/>
              </a:rPr>
              <a:t>6. What is the </a:t>
            </a:r>
            <a:r>
              <a:rPr lang="en-US" altLang="zh-CN" sz="3375" dirty="0">
                <a:solidFill>
                  <a:srgbClr val="FF0000"/>
                </a:solidFill>
                <a:ea typeface="SimSun" panose="02010600030101010101" pitchFamily="2" charset="-122"/>
              </a:rPr>
              <a:t>first step </a:t>
            </a:r>
            <a:r>
              <a:rPr lang="en-US" altLang="zh-CN" sz="3375" dirty="0">
                <a:ea typeface="SimSun" panose="02010600030101010101" pitchFamily="2" charset="-122"/>
              </a:rPr>
              <a:t>of </a:t>
            </a:r>
            <a:br>
              <a:rPr lang="en-US" altLang="zh-CN" sz="3375" dirty="0">
                <a:ea typeface="SimSun" panose="02010600030101010101" pitchFamily="2" charset="-122"/>
              </a:rPr>
            </a:br>
            <a:r>
              <a:rPr lang="en-US" altLang="zh-CN" sz="3375" dirty="0">
                <a:ea typeface="SimSun" panose="02010600030101010101" pitchFamily="2" charset="-122"/>
              </a:rPr>
              <a:t>	</a:t>
            </a:r>
            <a:r>
              <a:rPr lang="el-GR" altLang="en-US" sz="3375" dirty="0"/>
              <a:t>(λy. (λx. x) y) ((λu. u) (λv. v))</a:t>
            </a:r>
            <a:br>
              <a:rPr lang="en-US" altLang="en-US" sz="3375" dirty="0"/>
            </a:br>
            <a:r>
              <a:rPr lang="en-US" altLang="en-US" sz="3375" dirty="0"/>
              <a:t>    under </a:t>
            </a:r>
            <a:r>
              <a:rPr lang="en-US" altLang="en-US" sz="3375" dirty="0">
                <a:solidFill>
                  <a:srgbClr val="FF0000"/>
                </a:solidFill>
              </a:rPr>
              <a:t>call-by-value</a:t>
            </a:r>
            <a:r>
              <a:rPr lang="en-US" altLang="en-US" sz="3375" dirty="0"/>
              <a:t> evaluation? </a:t>
            </a:r>
            <a:endParaRPr lang="en-US" altLang="zh-CN" sz="3375" dirty="0">
              <a:ea typeface="SimSun" panose="02010600030101010101" pitchFamily="2" charset="-122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446ACAF3-C271-1BD9-EE5E-217C50A690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96617" y="3783955"/>
            <a:ext cx="8150572" cy="2835176"/>
          </a:xfrm>
        </p:spPr>
        <p:txBody>
          <a:bodyPr>
            <a:normAutofit/>
          </a:bodyPr>
          <a:lstStyle/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l-GR" altLang="en-US" dirty="0"/>
              <a:t>(λy. </a:t>
            </a:r>
            <a:r>
              <a:rPr lang="en-US" altLang="en-US" dirty="0"/>
              <a:t>y</a:t>
            </a:r>
            <a:r>
              <a:rPr lang="el-GR" altLang="en-US" dirty="0"/>
              <a:t>) ((λu. u) (λv. v)) </a:t>
            </a:r>
            <a:endParaRPr lang="en-US" altLang="en-US" dirty="0"/>
          </a:p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l-GR" altLang="en-US" dirty="0"/>
              <a:t>(λx. x) ((λu. u) (λv. v)) </a:t>
            </a:r>
            <a:endParaRPr lang="en-US" altLang="en-US" dirty="0"/>
          </a:p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l-GR" altLang="en-US" dirty="0"/>
              <a:t>(λy. (λx. x) y) (λv. v) </a:t>
            </a:r>
            <a:endParaRPr lang="en-US" altLang="en-US" dirty="0"/>
          </a:p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l-GR" altLang="en-US" dirty="0"/>
              <a:t>(λy. (λx. x) y) (λ</a:t>
            </a:r>
            <a:r>
              <a:rPr lang="en-US" altLang="en-US" dirty="0"/>
              <a:t>u</a:t>
            </a:r>
            <a:r>
              <a:rPr lang="el-GR" altLang="en-US" dirty="0"/>
              <a:t>. </a:t>
            </a:r>
            <a:r>
              <a:rPr lang="en-US" altLang="en-US" dirty="0"/>
              <a:t>u</a:t>
            </a:r>
            <a:r>
              <a:rPr lang="el-GR" altLang="en-US" dirty="0"/>
              <a:t>) </a:t>
            </a:r>
            <a:endParaRPr lang="en-US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FC4614-0E41-E86A-5815-17F1B082A7AF}"/>
              </a:ext>
            </a:extLst>
          </p:cNvPr>
          <p:cNvSpPr txBox="1"/>
          <p:nvPr/>
        </p:nvSpPr>
        <p:spPr>
          <a:xfrm>
            <a:off x="2341067" y="2466826"/>
            <a:ext cx="7754318" cy="1455591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r>
              <a:rPr lang="en-US" altLang="en-US" sz="2953" i="1">
                <a:solidFill>
                  <a:srgbClr val="A6A6A6"/>
                </a:solidFill>
              </a:rPr>
              <a:t>call-by-value: only outermost redex, whose RHS  must be a value(</a:t>
            </a:r>
            <a:r>
              <a:rPr lang="el-GR" altLang="en-US" sz="2953" i="1">
                <a:solidFill>
                  <a:srgbClr val="A6A6A6"/>
                </a:solidFill>
              </a:rPr>
              <a:t>λ</a:t>
            </a:r>
            <a:r>
              <a:rPr lang="fr-CA" altLang="en-US" sz="2953" i="1">
                <a:solidFill>
                  <a:srgbClr val="A6A6A6"/>
                </a:solidFill>
              </a:rPr>
              <a:t> abstraction</a:t>
            </a:r>
            <a:r>
              <a:rPr lang="en-US" altLang="en-US" sz="2953" i="1">
                <a:solidFill>
                  <a:srgbClr val="A6A6A6"/>
                </a:solidFill>
              </a:rPr>
              <a:t>), no reduction inside abstraction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>
            <a:extLst>
              <a:ext uri="{FF2B5EF4-FFF2-40B4-BE49-F238E27FC236}">
                <a16:creationId xmlns:a16="http://schemas.microsoft.com/office/drawing/2014/main" id="{ECF269B3-9D7B-055E-2A0D-C2B958170B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48421" y="650751"/>
            <a:ext cx="7358063" cy="1714500"/>
          </a:xfrm>
        </p:spPr>
        <p:txBody>
          <a:bodyPr/>
          <a:lstStyle/>
          <a:p>
            <a:pPr algn="l" eaLnBrk="1" hangingPunct="1"/>
            <a:r>
              <a:rPr lang="en-US" altLang="zh-CN" sz="3375" dirty="0">
                <a:ea typeface="SimSun" panose="02010600030101010101" pitchFamily="2" charset="-122"/>
              </a:rPr>
              <a:t>7. Application associate to the _____?</a:t>
            </a: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DA9115B3-8D0C-3D27-B46B-FFBF47A71A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96617" y="2245817"/>
            <a:ext cx="8150572" cy="4018359"/>
          </a:xfrm>
        </p:spPr>
        <p:txBody>
          <a:bodyPr/>
          <a:lstStyle/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n-US" altLang="zh-CN" dirty="0">
                <a:ea typeface="SimSun" panose="02010600030101010101" pitchFamily="2" charset="-122"/>
              </a:rPr>
              <a:t>Left</a:t>
            </a:r>
            <a:endParaRPr lang="pl-PL" altLang="zh-CN" dirty="0">
              <a:ea typeface="SimSun" panose="02010600030101010101" pitchFamily="2" charset="-122"/>
            </a:endParaRPr>
          </a:p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n-US" altLang="zh-CN" dirty="0">
                <a:ea typeface="SimSun" panose="02010600030101010101" pitchFamily="2" charset="-122"/>
              </a:rPr>
              <a:t>Right</a:t>
            </a:r>
            <a:endParaRPr lang="pl-PL" altLang="zh-CN" dirty="0">
              <a:ea typeface="SimSun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1E828C-5570-0877-AD90-39EBE6D72335}"/>
              </a:ext>
            </a:extLst>
          </p:cNvPr>
          <p:cNvSpPr txBox="1"/>
          <p:nvPr/>
        </p:nvSpPr>
        <p:spPr>
          <a:xfrm>
            <a:off x="3925502" y="1646728"/>
            <a:ext cx="7754318" cy="48192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66" i="1" dirty="0">
                <a:solidFill>
                  <a:schemeClr val="bg1">
                    <a:lumMod val="65000"/>
                  </a:schemeClr>
                </a:solidFill>
              </a:rPr>
              <a:t>e.g. M N L = (M N) L – associate to the left </a:t>
            </a:r>
          </a:p>
          <a:p>
            <a:pPr>
              <a:defRPr/>
            </a:pPr>
            <a:r>
              <a:rPr lang="en-US" sz="1266" i="1" dirty="0">
                <a:solidFill>
                  <a:schemeClr val="bg1">
                    <a:lumMod val="65000"/>
                  </a:schemeClr>
                </a:solidFill>
              </a:rPr>
              <a:t>		   or M(N L) – associate to the right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>
            <a:extLst>
              <a:ext uri="{FF2B5EF4-FFF2-40B4-BE49-F238E27FC236}">
                <a16:creationId xmlns:a16="http://schemas.microsoft.com/office/drawing/2014/main" id="{FB4BCFFD-A0FB-7001-4CDB-D606D49A48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48421" y="650751"/>
            <a:ext cx="7358063" cy="1714500"/>
          </a:xfrm>
        </p:spPr>
        <p:txBody>
          <a:bodyPr/>
          <a:lstStyle/>
          <a:p>
            <a:pPr algn="l" eaLnBrk="1" hangingPunct="1"/>
            <a:r>
              <a:rPr lang="en-US" altLang="zh-CN" sz="3375" dirty="0">
                <a:ea typeface="SimSun" panose="02010600030101010101" pitchFamily="2" charset="-122"/>
              </a:rPr>
              <a:t>8. What’s equivalent to </a:t>
            </a:r>
            <a:r>
              <a:rPr lang="el-GR" altLang="zh-CN" sz="3375" dirty="0">
                <a:ea typeface="SimSun" panose="02010600030101010101" pitchFamily="2" charset="-122"/>
              </a:rPr>
              <a:t>λ</a:t>
            </a:r>
            <a:r>
              <a:rPr lang="pl-PL" altLang="zh-CN" sz="3375" dirty="0">
                <a:ea typeface="SimSun" panose="02010600030101010101" pitchFamily="2" charset="-122"/>
              </a:rPr>
              <a:t>y.y z </a:t>
            </a:r>
            <a:r>
              <a:rPr lang="fr-CA" altLang="zh-CN" sz="3375" dirty="0">
                <a:ea typeface="SimSun" panose="02010600030101010101" pitchFamily="2" charset="-122"/>
              </a:rPr>
              <a:t> </a:t>
            </a:r>
            <a:r>
              <a:rPr lang="el-GR" altLang="zh-CN" sz="3375" dirty="0">
                <a:ea typeface="SimSun" panose="02010600030101010101" pitchFamily="2" charset="-122"/>
              </a:rPr>
              <a:t>λ</a:t>
            </a:r>
            <a:r>
              <a:rPr lang="pl-PL" altLang="zh-CN" sz="3375" dirty="0">
                <a:ea typeface="SimSun" panose="02010600030101010101" pitchFamily="2" charset="-122"/>
              </a:rPr>
              <a:t>x.x y z</a:t>
            </a:r>
            <a:r>
              <a:rPr lang="en-US" altLang="zh-CN" sz="3375" dirty="0">
                <a:ea typeface="SimSun" panose="02010600030101010101" pitchFamily="2" charset="-122"/>
              </a:rPr>
              <a:t>?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8B9067A5-5E0B-2B47-1417-28350556BC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96617" y="2245817"/>
            <a:ext cx="8150572" cy="4018359"/>
          </a:xfrm>
        </p:spPr>
        <p:txBody>
          <a:bodyPr/>
          <a:lstStyle/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l-GR" altLang="zh-CN" dirty="0">
                <a:ea typeface="SimSun" panose="02010600030101010101" pitchFamily="2" charset="-122"/>
              </a:rPr>
              <a:t>λ</a:t>
            </a:r>
            <a:r>
              <a:rPr lang="pl-PL" altLang="zh-CN" dirty="0">
                <a:ea typeface="SimSun" panose="02010600030101010101" pitchFamily="2" charset="-122"/>
              </a:rPr>
              <a:t>y.</a:t>
            </a:r>
            <a:r>
              <a:rPr lang="en-US" altLang="zh-CN" dirty="0">
                <a:ea typeface="SimSun" panose="02010600030101010101" pitchFamily="2" charset="-122"/>
              </a:rPr>
              <a:t>(</a:t>
            </a:r>
            <a:r>
              <a:rPr lang="pl-PL" altLang="zh-CN" dirty="0">
                <a:ea typeface="SimSun" panose="02010600030101010101" pitchFamily="2" charset="-122"/>
              </a:rPr>
              <a:t>y z</a:t>
            </a:r>
            <a:r>
              <a:rPr lang="en-US" altLang="zh-CN" dirty="0">
                <a:ea typeface="SimSun" panose="02010600030101010101" pitchFamily="2" charset="-122"/>
              </a:rPr>
              <a:t>)</a:t>
            </a:r>
            <a:r>
              <a:rPr lang="pl-PL" altLang="zh-CN" dirty="0">
                <a:ea typeface="SimSun" panose="02010600030101010101" pitchFamily="2" charset="-122"/>
              </a:rPr>
              <a:t> </a:t>
            </a:r>
            <a:r>
              <a:rPr lang="el-GR" altLang="zh-CN" dirty="0">
                <a:ea typeface="SimSun" panose="02010600030101010101" pitchFamily="2" charset="-122"/>
              </a:rPr>
              <a:t>λ</a:t>
            </a:r>
            <a:r>
              <a:rPr lang="pl-PL" altLang="zh-CN" dirty="0">
                <a:ea typeface="SimSun" panose="02010600030101010101" pitchFamily="2" charset="-122"/>
              </a:rPr>
              <a:t>x.</a:t>
            </a:r>
            <a:r>
              <a:rPr lang="en-US" altLang="zh-CN" dirty="0">
                <a:ea typeface="SimSun" panose="02010600030101010101" pitchFamily="2" charset="-122"/>
              </a:rPr>
              <a:t>((</a:t>
            </a:r>
            <a:r>
              <a:rPr lang="pl-PL" altLang="zh-CN" dirty="0">
                <a:ea typeface="SimSun" panose="02010600030101010101" pitchFamily="2" charset="-122"/>
              </a:rPr>
              <a:t>x y</a:t>
            </a:r>
            <a:r>
              <a:rPr lang="en-US" altLang="zh-CN" dirty="0">
                <a:ea typeface="SimSun" panose="02010600030101010101" pitchFamily="2" charset="-122"/>
              </a:rPr>
              <a:t>)</a:t>
            </a:r>
            <a:r>
              <a:rPr lang="pl-PL" altLang="zh-CN" dirty="0">
                <a:ea typeface="SimSun" panose="02010600030101010101" pitchFamily="2" charset="-122"/>
              </a:rPr>
              <a:t> z</a:t>
            </a:r>
            <a:r>
              <a:rPr lang="en-US" altLang="zh-CN" dirty="0">
                <a:ea typeface="SimSun" panose="02010600030101010101" pitchFamily="2" charset="-122"/>
              </a:rPr>
              <a:t>) </a:t>
            </a:r>
          </a:p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l-GR" altLang="zh-CN" dirty="0">
                <a:ea typeface="SimSun" panose="02010600030101010101" pitchFamily="2" charset="-122"/>
              </a:rPr>
              <a:t>λ</a:t>
            </a:r>
            <a:r>
              <a:rPr lang="pl-PL" altLang="zh-CN" dirty="0">
                <a:ea typeface="SimSun" panose="02010600030101010101" pitchFamily="2" charset="-122"/>
              </a:rPr>
              <a:t>y.</a:t>
            </a:r>
            <a:r>
              <a:rPr lang="en-US" altLang="zh-CN" dirty="0">
                <a:ea typeface="SimSun" panose="02010600030101010101" pitchFamily="2" charset="-122"/>
              </a:rPr>
              <a:t>(</a:t>
            </a:r>
            <a:r>
              <a:rPr lang="pl-PL" altLang="zh-CN" dirty="0">
                <a:ea typeface="SimSun" panose="02010600030101010101" pitchFamily="2" charset="-122"/>
              </a:rPr>
              <a:t>y </a:t>
            </a:r>
            <a:r>
              <a:rPr lang="en-US" altLang="zh-CN" dirty="0">
                <a:ea typeface="SimSun" panose="02010600030101010101" pitchFamily="2" charset="-122"/>
              </a:rPr>
              <a:t>(</a:t>
            </a:r>
            <a:r>
              <a:rPr lang="pl-PL" altLang="zh-CN" dirty="0">
                <a:ea typeface="SimSun" panose="02010600030101010101" pitchFamily="2" charset="-122"/>
              </a:rPr>
              <a:t>z </a:t>
            </a:r>
            <a:r>
              <a:rPr lang="el-GR" altLang="zh-CN" dirty="0">
                <a:ea typeface="SimSun" panose="02010600030101010101" pitchFamily="2" charset="-122"/>
              </a:rPr>
              <a:t>λ</a:t>
            </a:r>
            <a:r>
              <a:rPr lang="pl-PL" altLang="zh-CN" dirty="0">
                <a:ea typeface="SimSun" panose="02010600030101010101" pitchFamily="2" charset="-122"/>
              </a:rPr>
              <a:t>x.</a:t>
            </a:r>
            <a:r>
              <a:rPr lang="en-US" altLang="zh-CN" dirty="0">
                <a:ea typeface="SimSun" panose="02010600030101010101" pitchFamily="2" charset="-122"/>
              </a:rPr>
              <a:t>(</a:t>
            </a:r>
            <a:r>
              <a:rPr lang="pl-PL" altLang="zh-CN" dirty="0">
                <a:ea typeface="SimSun" panose="02010600030101010101" pitchFamily="2" charset="-122"/>
              </a:rPr>
              <a:t>x </a:t>
            </a:r>
            <a:r>
              <a:rPr lang="en-US" altLang="zh-CN" dirty="0">
                <a:ea typeface="SimSun" panose="02010600030101010101" pitchFamily="2" charset="-122"/>
              </a:rPr>
              <a:t>(</a:t>
            </a:r>
            <a:r>
              <a:rPr lang="pl-PL" altLang="zh-CN" dirty="0">
                <a:ea typeface="SimSun" panose="02010600030101010101" pitchFamily="2" charset="-122"/>
              </a:rPr>
              <a:t>y z</a:t>
            </a:r>
            <a:r>
              <a:rPr lang="en-US" altLang="zh-CN" dirty="0">
                <a:ea typeface="SimSun" panose="02010600030101010101" pitchFamily="2" charset="-122"/>
              </a:rPr>
              <a:t>))))</a:t>
            </a:r>
            <a:endParaRPr lang="pl-PL" altLang="zh-CN" dirty="0">
              <a:ea typeface="SimSun" panose="02010600030101010101" pitchFamily="2" charset="-122"/>
            </a:endParaRPr>
          </a:p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n-US" altLang="zh-CN" dirty="0">
                <a:ea typeface="SimSun" panose="02010600030101010101" pitchFamily="2" charset="-122"/>
              </a:rPr>
              <a:t>(</a:t>
            </a:r>
            <a:r>
              <a:rPr lang="el-GR" altLang="zh-CN" dirty="0">
                <a:ea typeface="SimSun" panose="02010600030101010101" pitchFamily="2" charset="-122"/>
              </a:rPr>
              <a:t>λ</a:t>
            </a:r>
            <a:r>
              <a:rPr lang="pl-PL" altLang="zh-CN" dirty="0">
                <a:ea typeface="SimSun" panose="02010600030101010101" pitchFamily="2" charset="-122"/>
              </a:rPr>
              <a:t>y.</a:t>
            </a:r>
            <a:r>
              <a:rPr lang="en-US" altLang="zh-CN" dirty="0">
                <a:ea typeface="SimSun" panose="02010600030101010101" pitchFamily="2" charset="-122"/>
              </a:rPr>
              <a:t>(</a:t>
            </a:r>
            <a:r>
              <a:rPr lang="pl-PL" altLang="zh-CN" dirty="0">
                <a:ea typeface="SimSun" panose="02010600030101010101" pitchFamily="2" charset="-122"/>
              </a:rPr>
              <a:t>y z</a:t>
            </a:r>
            <a:r>
              <a:rPr lang="en-US" altLang="zh-CN" dirty="0">
                <a:ea typeface="SimSun" panose="02010600030101010101" pitchFamily="2" charset="-122"/>
              </a:rPr>
              <a:t>))</a:t>
            </a:r>
            <a:r>
              <a:rPr lang="pl-PL" altLang="zh-CN" dirty="0">
                <a:ea typeface="SimSun" panose="02010600030101010101" pitchFamily="2" charset="-122"/>
              </a:rPr>
              <a:t> </a:t>
            </a:r>
            <a:r>
              <a:rPr lang="el-GR" altLang="zh-CN" dirty="0">
                <a:ea typeface="SimSun" panose="02010600030101010101" pitchFamily="2" charset="-122"/>
              </a:rPr>
              <a:t>λ</a:t>
            </a:r>
            <a:r>
              <a:rPr lang="pl-PL" altLang="zh-CN" dirty="0">
                <a:ea typeface="SimSun" panose="02010600030101010101" pitchFamily="2" charset="-122"/>
              </a:rPr>
              <a:t>x.</a:t>
            </a:r>
            <a:r>
              <a:rPr lang="en-US" altLang="zh-CN" dirty="0">
                <a:ea typeface="SimSun" panose="02010600030101010101" pitchFamily="2" charset="-122"/>
              </a:rPr>
              <a:t>((</a:t>
            </a:r>
            <a:r>
              <a:rPr lang="pl-PL" altLang="zh-CN" dirty="0">
                <a:ea typeface="SimSun" panose="02010600030101010101" pitchFamily="2" charset="-122"/>
              </a:rPr>
              <a:t>x y</a:t>
            </a:r>
            <a:r>
              <a:rPr lang="en-US" altLang="zh-CN" dirty="0">
                <a:ea typeface="SimSun" panose="02010600030101010101" pitchFamily="2" charset="-122"/>
              </a:rPr>
              <a:t>)</a:t>
            </a:r>
            <a:r>
              <a:rPr lang="pl-PL" altLang="zh-CN" dirty="0">
                <a:ea typeface="SimSun" panose="02010600030101010101" pitchFamily="2" charset="-122"/>
              </a:rPr>
              <a:t> z</a:t>
            </a:r>
            <a:r>
              <a:rPr lang="en-US" altLang="zh-CN" dirty="0">
                <a:ea typeface="SimSun" panose="02010600030101010101" pitchFamily="2" charset="-122"/>
              </a:rPr>
              <a:t>)</a:t>
            </a:r>
          </a:p>
          <a:p>
            <a:pPr marL="709885" indent="-522368">
              <a:buSzPct val="100000"/>
              <a:buFont typeface="Gill Sans" charset="0"/>
              <a:buAutoNum type="alphaLcPeriod"/>
            </a:pPr>
            <a:r>
              <a:rPr lang="el-GR" altLang="zh-CN" dirty="0">
                <a:ea typeface="SimSun" panose="02010600030101010101" pitchFamily="2" charset="-122"/>
              </a:rPr>
              <a:t>λ</a:t>
            </a:r>
            <a:r>
              <a:rPr lang="pl-PL" altLang="zh-CN" dirty="0">
                <a:ea typeface="SimSun" panose="02010600030101010101" pitchFamily="2" charset="-122"/>
              </a:rPr>
              <a:t>y.</a:t>
            </a:r>
            <a:r>
              <a:rPr lang="en-US" altLang="zh-CN" dirty="0">
                <a:ea typeface="SimSun" panose="02010600030101010101" pitchFamily="2" charset="-122"/>
              </a:rPr>
              <a:t>((</a:t>
            </a:r>
            <a:r>
              <a:rPr lang="pl-PL" altLang="zh-CN" dirty="0">
                <a:ea typeface="SimSun" panose="02010600030101010101" pitchFamily="2" charset="-122"/>
              </a:rPr>
              <a:t>y z</a:t>
            </a:r>
            <a:r>
              <a:rPr lang="en-US" altLang="zh-CN" dirty="0">
                <a:ea typeface="SimSun" panose="02010600030101010101" pitchFamily="2" charset="-122"/>
              </a:rPr>
              <a:t>)</a:t>
            </a:r>
            <a:r>
              <a:rPr lang="pl-PL" altLang="zh-CN" dirty="0">
                <a:ea typeface="SimSun" panose="02010600030101010101" pitchFamily="2" charset="-122"/>
              </a:rPr>
              <a:t> </a:t>
            </a:r>
            <a:r>
              <a:rPr lang="el-GR" altLang="zh-CN" dirty="0">
                <a:ea typeface="SimSun" panose="02010600030101010101" pitchFamily="2" charset="-122"/>
              </a:rPr>
              <a:t>λ</a:t>
            </a:r>
            <a:r>
              <a:rPr lang="pl-PL" altLang="zh-CN" dirty="0">
                <a:ea typeface="SimSun" panose="02010600030101010101" pitchFamily="2" charset="-122"/>
              </a:rPr>
              <a:t>x.</a:t>
            </a:r>
            <a:r>
              <a:rPr lang="en-US" altLang="zh-CN" dirty="0">
                <a:ea typeface="SimSun" panose="02010600030101010101" pitchFamily="2" charset="-122"/>
              </a:rPr>
              <a:t>((</a:t>
            </a:r>
            <a:r>
              <a:rPr lang="pl-PL" altLang="zh-CN" dirty="0">
                <a:ea typeface="SimSun" panose="02010600030101010101" pitchFamily="2" charset="-122"/>
              </a:rPr>
              <a:t>x y</a:t>
            </a:r>
            <a:r>
              <a:rPr lang="en-US" altLang="zh-CN" dirty="0">
                <a:ea typeface="SimSun" panose="02010600030101010101" pitchFamily="2" charset="-122"/>
              </a:rPr>
              <a:t>)</a:t>
            </a:r>
            <a:r>
              <a:rPr lang="pl-PL" altLang="zh-CN" dirty="0">
                <a:ea typeface="SimSun" panose="02010600030101010101" pitchFamily="2" charset="-122"/>
              </a:rPr>
              <a:t> z</a:t>
            </a:r>
            <a:r>
              <a:rPr lang="en-US" altLang="zh-CN" dirty="0">
                <a:ea typeface="SimSun" panose="02010600030101010101" pitchFamily="2" charset="-122"/>
              </a:rPr>
              <a:t>))</a:t>
            </a:r>
            <a:endParaRPr lang="pl-PL" altLang="zh-CN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2116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Evaluate test </a:t>
            </a:r>
            <a:r>
              <a:rPr lang="en-US" sz="3200" dirty="0" err="1"/>
              <a:t>fls</a:t>
            </a:r>
            <a:r>
              <a:rPr lang="en-US" sz="3200" dirty="0"/>
              <a:t> a b?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EB4CC5F-1C3C-43F1-A372-DCB9788C203D}"/>
              </a:ext>
            </a:extLst>
          </p:cNvPr>
          <p:cNvSpPr txBox="1"/>
          <p:nvPr/>
        </p:nvSpPr>
        <p:spPr>
          <a:xfrm>
            <a:off x="4458318" y="0"/>
            <a:ext cx="54108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FF0000"/>
                </a:solidFill>
              </a:rPr>
              <a:t>tru</a:t>
            </a:r>
            <a:r>
              <a:rPr lang="en-US" sz="2800" dirty="0">
                <a:solidFill>
                  <a:srgbClr val="FF0000"/>
                </a:solidFill>
              </a:rPr>
              <a:t> = \t.\f. t             </a:t>
            </a:r>
          </a:p>
          <a:p>
            <a:r>
              <a:rPr lang="en-US" sz="2800" dirty="0" err="1">
                <a:solidFill>
                  <a:srgbClr val="FF0000"/>
                </a:solidFill>
              </a:rPr>
              <a:t>fls</a:t>
            </a:r>
            <a:r>
              <a:rPr lang="en-US" sz="2800" dirty="0">
                <a:solidFill>
                  <a:srgbClr val="FF0000"/>
                </a:solidFill>
              </a:rPr>
              <a:t> = \t.\f. f</a:t>
            </a:r>
          </a:p>
          <a:p>
            <a:r>
              <a:rPr lang="en-US" sz="2800" dirty="0">
                <a:solidFill>
                  <a:srgbClr val="FF0000"/>
                </a:solidFill>
              </a:rPr>
              <a:t>test = \x.\then.\else. x then else</a:t>
            </a:r>
          </a:p>
        </p:txBody>
      </p:sp>
      <p:sp>
        <p:nvSpPr>
          <p:cNvPr id="3" name="文本框 3">
            <a:extLst>
              <a:ext uri="{FF2B5EF4-FFF2-40B4-BE49-F238E27FC236}">
                <a16:creationId xmlns:a16="http://schemas.microsoft.com/office/drawing/2014/main" id="{EE6981D7-EE28-DC41-2E72-EAB1DC9E5992}"/>
              </a:ext>
            </a:extLst>
          </p:cNvPr>
          <p:cNvSpPr txBox="1"/>
          <p:nvPr/>
        </p:nvSpPr>
        <p:spPr>
          <a:xfrm>
            <a:off x="329415" y="1831428"/>
            <a:ext cx="1024136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test </a:t>
            </a:r>
            <a:r>
              <a:rPr lang="en-US" sz="2800" dirty="0" err="1"/>
              <a:t>fls</a:t>
            </a:r>
            <a:r>
              <a:rPr lang="en-US" sz="2800" dirty="0"/>
              <a:t> a b </a:t>
            </a:r>
          </a:p>
          <a:p>
            <a:r>
              <a:rPr lang="en-US" sz="2800" dirty="0"/>
              <a:t>= (\x.\then.\else. x then else) </a:t>
            </a:r>
            <a:r>
              <a:rPr lang="en-US" sz="2800" dirty="0" err="1"/>
              <a:t>fls</a:t>
            </a:r>
            <a:r>
              <a:rPr lang="en-US" sz="2800" dirty="0"/>
              <a:t> a b </a:t>
            </a:r>
          </a:p>
          <a:p>
            <a:r>
              <a:rPr lang="en-US" sz="2800" dirty="0"/>
              <a:t>= (\then.\else. </a:t>
            </a:r>
            <a:r>
              <a:rPr lang="en-US" sz="2800" dirty="0" err="1"/>
              <a:t>fls</a:t>
            </a:r>
            <a:r>
              <a:rPr lang="en-US" sz="2800" dirty="0"/>
              <a:t> then else) a b</a:t>
            </a:r>
          </a:p>
          <a:p>
            <a:r>
              <a:rPr lang="en-US" sz="2800" dirty="0"/>
              <a:t>= (\else. </a:t>
            </a:r>
            <a:r>
              <a:rPr lang="en-US" sz="2800" dirty="0" err="1"/>
              <a:t>fls</a:t>
            </a:r>
            <a:r>
              <a:rPr lang="en-US" sz="2800" dirty="0"/>
              <a:t> a else) b </a:t>
            </a:r>
          </a:p>
          <a:p>
            <a:r>
              <a:rPr lang="en-US" sz="2800" dirty="0"/>
              <a:t>= </a:t>
            </a:r>
            <a:r>
              <a:rPr lang="en-US" sz="2800" dirty="0" err="1"/>
              <a:t>fls</a:t>
            </a:r>
            <a:r>
              <a:rPr lang="en-US" sz="2800" dirty="0"/>
              <a:t> a b </a:t>
            </a:r>
          </a:p>
          <a:p>
            <a:r>
              <a:rPr lang="en-US" sz="2800" dirty="0"/>
              <a:t>= \t.\f. f a b </a:t>
            </a:r>
          </a:p>
          <a:p>
            <a:r>
              <a:rPr lang="en-US" sz="2800" dirty="0"/>
              <a:t>= \</a:t>
            </a:r>
            <a:r>
              <a:rPr lang="en-US" sz="2800" dirty="0" err="1"/>
              <a:t>f.f</a:t>
            </a:r>
            <a:r>
              <a:rPr lang="en-US" sz="2800" dirty="0"/>
              <a:t> b </a:t>
            </a:r>
          </a:p>
          <a:p>
            <a:r>
              <a:rPr lang="en-US" sz="2800" dirty="0"/>
              <a:t>= b</a:t>
            </a:r>
          </a:p>
        </p:txBody>
      </p:sp>
    </p:spTree>
    <p:extLst>
      <p:ext uri="{BB962C8B-B14F-4D97-AF65-F5344CB8AC3E}">
        <p14:creationId xmlns:p14="http://schemas.microsoft.com/office/powerpoint/2010/main" val="42409519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B2F28-C31C-4C11-ADFE-E829D583D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CAB798-9EAE-B5F1-97A3-9BDFE1E27C2B}"/>
              </a:ext>
            </a:extLst>
          </p:cNvPr>
          <p:cNvSpPr txBox="1"/>
          <p:nvPr/>
        </p:nvSpPr>
        <p:spPr>
          <a:xfrm>
            <a:off x="0" y="0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HW 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B4D1D4-9FD4-F1BA-AB00-C59127858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61665"/>
            <a:ext cx="7413735" cy="548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030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E8480-2E33-8335-AC01-6D3015DE0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06AF77-96E0-D6A2-2456-B267A701D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30634" cy="26175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245F46-F455-C8C8-A267-C7F819520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17579"/>
            <a:ext cx="5608344" cy="1749468"/>
          </a:xfrm>
          <a:prstGeom prst="rect">
            <a:avLst/>
          </a:prstGeom>
        </p:spPr>
      </p:pic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E6D5B5CD-7ED2-ECE8-3FDE-EC912105CF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6800" y="3998754"/>
            <a:ext cx="7518400" cy="16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09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813A4-BD5E-1B77-15EC-3CEAE934F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EE862966-1DE9-60E3-2BBA-5644FA33C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18400" cy="1651000"/>
          </a:xfrm>
          <a:prstGeom prst="rect">
            <a:avLst/>
          </a:prstGeom>
        </p:spPr>
      </p:pic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1282E985-00DD-4E1C-F772-B1EA1BF84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23100"/>
            <a:ext cx="8829736" cy="384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348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97358-BA80-066B-FE63-41A974535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412851-04FF-14E5-E9D9-AF7F452F1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7080377" cy="27195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5EB62B-B588-D2BA-3113-0F9991D71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94397"/>
            <a:ext cx="6514286" cy="20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16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3A0DD-64C4-229F-124A-104BEC96D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03D6E83-C52A-8B17-AB90-912F0DF9C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09524" cy="28190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8471904-8391-3EC6-EA1E-E1BC4E2EF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17482"/>
            <a:ext cx="6580952" cy="2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040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1854878"/>
      </p:ext>
    </p:extLst>
  </p:cSld>
  <p:clrMapOvr>
    <a:masterClrMapping/>
  </p:clrMapOvr>
</p:sld>
</file>

<file path=ppt/theme/theme1.xml><?xml version="1.0" encoding="utf-8"?>
<a:theme xmlns:a="http://schemas.openxmlformats.org/drawingml/2006/main" name="UTA Accessibl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essible-PPT.pptx" id="{DC14534C-1046-F040-970C-D4B656BEDF73}" vid="{22719C90-FD2E-C343-B61D-D3EE9148FC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2677</TotalTime>
  <Words>746</Words>
  <Application>Microsoft Office PowerPoint</Application>
  <PresentationFormat>Widescreen</PresentationFormat>
  <Paragraphs>79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Gill Sans</vt:lpstr>
      <vt:lpstr>黑体</vt:lpstr>
      <vt:lpstr>SimSun</vt:lpstr>
      <vt:lpstr>Aptos</vt:lpstr>
      <vt:lpstr>Arial</vt:lpstr>
      <vt:lpstr>Calibri</vt:lpstr>
      <vt:lpstr>Helvetica</vt:lpstr>
      <vt:lpstr>Wingdings</vt:lpstr>
      <vt:lpstr>UTA Accessible Template</vt:lpstr>
      <vt:lpstr>Tutorial 5</vt:lpstr>
      <vt:lpstr>PowerPoint Presentation</vt:lpstr>
      <vt:lpstr>PowerPoint Presentation</vt:lpstr>
      <vt:lpstr>1. Which one of the following statements is correct?</vt:lpstr>
      <vt:lpstr>2. What are the free variables in the following lambda expression?  x (λy · y z x) (λm · λn · l m n)</vt:lpstr>
      <vt:lpstr>3. Which one of the following is different from the other three after call by name evaluation?</vt:lpstr>
      <vt:lpstr>4. What’s the result of the following lambda expression, under full beta-reduction?   (λx · x)((λx · x)(λz · (λx · x)z))</vt:lpstr>
      <vt:lpstr>5. What is the first step of   (λy. (λx. x) y) ((λu. u) (λv. v))     under call-by-name evaluation?  </vt:lpstr>
      <vt:lpstr>6. What is the first step of   (λy. (λx. x) y) ((λu. u) (λv. v))     under call-by-value evaluation? </vt:lpstr>
      <vt:lpstr>7. Application associate to the _____?</vt:lpstr>
      <vt:lpstr>8. What’s equivalent to λy.y z  λx.x y z?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Weiran</dc:creator>
  <cp:lastModifiedBy>Zhang, Weiran</cp:lastModifiedBy>
  <cp:revision>53</cp:revision>
  <dcterms:created xsi:type="dcterms:W3CDTF">2026-01-19T23:51:43Z</dcterms:created>
  <dcterms:modified xsi:type="dcterms:W3CDTF">2026-02-26T00:44:09Z</dcterms:modified>
</cp:coreProperties>
</file>