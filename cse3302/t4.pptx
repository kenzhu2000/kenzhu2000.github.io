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75" r:id="rId2"/>
    <p:sldId id="322" r:id="rId3"/>
    <p:sldId id="358" r:id="rId4"/>
    <p:sldId id="357" r:id="rId5"/>
    <p:sldId id="36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6" r:id="rId14"/>
    <p:sldId id="367" r:id="rId15"/>
    <p:sldId id="369" r:id="rId16"/>
    <p:sldId id="370" r:id="rId17"/>
    <p:sldId id="371" r:id="rId18"/>
    <p:sldId id="372" r:id="rId19"/>
    <p:sldId id="380" r:id="rId20"/>
    <p:sldId id="373" r:id="rId21"/>
    <p:sldId id="375" r:id="rId22"/>
    <p:sldId id="28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15" autoAdjust="0"/>
    <p:restoredTop sz="74953" autoAdjust="0"/>
  </p:normalViewPr>
  <p:slideViewPr>
    <p:cSldViewPr snapToGrid="0">
      <p:cViewPr varScale="1">
        <p:scale>
          <a:sx n="119" d="100"/>
          <a:sy n="119" d="100"/>
        </p:scale>
        <p:origin x="420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42834-A923-415F-BF9C-1B2F00B6F7DD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A8166-61D3-44AA-A36C-C4C8A9BB49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40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7443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2967C-77A2-314A-8C7C-E2A17522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0A6C5B-A7A5-6602-167C-2A7E6F867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625BA3-35B0-2261-E613-FBBC330A5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2CDEB-DE85-225F-D9E7-F75E76BE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0520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97BB0-077F-D10F-EC57-35E30B2D2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2FF1-88C4-CB8B-434E-A9B3E079F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D8BBB-A6BF-A5B1-1909-A8C14F1D0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D0062-B18B-4B98-14A5-403497FDD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2618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DED8F-89C4-F1E5-24CC-B914AFAA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DA626-3B92-6D9B-01A0-D3721D680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F07F3-24BD-57C0-00A7-69D4C9774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7B2BB-84B0-0FDF-595A-439618A6B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94475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56FC7-7B57-9B34-0849-C63EFD7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6A493-5B8F-B9CD-9EE4-713326D26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2D1DF-D2CD-F0BF-62DF-8107F9243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9663-8861-F76C-865E-A2D41C6D0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36759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C3A3F-CAEF-3FE1-9F98-8C2BD23D8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4008E-96FE-CFCA-B4C5-686C36468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968D4-A828-41B1-1E31-5D730D2BA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79909-0267-39E0-70C2-D45A8385A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53053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6FEEE-401B-F1FA-A903-51ED85692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4FF31-2AEB-D0C1-B78C-533CE74AD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24632-CF9C-76F6-D27B-42211E440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6349B-60D1-8B20-DDBA-B69806470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76723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136EA-874E-7DC6-C719-9817D9C4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81BC9-52C1-908C-4862-2400362AD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77CE65-05E6-DAD0-7209-D6BA961FA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84432-E58C-9A38-0F1D-C1491F2968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4030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B9B1A-2E4E-FEF5-2611-F0B287E48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7CBAF-EB7F-5315-853A-CD7CE934D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B48BB-25B3-64E8-DBF5-072611D6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3FD13-AA00-262A-CFA9-0C9AE4CA30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0918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F39B7-61DF-8933-39E4-36D5AAE3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4E993-34A0-52D4-9B3F-A39ED847F7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E7DDD-D2FD-803B-2F99-AE547148C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746FF-0B68-19BE-50F3-B0C1BA7CA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21812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1DADE-74C7-B33B-C73C-42537FDA1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C79784-8740-E626-EC14-A8A8EAFA24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2FD280-54B0-8355-F1C1-3B9B239C0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7320D-9EED-DA25-EEC0-2CF7240AE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99831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C06C6-01F9-E3A7-AC8C-B11DE44E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509BF5-66BD-FFDD-4A4D-055EDC3C5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430830-7DE7-7398-50C4-D7018A738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59229-6A1E-5478-0EE9-970E503AB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98322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D175-A0FE-E1FF-618F-B80BE02CE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B6448-E7F0-4E89-75C0-96B1D5BD8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82CC1-D3A8-F4DF-05C6-C2A84F8D7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26B49-F8B3-D5E3-A2EB-B72ABBA97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02410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0FB6-5337-A143-9D79-64B6084EC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15DC6-EF46-CF95-EC57-BC991D79A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1E59B2-A9B9-7FC1-96D1-D9D720BAE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D0F11-0993-26AC-C0BF-3118E0F38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4623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079-F6BA-5945-D00B-2E69D6222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591E1-453F-4092-4955-1968E61231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E648A1-9131-736A-F2DC-AF9AC5A9A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34765-37CC-D11D-0670-01E7FF830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6588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93AA4-8BB7-B189-792F-7381143C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B5BBD-7DA5-B03F-9206-DC67500117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6E03CA-27D7-3E4E-656A-F5EC17308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99BA4-2C6E-FE07-46D6-0C393600E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8217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33A2A-1A53-3E74-CE93-449918452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67C125-B781-B345-2C2A-3EF40FAF4B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0FE078-DEDA-3E49-7CAA-D4B3E8005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7B2F5-15C6-1837-38EF-51948734B7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2959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0B861-EF7C-CDF7-8C5F-79138E4CE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6BB1B9-F624-A8BA-AA01-0A4EB3D1A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4DEA6C-B2A1-F68E-5D5D-920EEF2AE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D0B32-B92C-DF51-E81F-CDCC9F01F5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38830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7207-7D6B-37F0-07C6-FB5F504B9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0C0E8-974A-F234-6818-B7A476ACA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48055-613E-B742-83DE-2F42DA0E2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56A00-AC55-0346-5EB1-58A1EC2CD5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338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8DB6B-1566-3C76-7FD9-17F2B2DAC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77DCB0-CB31-B934-D27F-A6DA7D6864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1F586A-CB31-F2BD-91FC-A8DBC20CE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73C994-7B5A-93F4-AFF4-15F0AA1BF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88910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3852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38495" y="4750278"/>
            <a:ext cx="6968291" cy="194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479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4043767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686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5447" y="1955800"/>
            <a:ext cx="10972800" cy="1143001"/>
          </a:xfrm>
          <a:noFill/>
        </p:spPr>
        <p:txBody>
          <a:bodyPr>
            <a:normAutofit/>
          </a:bodyPr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15447" y="2868634"/>
            <a:ext cx="10972799" cy="574517"/>
          </a:xfrm>
        </p:spPr>
        <p:txBody>
          <a:bodyPr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20551" y="3510709"/>
            <a:ext cx="65159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5447" y="3655551"/>
            <a:ext cx="5486400" cy="389181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5447" y="4045017"/>
            <a:ext cx="3111500" cy="387996"/>
          </a:xfrm>
        </p:spPr>
        <p:txBody>
          <a:bodyPr>
            <a:normAutofit/>
          </a:bodyPr>
          <a:lstStyle>
            <a:lvl1pPr marL="0" indent="0">
              <a:buNone/>
              <a:defRPr sz="18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56694" y="5179121"/>
            <a:ext cx="6108700" cy="1411816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08800" y="3655551"/>
            <a:ext cx="4878917" cy="11979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0552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380617"/>
            <a:ext cx="10972800" cy="1143004"/>
          </a:xfrm>
        </p:spPr>
        <p:txBody>
          <a:bodyPr>
            <a:normAutofit/>
          </a:bodyPr>
          <a:lstStyle>
            <a:lvl1pPr>
              <a:defRPr sz="5867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3372856"/>
            <a:ext cx="10972800" cy="905933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2722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18665"/>
            <a:ext cx="10972800" cy="1143000"/>
          </a:xfrm>
        </p:spPr>
        <p:txBody>
          <a:bodyPr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1167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10972800" cy="4131733"/>
          </a:xfrm>
        </p:spPr>
        <p:txBody>
          <a:bodyPr>
            <a:normAutofit/>
          </a:bodyPr>
          <a:lstStyle>
            <a:lvl1pPr marL="457189" indent="-457189">
              <a:buFont typeface="Wingdings" pitchFamily="2" charset="2"/>
              <a:buChar char="§"/>
              <a:defRPr sz="2133"/>
            </a:lvl1pPr>
            <a:lvl2pPr marL="990575" indent="-380990">
              <a:buFont typeface="Wingdings" pitchFamily="2" charset="2"/>
              <a:buChar char="§"/>
              <a:defRPr sz="2133"/>
            </a:lvl2pPr>
            <a:lvl3pPr marL="1523962" indent="-304792">
              <a:buFont typeface="Wingdings" pitchFamily="2" charset="2"/>
              <a:buChar char="§"/>
              <a:defRPr sz="2133"/>
            </a:lvl3pPr>
            <a:lvl4pPr marL="2133547" indent="-304792">
              <a:buFont typeface="Wingdings" pitchFamily="2" charset="2"/>
              <a:buChar char="§"/>
              <a:defRPr sz="2133"/>
            </a:lvl4pPr>
            <a:lvl5pPr marL="2743131" indent="-304792">
              <a:buFont typeface="Wingdings" pitchFamily="2" charset="2"/>
              <a:buChar char="§"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661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065953"/>
            <a:ext cx="10972800" cy="451275"/>
          </a:xfrm>
        </p:spPr>
        <p:txBody>
          <a:bodyPr>
            <a:noAutofit/>
          </a:bodyPr>
          <a:lstStyle>
            <a:lvl1pPr marL="0" indent="0" algn="ctr">
              <a:buNone/>
              <a:defRPr sz="2667">
                <a:solidFill>
                  <a:srgbClr val="00599B"/>
                </a:solidFill>
              </a:defRPr>
            </a:lvl1pPr>
            <a:lvl2pPr marL="609585" indent="0">
              <a:buNone/>
              <a:defRPr sz="3200">
                <a:solidFill>
                  <a:srgbClr val="00599B"/>
                </a:solidFill>
              </a:defRPr>
            </a:lvl2pPr>
            <a:lvl3pPr marL="1219170" indent="0">
              <a:buNone/>
              <a:defRPr sz="3200">
                <a:solidFill>
                  <a:srgbClr val="00599B"/>
                </a:solidFill>
              </a:defRPr>
            </a:lvl3pPr>
            <a:lvl4pPr marL="1828754" indent="0">
              <a:buNone/>
              <a:defRPr sz="3200">
                <a:solidFill>
                  <a:srgbClr val="00599B"/>
                </a:solidFill>
              </a:defRPr>
            </a:lvl4pPr>
            <a:lvl5pPr marL="2438339" indent="0">
              <a:buNone/>
              <a:defRPr sz="32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609600" y="1747522"/>
            <a:ext cx="5384800" cy="4131733"/>
          </a:xfrm>
        </p:spPr>
        <p:txBody>
          <a:bodyPr>
            <a:normAutofit/>
          </a:bodyPr>
          <a:lstStyle>
            <a:lvl1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197600" y="1747522"/>
            <a:ext cx="5384800" cy="4131733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966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63335" y="1481545"/>
            <a:ext cx="3628573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3333" y="3808021"/>
            <a:ext cx="3628575" cy="2224644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3892467" y="1481545"/>
            <a:ext cx="3525653" cy="2326476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3879271" y="3980299"/>
            <a:ext cx="3628575" cy="262840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011889" y="1490548"/>
            <a:ext cx="3910937" cy="2215640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67023" y="3980299"/>
            <a:ext cx="3937332" cy="2613235"/>
          </a:xfrm>
        </p:spPr>
        <p:txBody>
          <a:bodyPr>
            <a:normAutofit/>
          </a:bodyPr>
          <a:lstStyle>
            <a:lvl1pPr marL="380990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90575" indent="-380990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523962" indent="-304792">
              <a:buFont typeface="Wingdings" pitchFamily="2" charset="2"/>
              <a:buChar char="§"/>
              <a:defRPr sz="2133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133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658409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207375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304800" y="381000"/>
            <a:ext cx="11582400" cy="6096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609476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10755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1284803"/>
            <a:ext cx="10972800" cy="1143000"/>
          </a:xfrm>
        </p:spPr>
        <p:txBody>
          <a:bodyPr>
            <a:normAutofit/>
          </a:bodyPr>
          <a:lstStyle>
            <a:lvl1pPr>
              <a:defRPr sz="4267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60960" y="-45720"/>
            <a:ext cx="12313920" cy="694944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2112701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88411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609585" rtl="0" eaLnBrk="1" latinLnBrk="0" hangingPunct="1">
        <a:spcBef>
          <a:spcPct val="0"/>
        </a:spcBef>
        <a:buNone/>
        <a:defRPr sz="4667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90575" indent="-380990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609585" rtl="0" eaLnBrk="1" latinLnBrk="0" hangingPunct="1">
        <a:spcBef>
          <a:spcPct val="20000"/>
        </a:spcBef>
        <a:buFont typeface="Wingdings" pitchFamily="2" charset="2"/>
        <a:buChar char="§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103" y="563071"/>
            <a:ext cx="10972800" cy="2344263"/>
          </a:xfrm>
        </p:spPr>
        <p:txBody>
          <a:bodyPr>
            <a:noAutofit/>
          </a:bodyPr>
          <a:lstStyle/>
          <a:p>
            <a:r>
              <a:rPr lang="en-US" sz="4800" dirty="0"/>
              <a:t>Tutorial 4</a:t>
            </a:r>
            <a:endParaRPr lang="en-US" altLang="zh-CN" sz="5333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46EDE5-6FC5-824E-9F44-F022997BFE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" y="4906266"/>
            <a:ext cx="10972800" cy="1244300"/>
          </a:xfrm>
        </p:spPr>
        <p:txBody>
          <a:bodyPr>
            <a:normAutofit/>
          </a:bodyPr>
          <a:lstStyle/>
          <a:p>
            <a:pPr fontAlgn="base"/>
            <a:r>
              <a:rPr lang="en-US" altLang="zh-CN" dirty="0"/>
              <a:t>Presenter: Peter​ Zhang</a:t>
            </a:r>
          </a:p>
          <a:p>
            <a:pPr fontAlgn="base"/>
            <a:r>
              <a:rPr lang="en-US" altLang="zh-CN" dirty="0"/>
              <a:t>2/4/2026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C796814-B4C7-06C2-94D6-3F9ED29CF958}"/>
              </a:ext>
            </a:extLst>
          </p:cNvPr>
          <p:cNvSpPr txBox="1">
            <a:spLocks/>
          </p:cNvSpPr>
          <p:nvPr/>
        </p:nvSpPr>
        <p:spPr>
          <a:xfrm>
            <a:off x="482103" y="3284650"/>
            <a:ext cx="10972800" cy="1244300"/>
          </a:xfrm>
          <a:prstGeom prst="rect">
            <a:avLst/>
          </a:prstGeom>
        </p:spPr>
        <p:txBody>
          <a:bodyPr vert="horz" lIns="121920" tIns="60960" rIns="121920" bIns="6096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24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 fontAlgn="base"/>
            <a:r>
              <a:rPr lang="fr-FR" altLang="zh-CN" sz="3733" b="1" i="1" dirty="0">
                <a:solidFill>
                  <a:prstClr val="white"/>
                </a:solidFill>
                <a:ea typeface="黑体" panose="02010609060101010101" pitchFamily="49" charset="-122"/>
              </a:rPr>
              <a:t>Quiz 2-4 &amp; HW 2</a:t>
            </a:r>
            <a:endParaRPr lang="en-US" altLang="zh-CN" sz="3733" b="1" i="1" dirty="0">
              <a:solidFill>
                <a:prstClr val="white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631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ADF500-6292-F3BD-B2A0-FC7ACB98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/>
          <a:p>
            <a:r>
              <a:rPr lang="en-US" sz="4400" dirty="0"/>
              <a:t>Quiz2: Judgement and Judgement Form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A56424A-8479-FBBE-F560-57BD4CFDB902}"/>
              </a:ext>
            </a:extLst>
          </p:cNvPr>
          <p:cNvSpPr txBox="1">
            <a:spLocks/>
          </p:cNvSpPr>
          <p:nvPr/>
        </p:nvSpPr>
        <p:spPr>
          <a:xfrm>
            <a:off x="457199" y="1600200"/>
            <a:ext cx="9994739" cy="487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189" indent="-457189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133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990575" indent="-380990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133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523962" indent="-304792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133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2133547" indent="-304792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133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2743131" indent="-304792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Please circle and indicate all the </a:t>
            </a:r>
            <a:r>
              <a:rPr lang="en-US" b="1" dirty="0"/>
              <a:t>judgement forms</a:t>
            </a:r>
            <a:r>
              <a:rPr lang="en-US" dirty="0"/>
              <a:t> and </a:t>
            </a:r>
            <a:r>
              <a:rPr lang="en-US" b="1" dirty="0"/>
              <a:t>judgements</a:t>
            </a:r>
            <a:r>
              <a:rPr lang="en-US" dirty="0"/>
              <a:t> you can find in the following inductive definition:</a:t>
            </a:r>
          </a:p>
          <a:p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r>
              <a:rPr lang="en-US" dirty="0"/>
              <a:t>    Definition of </a:t>
            </a:r>
            <a:r>
              <a:rPr lang="en-US" b="1" dirty="0"/>
              <a:t>t tree</a:t>
            </a:r>
            <a:r>
              <a:rPr lang="en-US" dirty="0"/>
              <a:t>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96B720-F61F-F8F9-0A49-F23D89C07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95" y="3978714"/>
            <a:ext cx="7361905" cy="24952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4B0092-146B-5E41-EC04-4DBF0940616A}"/>
              </a:ext>
            </a:extLst>
          </p:cNvPr>
          <p:cNvSpPr txBox="1"/>
          <p:nvPr/>
        </p:nvSpPr>
        <p:spPr>
          <a:xfrm>
            <a:off x="8403220" y="3287341"/>
            <a:ext cx="31791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empty tree</a:t>
            </a:r>
          </a:p>
          <a:p>
            <a:endParaRPr lang="en-US" sz="2400" b="1" dirty="0"/>
          </a:p>
          <a:p>
            <a:r>
              <a:rPr lang="en-US" sz="2400" b="1" dirty="0"/>
              <a:t>t1 tree t2 tree</a:t>
            </a:r>
          </a:p>
          <a:p>
            <a:endParaRPr lang="en-US" sz="2400" b="1" dirty="0"/>
          </a:p>
          <a:p>
            <a:r>
              <a:rPr lang="en-US" sz="2400" b="1" dirty="0"/>
              <a:t>node(t1; t2) tree</a:t>
            </a:r>
          </a:p>
        </p:txBody>
      </p:sp>
    </p:spTree>
    <p:extLst>
      <p:ext uri="{BB962C8B-B14F-4D97-AF65-F5344CB8AC3E}">
        <p14:creationId xmlns:p14="http://schemas.microsoft.com/office/powerpoint/2010/main" val="162299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FD721-E5AE-0B8C-439D-C345413BE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DB4444-3BA4-26DF-BA52-23238B96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C82D9-12BF-B96B-BF66-4F9ED884E28F}"/>
              </a:ext>
            </a:extLst>
          </p:cNvPr>
          <p:cNvSpPr txBox="1"/>
          <p:nvPr/>
        </p:nvSpPr>
        <p:spPr>
          <a:xfrm>
            <a:off x="801545" y="1673467"/>
            <a:ext cx="10587943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A </a:t>
            </a:r>
            <a:r>
              <a:rPr lang="en-US" sz="2000" i="1" dirty="0"/>
              <a:t>judgement</a:t>
            </a:r>
            <a:r>
              <a:rPr lang="en-US" sz="2000" dirty="0"/>
              <a:t> is an </a:t>
            </a:r>
            <a:r>
              <a:rPr lang="en-US" sz="2000" i="1" dirty="0"/>
              <a:t>assertion</a:t>
            </a:r>
            <a:r>
              <a:rPr lang="en-US" sz="2000" dirty="0"/>
              <a:t> (in the meta-language) about one or more syntactic objects.</a:t>
            </a:r>
          </a:p>
          <a:p>
            <a:endParaRPr lang="en-US" sz="2000" dirty="0"/>
          </a:p>
          <a:p>
            <a:r>
              <a:rPr lang="en-US" sz="2000" dirty="0"/>
              <a:t>A judgement states one or more </a:t>
            </a:r>
            <a:r>
              <a:rPr lang="en-US" sz="2000" i="1" dirty="0"/>
              <a:t>syntactic objects</a:t>
            </a:r>
            <a:r>
              <a:rPr lang="en-US" sz="2000" dirty="0"/>
              <a:t> have a </a:t>
            </a:r>
            <a:r>
              <a:rPr lang="en-US" sz="2000" i="1" dirty="0"/>
              <a:t>property</a:t>
            </a:r>
            <a:r>
              <a:rPr lang="en-US" sz="2000" dirty="0"/>
              <a:t> or have a </a:t>
            </a:r>
            <a:r>
              <a:rPr lang="en-US" sz="2000" i="1" dirty="0"/>
              <a:t>relation</a:t>
            </a:r>
            <a:r>
              <a:rPr lang="en-US" sz="2000" dirty="0"/>
              <a:t> among one another.</a:t>
            </a:r>
          </a:p>
          <a:p>
            <a:endParaRPr lang="en-US" sz="2000" dirty="0"/>
          </a:p>
          <a:p>
            <a:r>
              <a:rPr lang="en-US" sz="2000" dirty="0"/>
              <a:t>The property or the relation itself is called </a:t>
            </a:r>
            <a:r>
              <a:rPr lang="en-US" sz="2000" i="1" dirty="0"/>
              <a:t>predicate</a:t>
            </a:r>
            <a:r>
              <a:rPr lang="en-US" sz="2000" dirty="0"/>
              <a:t>.</a:t>
            </a:r>
          </a:p>
          <a:p>
            <a:pPr lvl="1"/>
            <a:r>
              <a:rPr lang="en-US" sz="2000" dirty="0"/>
              <a:t>E.g., n </a:t>
            </a:r>
            <a:r>
              <a:rPr lang="en-US" sz="2000" dirty="0" err="1">
                <a:solidFill>
                  <a:srgbClr val="FF0000"/>
                </a:solidFill>
              </a:rPr>
              <a:t>nat</a:t>
            </a:r>
            <a:r>
              <a:rPr lang="en-US" sz="2000" dirty="0">
                <a:solidFill>
                  <a:srgbClr val="FF0000"/>
                </a:solidFill>
              </a:rPr>
              <a:t>     </a:t>
            </a:r>
            <a:r>
              <a:rPr lang="en-US" sz="2000" dirty="0"/>
              <a:t>(this judgement involves one object n)</a:t>
            </a:r>
          </a:p>
          <a:p>
            <a:r>
              <a:rPr lang="en-US" sz="2000" dirty="0"/>
              <a:t>The abstract structure (schema) of a judgement is called </a:t>
            </a:r>
            <a:r>
              <a:rPr lang="en-US" sz="2000" i="1" dirty="0"/>
              <a:t>judgement form. </a:t>
            </a:r>
          </a:p>
          <a:p>
            <a:pPr lvl="1"/>
            <a:r>
              <a:rPr lang="en-US" sz="2000" dirty="0"/>
              <a:t>E.g., </a:t>
            </a:r>
            <a:r>
              <a:rPr lang="en-US" sz="2000" dirty="0">
                <a:solidFill>
                  <a:srgbClr val="FF0000"/>
                </a:solidFill>
              </a:rPr>
              <a:t>n nat</a:t>
            </a:r>
            <a:r>
              <a:rPr lang="en-US" sz="2000" dirty="0"/>
              <a:t>.</a:t>
            </a:r>
          </a:p>
          <a:p>
            <a:r>
              <a:rPr lang="en-US" sz="2000" dirty="0"/>
              <a:t>The judgement that a particular object or objects having that property is an </a:t>
            </a:r>
            <a:r>
              <a:rPr lang="en-US" sz="2000" i="1" dirty="0"/>
              <a:t>instance</a:t>
            </a:r>
            <a:r>
              <a:rPr lang="en-US" sz="2000" dirty="0"/>
              <a:t> of a judgement form.</a:t>
            </a:r>
          </a:p>
          <a:p>
            <a:pPr lvl="1"/>
            <a:r>
              <a:rPr lang="en-US" sz="2000" dirty="0"/>
              <a:t>E.g., </a:t>
            </a:r>
            <a:r>
              <a:rPr lang="en-US" sz="2000" dirty="0">
                <a:solidFill>
                  <a:srgbClr val="FF0000"/>
                </a:solidFill>
              </a:rPr>
              <a:t>5 </a:t>
            </a:r>
            <a:r>
              <a:rPr lang="en-US" sz="2000" dirty="0" err="1">
                <a:solidFill>
                  <a:srgbClr val="FF0000"/>
                </a:solidFill>
              </a:rPr>
              <a:t>nat</a:t>
            </a:r>
            <a:r>
              <a:rPr lang="en-US" sz="2000" dirty="0"/>
              <a:t>, </a:t>
            </a:r>
            <a:r>
              <a:rPr lang="en-US" sz="2000" dirty="0" err="1">
                <a:solidFill>
                  <a:srgbClr val="FF0000"/>
                </a:solidFill>
              </a:rPr>
              <a:t>succ</a:t>
            </a:r>
            <a:r>
              <a:rPr lang="en-US" sz="2000" dirty="0">
                <a:solidFill>
                  <a:srgbClr val="FF0000"/>
                </a:solidFill>
              </a:rPr>
              <a:t>(n) </a:t>
            </a:r>
            <a:r>
              <a:rPr lang="en-US" sz="2000" dirty="0" err="1">
                <a:solidFill>
                  <a:srgbClr val="FF0000"/>
                </a:solidFill>
              </a:rPr>
              <a:t>nat</a:t>
            </a:r>
            <a:r>
              <a:rPr lang="en-US" sz="2000" dirty="0"/>
              <a:t> are all judgements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3880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FA7C9-6F09-1F6A-65D0-5556C046C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9731F8-3A0A-B329-C4B4-FD79A4EB1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5"/>
            <a:ext cx="10972800" cy="1143000"/>
          </a:xfrm>
        </p:spPr>
        <p:txBody>
          <a:bodyPr>
            <a:normAutofit/>
          </a:bodyPr>
          <a:lstStyle/>
          <a:p>
            <a:r>
              <a:rPr lang="en-CN" sz="4400" dirty="0"/>
              <a:t>Quiz</a:t>
            </a:r>
            <a:r>
              <a:rPr lang="en-US" sz="4400" dirty="0"/>
              <a:t>3</a:t>
            </a:r>
            <a:r>
              <a:rPr lang="en-CN" sz="4400" dirty="0"/>
              <a:t>: Derivation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CB63C2E-2AEF-2C2B-777E-C85AD3E81A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" y="1449729"/>
                <a:ext cx="3908738" cy="4572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189" indent="-457189" algn="l" defTabSz="609585" rtl="0" eaLnBrk="1" latinLnBrk="0" hangingPunct="1">
                  <a:spcBef>
                    <a:spcPct val="20000"/>
                  </a:spcBef>
                  <a:buFont typeface="Wingdings" pitchFamily="2" charset="2"/>
                  <a:buChar char="§"/>
                  <a:defRPr sz="2133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990575" indent="-380990" algn="l" defTabSz="609585" rtl="0" eaLnBrk="1" latinLnBrk="0" hangingPunct="1">
                  <a:spcBef>
                    <a:spcPct val="20000"/>
                  </a:spcBef>
                  <a:buFont typeface="Wingdings" pitchFamily="2" charset="2"/>
                  <a:buChar char="§"/>
                  <a:defRPr sz="2133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523962" indent="-304792" algn="l" defTabSz="609585" rtl="0" eaLnBrk="1" latinLnBrk="0" hangingPunct="1">
                  <a:spcBef>
                    <a:spcPct val="20000"/>
                  </a:spcBef>
                  <a:buFont typeface="Wingdings" pitchFamily="2" charset="2"/>
                  <a:buChar char="§"/>
                  <a:defRPr sz="2133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2133547" indent="-304792" algn="l" defTabSz="609585" rtl="0" eaLnBrk="1" latinLnBrk="0" hangingPunct="1">
                  <a:spcBef>
                    <a:spcPct val="20000"/>
                  </a:spcBef>
                  <a:buFont typeface="Wingdings" pitchFamily="2" charset="2"/>
                  <a:buChar char="§"/>
                  <a:defRPr sz="2133" kern="1200">
                    <a:solidFill>
                      <a:schemeClr val="tx1"/>
                    </a:solidFill>
                    <a:latin typeface="Helvetica" pitchFamily="2" charset="0"/>
                    <a:ea typeface="+mn-ea"/>
                    <a:cs typeface="+mn-cs"/>
                  </a:defRPr>
                </a:lvl4pPr>
                <a:lvl5pPr marL="2743131" indent="-304792" algn="l" defTabSz="609585" rtl="0" eaLnBrk="1" latinLnBrk="0" hangingPunct="1">
                  <a:spcBef>
                    <a:spcPct val="20000"/>
                  </a:spcBef>
                  <a:buFont typeface="Wingdings" pitchFamily="2" charset="2"/>
                  <a:buChar char="§"/>
                  <a:defRPr sz="2400" kern="1200">
                    <a:solidFill>
                      <a:schemeClr val="tx1"/>
                    </a:solidFill>
                    <a:latin typeface="Helvetica" pitchFamily="2" charset="0"/>
                    <a:ea typeface="+mn-ea"/>
                    <a:cs typeface="+mn-cs"/>
                  </a:defRPr>
                </a:lvl5pPr>
                <a:lvl6pPr marL="3352716" indent="-304792" algn="l" defTabSz="609585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3962301" indent="-304792" algn="l" defTabSz="609585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4571886" indent="-304792" algn="l" defTabSz="609585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5181470" indent="-304792" algn="l" defTabSz="609585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" pitchFamily="2" charset="2"/>
                  <a:buNone/>
                </a:pPr>
                <a:r>
                  <a:rPr lang="en-CN" sz="2000" dirty="0"/>
                  <a:t>Given the inductive definition of judgetment form:</a:t>
                </a:r>
              </a:p>
              <a:p>
                <a:pPr marL="0" indent="0">
                  <a:buFont typeface="Wingdings" pitchFamily="2" charset="2"/>
                  <a:buNone/>
                </a:pPr>
                <a:r>
                  <a:rPr lang="en-CN" sz="2000" i="1" dirty="0">
                    <a:latin typeface="Cambria Math" panose="02040503050406030204" pitchFamily="18" charset="0"/>
                  </a:rPr>
                  <a:t>                  </a:t>
                </a:r>
                <a:r>
                  <a:rPr lang="en-CN" sz="2000" dirty="0"/>
                  <a:t>(</a:t>
                </a:r>
                <a:r>
                  <a:rPr lang="en-CN" sz="2000" i="1" dirty="0"/>
                  <a:t>e</a:t>
                </a:r>
                <a:r>
                  <a:rPr lang="en-CN" sz="2000" dirty="0"/>
                  <a:t> is an expression)</a:t>
                </a:r>
                <a:endParaRPr lang="en-CN" sz="2000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:endParaRPr lang="en-CN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CN" i="1" smtClean="0">
                            <a:latin typeface="Cambria Math" panose="02040503050406030204" pitchFamily="18" charset="0"/>
                          </a:rPr>
                        </m:ctrlPr>
                      </m:fPr>
                      <m:num/>
                      <m:den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0, 1, 2,…,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 </m:t>
                        </m:r>
                        <m:func>
                          <m:func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exp</m:t>
                            </m:r>
                          </m:fName>
                          <m:e/>
                        </m:func>
                      </m:den>
                    </m:f>
                  </m:oMath>
                </a14:m>
                <a:r>
                  <a:rPr lang="en-CN" sz="2800" dirty="0"/>
                  <a:t> </a:t>
                </a:r>
                <a:r>
                  <a:rPr lang="en-CN" dirty="0"/>
                  <a:t>(num-e)</a:t>
                </a:r>
                <a:endParaRPr lang="en-CN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:endParaRPr lang="en-CN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C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/>
                            </m:func>
                          </m:e>
                        </m:func>
                      </m:num>
                      <m:den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/>
                        </m:func>
                      </m:den>
                    </m:f>
                  </m:oMath>
                </a14:m>
                <a:r>
                  <a:rPr lang="en-CN" dirty="0"/>
                  <a:t>(add-e)</a:t>
                </a:r>
              </a:p>
              <a:p>
                <a:pPr marL="0" indent="0">
                  <a:buFont typeface="Wingdings" pitchFamily="2" charset="2"/>
                  <a:buNone/>
                </a:pPr>
                <a:endParaRPr lang="en-CN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Wingdings" pitchFamily="2" charset="2"/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C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/>
                            </m:func>
                          </m:e>
                        </m:func>
                      </m:num>
                      <m:den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</m:fName>
                          <m:e/>
                        </m:func>
                      </m:den>
                    </m:f>
                  </m:oMath>
                </a14:m>
                <a:r>
                  <a:rPr lang="en-CN" dirty="0"/>
                  <a:t>(sub-e)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CB63C2E-2AEF-2C2B-777E-C85AD3E81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1449729"/>
                <a:ext cx="3908738" cy="4572000"/>
              </a:xfrm>
              <a:prstGeom prst="rect">
                <a:avLst/>
              </a:prstGeom>
              <a:blipFill>
                <a:blip r:embed="rId3"/>
                <a:stretch>
                  <a:fillRect l="-1560" t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672E26D3-DA43-F683-6449-78367091D99E}"/>
              </a:ext>
            </a:extLst>
          </p:cNvPr>
          <p:cNvSpPr txBox="1">
            <a:spLocks/>
          </p:cNvSpPr>
          <p:nvPr/>
        </p:nvSpPr>
        <p:spPr>
          <a:xfrm>
            <a:off x="4928615" y="1449729"/>
            <a:ext cx="6935435" cy="4572000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990575" indent="-380990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523962" indent="-304792" algn="l" defTabSz="609585" rtl="0" eaLnBrk="1" latinLnBrk="0" hangingPunct="1">
              <a:spcBef>
                <a:spcPct val="20000"/>
              </a:spcBef>
              <a:buFont typeface="Wingdings" pitchFamily="2" charset="2"/>
              <a:buChar char="§"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2133547" indent="-304792" algn="l" defTabSz="609585" rtl="0" eaLnBrk="1" latinLnBrk="0" hangingPunct="1">
              <a:spcBef>
                <a:spcPct val="20000"/>
              </a:spcBef>
              <a:buFont typeface="Arial"/>
              <a:buChar char="–"/>
              <a:defRPr sz="2667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2743131" indent="-304792" algn="l" defTabSz="609585" rtl="0" eaLnBrk="1" latinLnBrk="0" hangingPunct="1">
              <a:spcBef>
                <a:spcPct val="20000"/>
              </a:spcBef>
              <a:buFont typeface="Arial"/>
              <a:buChar char="»"/>
              <a:defRPr sz="2667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CN" sz="2000" dirty="0"/>
              <a:t>Write down the derivation (tree) of:</a:t>
            </a:r>
          </a:p>
          <a:p>
            <a:pPr marL="0" indent="0">
              <a:buFont typeface="Wingdings" pitchFamily="2" charset="2"/>
              <a:buNone/>
            </a:pPr>
            <a:endParaRPr lang="en-CN" dirty="0"/>
          </a:p>
          <a:p>
            <a:pPr marL="0" indent="0">
              <a:buFont typeface="Wingdings" pitchFamily="2" charset="2"/>
              <a:buNone/>
            </a:pPr>
            <a:r>
              <a:rPr lang="en-CN" dirty="0"/>
              <a:t> 13-24+5-6  exp</a:t>
            </a:r>
          </a:p>
          <a:p>
            <a:pPr marL="0" indent="0">
              <a:buFont typeface="Wingdings" pitchFamily="2" charset="2"/>
              <a:buNone/>
            </a:pPr>
            <a:endParaRPr lang="en-CN" dirty="0"/>
          </a:p>
          <a:p>
            <a:pPr marL="0" indent="0">
              <a:buFont typeface="Wingdings" pitchFamily="2" charset="2"/>
              <a:buNone/>
            </a:pPr>
            <a:r>
              <a:rPr lang="en-CN" dirty="0"/>
              <a:t>make sure to includ</a:t>
            </a:r>
            <a:r>
              <a:rPr lang="en-US" dirty="0"/>
              <a:t>e</a:t>
            </a:r>
            <a:r>
              <a:rPr lang="en-CN" dirty="0"/>
              <a:t> the rule labels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905E62-3405-B2C8-F440-6892E62BEA6A}"/>
              </a:ext>
            </a:extLst>
          </p:cNvPr>
          <p:cNvSpPr txBox="1"/>
          <p:nvPr/>
        </p:nvSpPr>
        <p:spPr>
          <a:xfrm>
            <a:off x="744828" y="2161287"/>
            <a:ext cx="798491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N" sz="2000" i="1" dirty="0"/>
              <a:t>e</a:t>
            </a:r>
            <a:r>
              <a:rPr lang="en-CN" sz="2000" dirty="0"/>
              <a:t> exp</a:t>
            </a:r>
          </a:p>
        </p:txBody>
      </p:sp>
    </p:spTree>
    <p:extLst>
      <p:ext uri="{BB962C8B-B14F-4D97-AF65-F5344CB8AC3E}">
        <p14:creationId xmlns:p14="http://schemas.microsoft.com/office/powerpoint/2010/main" val="2762116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2C2F8-97E6-7C18-E223-11FA6A6CC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0A8234-492D-6771-3447-481A82F0A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852C0-0C48-4C2D-A889-BA7102A1695F}"/>
              </a:ext>
            </a:extLst>
          </p:cNvPr>
          <p:cNvSpPr txBox="1"/>
          <p:nvPr/>
        </p:nvSpPr>
        <p:spPr>
          <a:xfrm>
            <a:off x="739065" y="1719516"/>
            <a:ext cx="962117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----------(num-e) ------------(num-e)</a:t>
            </a:r>
          </a:p>
          <a:p>
            <a:r>
              <a:rPr lang="en-US" sz="2400" dirty="0"/>
              <a:t>13 exp                24 exp  </a:t>
            </a:r>
          </a:p>
          <a:p>
            <a:r>
              <a:rPr lang="en-US" sz="2400" dirty="0"/>
              <a:t>----------------------------------- (sub-e) ------- (num-e)</a:t>
            </a:r>
          </a:p>
          <a:p>
            <a:r>
              <a:rPr lang="en-US" sz="2400" dirty="0"/>
              <a:t>        13 - 24 exp                              5 exp</a:t>
            </a:r>
          </a:p>
          <a:p>
            <a:r>
              <a:rPr lang="en-US" sz="2400" dirty="0"/>
              <a:t>------------------------------------------------------- (add-e) ------------ (num-e)</a:t>
            </a:r>
          </a:p>
          <a:p>
            <a:r>
              <a:rPr lang="en-US" sz="2400" dirty="0"/>
              <a:t>        (13 - 24) + 5   exp                                             6   exp </a:t>
            </a:r>
          </a:p>
          <a:p>
            <a:r>
              <a:rPr lang="en-US" sz="2400" dirty="0"/>
              <a:t>-------------------------------------------------------------------------------- (sub-e)</a:t>
            </a:r>
          </a:p>
          <a:p>
            <a:r>
              <a:rPr lang="en-US" sz="2400" dirty="0"/>
              <a:t>      ((13 - 24) + 5) - 6 exp</a:t>
            </a:r>
          </a:p>
        </p:txBody>
      </p:sp>
    </p:spTree>
    <p:extLst>
      <p:ext uri="{BB962C8B-B14F-4D97-AF65-F5344CB8AC3E}">
        <p14:creationId xmlns:p14="http://schemas.microsoft.com/office/powerpoint/2010/main" val="4212435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49CCE-ED76-8FB5-A257-6CCDE2B0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ADF500-6292-F3BD-B2A0-FC7ACB98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11" y="409333"/>
            <a:ext cx="11019099" cy="1870880"/>
          </a:xfrm>
        </p:spPr>
        <p:txBody>
          <a:bodyPr>
            <a:normAutofit/>
          </a:bodyPr>
          <a:lstStyle/>
          <a:p>
            <a:r>
              <a:rPr lang="en-US" altLang="zh-CN" sz="4000" kern="0" dirty="0">
                <a:ea typeface="宋体" panose="02010600030101010101" pitchFamily="2" charset="-122"/>
              </a:rPr>
              <a:t>1. “</a:t>
            </a:r>
            <a:r>
              <a:rPr lang="en-US" altLang="zh-CN" sz="4000" kern="0" dirty="0" err="1">
                <a:ea typeface="宋体" panose="02010600030101010101" pitchFamily="2" charset="-122"/>
              </a:rPr>
              <a:t>succ</a:t>
            </a:r>
            <a:r>
              <a:rPr lang="en-US" altLang="zh-CN" sz="4000" kern="0" dirty="0">
                <a:ea typeface="宋体" panose="02010600030101010101" pitchFamily="2" charset="-122"/>
              </a:rPr>
              <a:t>(n) </a:t>
            </a:r>
            <a:r>
              <a:rPr lang="en-US" altLang="zh-CN" sz="4000" kern="0" dirty="0" err="1">
                <a:ea typeface="宋体" panose="02010600030101010101" pitchFamily="2" charset="-122"/>
              </a:rPr>
              <a:t>nat</a:t>
            </a:r>
            <a:r>
              <a:rPr lang="en-US" altLang="zh-CN" sz="4000" kern="0" dirty="0">
                <a:ea typeface="宋体" panose="02010600030101010101" pitchFamily="2" charset="-122"/>
              </a:rPr>
              <a:t>” is a judgement or judgement form ?</a:t>
            </a:r>
            <a:endParaRPr lang="en-US" sz="40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ECEAC0-2253-E353-6059-AA6EF2D42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2439317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342900" lvl="0" indent="-342900" defTabSz="9144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3600" kern="0" dirty="0">
                <a:solidFill>
                  <a:srgbClr val="000000"/>
                </a:solidFill>
                <a:latin typeface="Gill Sans"/>
                <a:ea typeface="SimSun" panose="02010600030101010101" pitchFamily="2" charset="-122"/>
                <a:sym typeface="Gill Sans" panose="020B0502020104020203" charset="0"/>
              </a:rPr>
              <a:t>a. judgement</a:t>
            </a:r>
          </a:p>
          <a:p>
            <a:pPr marL="342900" lvl="0" indent="-342900" defTabSz="9144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3600" kern="0" dirty="0">
                <a:solidFill>
                  <a:srgbClr val="000000"/>
                </a:solidFill>
                <a:latin typeface="Gill Sans"/>
                <a:ea typeface="SimSun" panose="02010600030101010101" pitchFamily="2" charset="-122"/>
                <a:sym typeface="Gill Sans" panose="020B0502020104020203" charset="0"/>
              </a:rPr>
              <a:t>b. Judgement form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959949-AA57-8CE6-E830-4C467F42A173}"/>
              </a:ext>
            </a:extLst>
          </p:cNvPr>
          <p:cNvSpPr txBox="1"/>
          <p:nvPr/>
        </p:nvSpPr>
        <p:spPr>
          <a:xfrm>
            <a:off x="127321" y="-15996"/>
            <a:ext cx="18165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4400" dirty="0"/>
              <a:t>Quiz</a:t>
            </a:r>
            <a:r>
              <a:rPr lang="en-US" sz="4400" dirty="0"/>
              <a:t>4</a:t>
            </a:r>
            <a:r>
              <a:rPr lang="en-CN" sz="4400" dirty="0"/>
              <a:t>: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168573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F0873-5C69-2454-5596-23988D90A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EC0C66-E398-B479-8453-7700A7333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405" y="270437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2. Which one of the following is </a:t>
            </a:r>
            <a:r>
              <a:rPr lang="en-US" altLang="zh-CN" sz="4400" dirty="0">
                <a:solidFill>
                  <a:srgbClr val="FF0000"/>
                </a:solidFill>
                <a:ea typeface="SimSun" panose="02010600030101010101" pitchFamily="2" charset="-122"/>
              </a:rPr>
              <a:t>NOT </a:t>
            </a:r>
            <a:r>
              <a:rPr lang="en-US" altLang="zh-CN" sz="4400" dirty="0">
                <a:ea typeface="SimSun" panose="02010600030101010101" pitchFamily="2" charset="-122"/>
              </a:rPr>
              <a:t>a rule of definition of judgement form a = b + c?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9B84AF-31EC-CF1B-2DD0-3AD6A6FC24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438" r="14013"/>
          <a:stretch>
            <a:fillRect/>
          </a:stretch>
        </p:blipFill>
        <p:spPr>
          <a:xfrm>
            <a:off x="1689905" y="1417313"/>
            <a:ext cx="2939970" cy="40476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C923CE-57A2-7097-D29D-C305F8728BD0}"/>
              </a:ext>
            </a:extLst>
          </p:cNvPr>
          <p:cNvSpPr txBox="1"/>
          <p:nvPr/>
        </p:nvSpPr>
        <p:spPr>
          <a:xfrm>
            <a:off x="844952" y="1671408"/>
            <a:ext cx="526106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a.</a:t>
            </a:r>
          </a:p>
          <a:p>
            <a:endParaRPr lang="en-US" sz="3200" dirty="0"/>
          </a:p>
          <a:p>
            <a:r>
              <a:rPr lang="en-US" sz="3200" dirty="0"/>
              <a:t>b.</a:t>
            </a:r>
          </a:p>
          <a:p>
            <a:endParaRPr lang="en-US" sz="3200" dirty="0"/>
          </a:p>
          <a:p>
            <a:r>
              <a:rPr lang="en-US" sz="3200" dirty="0"/>
              <a:t>c.</a:t>
            </a:r>
          </a:p>
          <a:p>
            <a:endParaRPr lang="en-US" sz="3200" dirty="0"/>
          </a:p>
          <a:p>
            <a:r>
              <a:rPr lang="en-US" sz="3200" dirty="0"/>
              <a:t>d.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4766042-958C-3DDB-0270-EE65288587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106" b="-6602"/>
          <a:stretch>
            <a:fillRect/>
          </a:stretch>
        </p:blipFill>
        <p:spPr bwMode="auto">
          <a:xfrm>
            <a:off x="5560041" y="1571781"/>
            <a:ext cx="2186658" cy="8605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6EBEB62-BE9A-592A-BADF-8FDA1ABA9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34" r="37367" b="-6602"/>
          <a:stretch>
            <a:fillRect/>
          </a:stretch>
        </p:blipFill>
        <p:spPr bwMode="auto">
          <a:xfrm>
            <a:off x="5365748" y="3441122"/>
            <a:ext cx="3153296" cy="7824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图片 6">
            <a:extLst>
              <a:ext uri="{FF2B5EF4-FFF2-40B4-BE49-F238E27FC236}">
                <a16:creationId xmlns:a16="http://schemas.microsoft.com/office/drawing/2014/main" id="{A4BB435D-904B-AF45-6984-907BF8E70F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633" b="-6602"/>
          <a:stretch>
            <a:fillRect/>
          </a:stretch>
        </p:blipFill>
        <p:spPr bwMode="auto">
          <a:xfrm>
            <a:off x="5432720" y="4503755"/>
            <a:ext cx="3108648" cy="7824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11627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7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A4DBC-50EA-9A15-70AF-581C9CA83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D3589F-D33E-CA8A-8546-71768A56C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0908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3. A top-down derivation of a judgement starts from ?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E21AE5-0E3E-D6AA-9CF3-576BFB3392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2027037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Proper rules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Axioms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Premises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Conclusion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E214A5-62E8-F528-E761-AE39F3DE5E9F}"/>
              </a:ext>
            </a:extLst>
          </p:cNvPr>
          <p:cNvSpPr txBox="1"/>
          <p:nvPr/>
        </p:nvSpPr>
        <p:spPr>
          <a:xfrm>
            <a:off x="3122270" y="4572128"/>
            <a:ext cx="9227917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Forward chaining (bottom-up):</a:t>
            </a:r>
          </a:p>
          <a:p>
            <a:pPr lvl="1"/>
            <a:r>
              <a:rPr lang="en-US" sz="2400" b="1" dirty="0"/>
              <a:t>Starting from axioms, work up to the conclusion</a:t>
            </a:r>
          </a:p>
          <a:p>
            <a:r>
              <a:rPr lang="en-US" sz="2800" b="1" dirty="0"/>
              <a:t>Backward chaining (top-down):</a:t>
            </a:r>
          </a:p>
          <a:p>
            <a:pPr lvl="1"/>
            <a:r>
              <a:rPr lang="en-US" sz="2400" b="1" dirty="0"/>
              <a:t>Start from the conclusion, work backwards toward axioms</a:t>
            </a:r>
          </a:p>
        </p:txBody>
      </p:sp>
    </p:spTree>
    <p:extLst>
      <p:ext uri="{BB962C8B-B14F-4D97-AF65-F5344CB8AC3E}">
        <p14:creationId xmlns:p14="http://schemas.microsoft.com/office/powerpoint/2010/main" val="800874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F1A-689B-C41D-A0C5-BF754337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5E63BB-9A92-1EF0-777B-6B2BD286D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002" y="501931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4. Which one of the following is </a:t>
            </a:r>
            <a:r>
              <a:rPr lang="en-US" altLang="zh-CN" sz="4400" dirty="0">
                <a:solidFill>
                  <a:srgbClr val="FF0000"/>
                </a:solidFill>
                <a:ea typeface="SimSun" panose="02010600030101010101" pitchFamily="2" charset="-122"/>
              </a:rPr>
              <a:t>NOT </a:t>
            </a:r>
            <a:r>
              <a:rPr lang="en-US" altLang="zh-CN" sz="4400" dirty="0">
                <a:ea typeface="SimSun" panose="02010600030101010101" pitchFamily="2" charset="-122"/>
              </a:rPr>
              <a:t>a part of doing an inductive proof?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324041-CF8B-8DA5-6F0F-CB1B76FD1C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1946014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Clearly state the induction hypothesis.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Make a proper inductive definition.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Clearly state what you are doing induction on.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Show one case for each rule in the inductive definition.</a:t>
            </a:r>
          </a:p>
        </p:txBody>
      </p:sp>
    </p:spTree>
    <p:extLst>
      <p:ext uri="{BB962C8B-B14F-4D97-AF65-F5344CB8AC3E}">
        <p14:creationId xmlns:p14="http://schemas.microsoft.com/office/powerpoint/2010/main" val="34336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2ACE-6626-1728-B771-3B39A21B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E5649-8A3D-C5FE-4BA6-D3960140B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66264"/>
            <a:ext cx="10988233" cy="2715831"/>
          </a:xfrm>
        </p:spPr>
        <p:txBody>
          <a:bodyPr>
            <a:normAutofit fontScale="90000"/>
          </a:bodyPr>
          <a:lstStyle/>
          <a:p>
            <a:r>
              <a:rPr lang="en-US" altLang="zh-CN" sz="4400" dirty="0">
                <a:ea typeface="SimSun" panose="02010600030101010101" pitchFamily="2" charset="-122"/>
              </a:rPr>
              <a:t>5. If the structure of your induction hypothesis is “</a:t>
            </a:r>
            <a:r>
              <a:rPr lang="en-US" altLang="zh-CN" sz="4400" i="1" dirty="0">
                <a:ea typeface="SimSun" panose="02010600030101010101" pitchFamily="2" charset="-122"/>
              </a:rPr>
              <a:t>If X </a:t>
            </a:r>
            <a:r>
              <a:rPr lang="en-US" altLang="zh-CN" sz="4400" i="1" dirty="0">
                <a:solidFill>
                  <a:srgbClr val="FF0000"/>
                </a:solidFill>
                <a:ea typeface="SimSun" panose="02010600030101010101" pitchFamily="2" charset="-122"/>
              </a:rPr>
              <a:t>or </a:t>
            </a:r>
            <a:r>
              <a:rPr lang="en-US" altLang="zh-CN" sz="4400" i="1" dirty="0">
                <a:ea typeface="SimSun" panose="02010600030101010101" pitchFamily="2" charset="-122"/>
              </a:rPr>
              <a:t>Y then A</a:t>
            </a:r>
            <a:r>
              <a:rPr lang="en-US" altLang="zh-CN" sz="4400" dirty="0">
                <a:ea typeface="SimSun" panose="02010600030101010101" pitchFamily="2" charset="-122"/>
              </a:rPr>
              <a:t>”, which of the following things is </a:t>
            </a:r>
            <a:r>
              <a:rPr lang="en-US" altLang="zh-CN" sz="4400" dirty="0">
                <a:solidFill>
                  <a:srgbClr val="FF0000"/>
                </a:solidFill>
                <a:ea typeface="SimSun" panose="02010600030101010101" pitchFamily="2" charset="-122"/>
              </a:rPr>
              <a:t>proper</a:t>
            </a:r>
            <a:r>
              <a:rPr lang="en-US" altLang="zh-CN" sz="4400" dirty="0">
                <a:ea typeface="SimSun" panose="02010600030101010101" pitchFamily="2" charset="-122"/>
              </a:rPr>
              <a:t> for you to assume and prove?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F00C70-4C67-CB83-D71D-00BD01C40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3068759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or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and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or Assume Y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and Assume Y prove 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8397E1-BB3F-5173-8226-D6AB077371BF}"/>
              </a:ext>
            </a:extLst>
          </p:cNvPr>
          <p:cNvSpPr txBox="1"/>
          <p:nvPr/>
        </p:nvSpPr>
        <p:spPr>
          <a:xfrm>
            <a:off x="7196559" y="3244334"/>
            <a:ext cx="16812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(X∨Y)⇒A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0F455-87E4-9296-1EAF-7061FEB703F3}"/>
              </a:ext>
            </a:extLst>
          </p:cNvPr>
          <p:cNvSpPr txBox="1"/>
          <p:nvPr/>
        </p:nvSpPr>
        <p:spPr>
          <a:xfrm>
            <a:off x="7196559" y="3831108"/>
            <a:ext cx="16812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(X∧Y)⇒A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C28E1-AD8D-BCE3-821E-73406EBBD754}"/>
              </a:ext>
            </a:extLst>
          </p:cNvPr>
          <p:cNvSpPr txBox="1"/>
          <p:nvPr/>
        </p:nvSpPr>
        <p:spPr>
          <a:xfrm>
            <a:off x="10175497" y="4564442"/>
            <a:ext cx="18760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(X⇒A)∨(Y⇒A)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ECE070-CBFE-5206-09F2-C6D12146CFA7}"/>
              </a:ext>
            </a:extLst>
          </p:cNvPr>
          <p:cNvSpPr txBox="1"/>
          <p:nvPr/>
        </p:nvSpPr>
        <p:spPr>
          <a:xfrm>
            <a:off x="10175497" y="5200408"/>
            <a:ext cx="18760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(X⇒A)∧(Y⇒A)</a:t>
            </a:r>
          </a:p>
        </p:txBody>
      </p:sp>
    </p:spTree>
    <p:extLst>
      <p:ext uri="{BB962C8B-B14F-4D97-AF65-F5344CB8AC3E}">
        <p14:creationId xmlns:p14="http://schemas.microsoft.com/office/powerpoint/2010/main" val="3564242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A4D9D-1E47-457A-2BFA-6CEA33C37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0CEFD3-4127-BAEB-359B-3539B6E0E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4"/>
            <a:ext cx="10895635" cy="2902493"/>
          </a:xfrm>
        </p:spPr>
        <p:txBody>
          <a:bodyPr>
            <a:normAutofit/>
          </a:bodyPr>
          <a:lstStyle/>
          <a:p>
            <a:r>
              <a:rPr lang="en-US" altLang="zh-CN" sz="4000" dirty="0">
                <a:ea typeface="SimSun" panose="02010600030101010101" pitchFamily="2" charset="-122"/>
              </a:rPr>
              <a:t>6. If the structure of your induction hypothesis is “</a:t>
            </a:r>
            <a:r>
              <a:rPr lang="en-US" altLang="zh-CN" sz="4000" i="1" dirty="0">
                <a:ea typeface="SimSun" panose="02010600030101010101" pitchFamily="2" charset="-122"/>
              </a:rPr>
              <a:t>If X </a:t>
            </a:r>
            <a:r>
              <a:rPr lang="en-US" altLang="zh-CN" sz="4000" i="1" dirty="0">
                <a:solidFill>
                  <a:srgbClr val="FF0000"/>
                </a:solidFill>
                <a:ea typeface="SimSun" panose="02010600030101010101" pitchFamily="2" charset="-122"/>
              </a:rPr>
              <a:t>and </a:t>
            </a:r>
            <a:r>
              <a:rPr lang="en-US" altLang="zh-CN" sz="4000" i="1" dirty="0">
                <a:ea typeface="SimSun" panose="02010600030101010101" pitchFamily="2" charset="-122"/>
              </a:rPr>
              <a:t>Y then A</a:t>
            </a:r>
            <a:r>
              <a:rPr lang="en-US" altLang="zh-CN" sz="4000" dirty="0">
                <a:ea typeface="SimSun" panose="02010600030101010101" pitchFamily="2" charset="-122"/>
              </a:rPr>
              <a:t>”, which of the following things is </a:t>
            </a:r>
            <a:r>
              <a:rPr lang="en-US" altLang="zh-CN" sz="4000" dirty="0">
                <a:solidFill>
                  <a:srgbClr val="FF0000"/>
                </a:solidFill>
                <a:ea typeface="SimSun" panose="02010600030101010101" pitchFamily="2" charset="-122"/>
              </a:rPr>
              <a:t>proper</a:t>
            </a:r>
            <a:r>
              <a:rPr lang="en-US" altLang="zh-CN" sz="4000" dirty="0">
                <a:ea typeface="SimSun" panose="02010600030101010101" pitchFamily="2" charset="-122"/>
              </a:rPr>
              <a:t> for you to assume and prove?</a:t>
            </a:r>
            <a:endParaRPr lang="en-US" sz="40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7EE284-535D-2878-8DA6-21C18284B3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" y="3068758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or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and Y,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or Assume Y prove A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Assume X prove A, and Assume Y prove A</a:t>
            </a:r>
          </a:p>
        </p:txBody>
      </p:sp>
    </p:spTree>
    <p:extLst>
      <p:ext uri="{BB962C8B-B14F-4D97-AF65-F5344CB8AC3E}">
        <p14:creationId xmlns:p14="http://schemas.microsoft.com/office/powerpoint/2010/main" val="67604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1C2D2-D1A6-031B-1B5F-38D150456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3B2864-C303-38F7-1D76-98B54DBFF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4"/>
            <a:ext cx="10895635" cy="2902493"/>
          </a:xfrm>
        </p:spPr>
        <p:txBody>
          <a:bodyPr>
            <a:normAutofit/>
          </a:bodyPr>
          <a:lstStyle/>
          <a:p>
            <a:r>
              <a:rPr lang="en-US" sz="4000" dirty="0"/>
              <a:t>7. To prove that a judgement form holds for a specific instance, typically we use: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790B30-1EA6-8080-449C-BB9CCB6BFD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" y="3068758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Derivation (tree)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Proof by induction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Proof by exhaustion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altLang="zh-CN" sz="3600" dirty="0">
                <a:ea typeface="SimSun" panose="02010600030101010101" pitchFamily="2" charset="-122"/>
              </a:rPr>
              <a:t>Flow charts</a:t>
            </a:r>
          </a:p>
        </p:txBody>
      </p:sp>
    </p:spTree>
    <p:extLst>
      <p:ext uri="{BB962C8B-B14F-4D97-AF65-F5344CB8AC3E}">
        <p14:creationId xmlns:p14="http://schemas.microsoft.com/office/powerpoint/2010/main" val="3774617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9782A-F60F-0790-EECA-F8E35020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BF2638-8841-CE99-CCD3-0F3A3649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64"/>
            <a:ext cx="10895635" cy="2902493"/>
          </a:xfrm>
        </p:spPr>
        <p:txBody>
          <a:bodyPr>
            <a:normAutofit/>
          </a:bodyPr>
          <a:lstStyle/>
          <a:p>
            <a:r>
              <a:rPr lang="en-US" sz="4000" dirty="0"/>
              <a:t>8. In an </a:t>
            </a:r>
            <a:r>
              <a:rPr lang="en-US" sz="4000" dirty="0">
                <a:solidFill>
                  <a:srgbClr val="FF0000"/>
                </a:solidFill>
              </a:rPr>
              <a:t>induction proof</a:t>
            </a:r>
            <a:r>
              <a:rPr lang="en-US" sz="4000" dirty="0"/>
              <a:t>, each case typically refers to: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EA78D0-3DB0-6F61-BFC3-FB2B48CFAD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" y="2686794"/>
            <a:ext cx="11856720" cy="3391477"/>
          </a:xfrm>
        </p:spPr>
        <p:txBody>
          <a:bodyPr vert="horz" lIns="121920" tIns="60960" rIns="121920" bIns="60960" rtlCol="0" anchor="t">
            <a:normAutofit/>
          </a:bodyPr>
          <a:lstStyle/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possible value of the variables 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inference rule in the inductive definition 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arithmetic operation </a:t>
            </a:r>
          </a:p>
          <a:p>
            <a:pPr marL="1009650" indent="-742950">
              <a:buSzPct val="100000"/>
              <a:buFont typeface="Gill Sans" panose="020B0502020104020203" charset="0"/>
              <a:buAutoNum type="alphaLcPeriod"/>
            </a:pPr>
            <a:r>
              <a:rPr lang="en-US" sz="3600" dirty="0"/>
              <a:t>Each possible conclusion</a:t>
            </a:r>
            <a:endParaRPr lang="en-US" altLang="zh-CN" sz="3600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62130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7FE5D-8AFB-F1E6-E4FB-7892A440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CA9DB67-85C8-639B-09F3-BB28E28BFEC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09600" y="166264"/>
                <a:ext cx="11277600" cy="4533058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sz="3000" dirty="0"/>
                  <a:t>9.</a:t>
                </a:r>
                <a:br>
                  <a:rPr lang="en-US" sz="3000" dirty="0"/>
                </a:br>
                <a:r>
                  <a:rPr lang="en-US" sz="3000" dirty="0"/>
                  <a:t>(a) Give an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inductive definition </a:t>
                </a:r>
                <a:r>
                  <a:rPr lang="en-US" sz="3000" dirty="0"/>
                  <a:t>of the judgment form</a:t>
                </a:r>
                <a:br>
                  <a:rPr lang="en-US" sz="3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 b="0"/>
                        <m:t>max</m:t>
                      </m:r>
                      <m:r>
                        <m:rPr>
                          <m:nor/>
                        </m:rPr>
                        <a:rPr lang="en-US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 sz="3000" b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ar-AE" sz="3000" b="0" dirty="0"/>
                </a:br>
                <a:r>
                  <a:rPr lang="en-US" sz="3000" dirty="0"/>
                  <a:t>which indicates the maximum number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3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0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3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300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sz="3000" dirty="0"/>
                  <a:t>.</a:t>
                </a:r>
                <a:r>
                  <a:rPr lang="en-US" sz="3000" dirty="0"/>
                  <a:t> </a:t>
                </a:r>
                <a:br>
                  <a:rPr lang="en-US" sz="3000" dirty="0"/>
                </a:br>
                <a:r>
                  <a:rPr lang="en-US" sz="3000" dirty="0"/>
                  <a:t>(Hint: Consider the inductive definition of </a:t>
                </a:r>
                <a:r>
                  <a:rPr lang="en-US" sz="3000" b="0" i="1" dirty="0"/>
                  <a:t>add</a:t>
                </a:r>
                <a:r>
                  <a:rPr lang="en-US" sz="3000" dirty="0"/>
                  <a:t> based on the inductive structure of </a:t>
                </a:r>
                <a:r>
                  <a:rPr lang="en-US" sz="3000" b="0" i="1" dirty="0"/>
                  <a:t>n </a:t>
                </a:r>
                <a:r>
                  <a:rPr lang="en-US" sz="3000" b="0" i="1" dirty="0" err="1"/>
                  <a:t>nat</a:t>
                </a:r>
                <a:r>
                  <a:rPr lang="en-US" sz="3000" dirty="0"/>
                  <a:t>)</a:t>
                </a:r>
                <a:br>
                  <a:rPr lang="en-US" sz="3000" dirty="0"/>
                </a:br>
                <a:br>
                  <a:rPr lang="ar-AE" sz="3000" dirty="0"/>
                </a:br>
                <a:endParaRPr lang="ar-AE" sz="3000" b="0" dirty="0"/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9CA9DB67-85C8-639B-09F3-BB28E28BFE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09600" y="166264"/>
                <a:ext cx="11277600" cy="4533058"/>
              </a:xfrm>
              <a:blipFill>
                <a:blip r:embed="rId3"/>
                <a:stretch>
                  <a:fillRect l="-1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976707D-A407-40A6-3EB9-F62A1D2ED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828" y="3688308"/>
            <a:ext cx="7163336" cy="2365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22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E10C7-2217-F988-7A18-892633D5E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F36774-480E-B8A2-283D-4D9604892531}"/>
                  </a:ext>
                </a:extLst>
              </p:cNvPr>
              <p:cNvSpPr txBox="1"/>
              <p:nvPr/>
            </p:nvSpPr>
            <p:spPr>
              <a:xfrm>
                <a:off x="720524" y="215850"/>
                <a:ext cx="10043932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3000" dirty="0"/>
                  <a:t>(b) </a:t>
                </a:r>
                <a:r>
                  <a:rPr lang="en-US" sz="3000" dirty="0">
                    <a:solidFill>
                      <a:srgbClr val="FF0000"/>
                    </a:solidFill>
                  </a:rPr>
                  <a:t>Prove by induction</a:t>
                </a:r>
                <a:r>
                  <a:rPr lang="en-US" sz="3000" dirty="0"/>
                  <a:t>: if</a:t>
                </a:r>
                <a:br>
                  <a:rPr lang="en-US" sz="3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 b="0"/>
                        <m:t>max</m:t>
                      </m:r>
                      <m:r>
                        <m:rPr>
                          <m:nor/>
                        </m:rPr>
                        <a:rPr lang="en-US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 sz="3000" b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br>
                  <a:rPr lang="ar-AE" sz="3000" b="0" dirty="0"/>
                </a:br>
                <a:r>
                  <a:rPr lang="en-US" sz="3000" dirty="0"/>
                  <a:t>then</a:t>
                </a:r>
                <a:br>
                  <a:rPr lang="en-US" sz="3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 b="0"/>
                        <m:t>max</m:t>
                      </m:r>
                      <m:r>
                        <m:rPr>
                          <m:nor/>
                        </m:rPr>
                        <a:rPr lang="en-US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ar-AE" sz="3000" b="0" i="1"/>
                        <m:t> </m:t>
                      </m:r>
                      <m:sSub>
                        <m:sSubPr>
                          <m:ctrlPr>
                            <a:rPr lang="ar-AE" sz="3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0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ar-AE" sz="3000" b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 sz="3000" b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F36774-480E-B8A2-283D-4D9604892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524" y="215850"/>
                <a:ext cx="10043932" cy="1938992"/>
              </a:xfrm>
              <a:prstGeom prst="rect">
                <a:avLst/>
              </a:prstGeom>
              <a:blipFill>
                <a:blip r:embed="rId3"/>
                <a:stretch>
                  <a:fillRect l="-1396" t="-4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CC458B5-81A9-6FA9-BB42-4B4FDF244B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5518" y="2461842"/>
            <a:ext cx="8411146" cy="43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08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9EC25-D912-C551-D584-C9F8D6CA1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19AAD9-A65D-078F-4C4B-3E75B955FC46}"/>
              </a:ext>
            </a:extLst>
          </p:cNvPr>
          <p:cNvSpPr txBox="1"/>
          <p:nvPr/>
        </p:nvSpPr>
        <p:spPr>
          <a:xfrm>
            <a:off x="127321" y="-15996"/>
            <a:ext cx="17524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HW 2</a:t>
            </a:r>
            <a:r>
              <a:rPr lang="en-CN" sz="4400" dirty="0"/>
              <a:t>:</a:t>
            </a:r>
            <a:endParaRPr lang="en-US" sz="4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9B4B39-DED3-B5B1-AFC0-F0BC7D582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443" y="987833"/>
            <a:ext cx="10569113" cy="21026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39A7C1-AC61-539A-2E75-D4E75CBC6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443" y="3324829"/>
            <a:ext cx="6638095" cy="11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1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36BE8-4EC4-78D2-D3DB-A4C354D63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6923A15-DB15-7C31-1164-82C6BA2F2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E844A4-5BAA-B596-44D6-A233935E4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307" y="1461665"/>
            <a:ext cx="8413386" cy="480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3090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A192C-6867-74FA-6258-B8DF4085C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85D172-4968-18B1-C8E4-2895B27AB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E8802F-4EFD-88F8-DB5E-F87CC1748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587" y="318665"/>
            <a:ext cx="8788469" cy="530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7462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EA90-AD1F-FA4D-76F0-337B12757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7F7953-2B23-8702-BF2D-B259FCF9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5B36C1-D962-2080-D03E-CE7007445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448" y="318665"/>
            <a:ext cx="8729018" cy="5396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0977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341B-3A19-20F8-007E-6E44B284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25C4EF-3108-A7B3-0898-6FD02600D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12" y="0"/>
            <a:ext cx="10459094" cy="18002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81CE4A-87BB-A005-9032-09E9E5021F00}"/>
              </a:ext>
            </a:extLst>
          </p:cNvPr>
          <p:cNvSpPr txBox="1"/>
          <p:nvPr/>
        </p:nvSpPr>
        <p:spPr>
          <a:xfrm>
            <a:off x="676512" y="1800214"/>
            <a:ext cx="1133801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 By induction on the derivation of </a:t>
            </a:r>
            <a:r>
              <a:rPr lang="en-US" dirty="0" err="1"/>
              <a:t>len</a:t>
            </a:r>
            <a:r>
              <a:rPr lang="en-US" dirty="0"/>
              <a:t> l n.</a:t>
            </a:r>
          </a:p>
          <a:p>
            <a:r>
              <a:rPr lang="en-US" dirty="0"/>
              <a:t>Case 1: </a:t>
            </a:r>
          </a:p>
          <a:p>
            <a:endParaRPr lang="en-US" dirty="0"/>
          </a:p>
          <a:p>
            <a:r>
              <a:rPr lang="en-US" dirty="0"/>
              <a:t>Need to prove: If </a:t>
            </a:r>
            <a:r>
              <a:rPr lang="en-US" dirty="0" err="1"/>
              <a:t>len</a:t>
            </a:r>
            <a:r>
              <a:rPr lang="en-US" dirty="0"/>
              <a:t> nil n, and append nil n1 l’, then </a:t>
            </a:r>
            <a:r>
              <a:rPr lang="en-US" dirty="0" err="1"/>
              <a:t>len</a:t>
            </a:r>
            <a:r>
              <a:rPr lang="en-US" dirty="0"/>
              <a:t> l’ (Sn).</a:t>
            </a:r>
          </a:p>
          <a:p>
            <a:endParaRPr lang="en-US" dirty="0"/>
          </a:p>
          <a:p>
            <a:pPr marL="342900" indent="-342900">
              <a:buAutoNum type="arabicParenBoth"/>
            </a:pPr>
            <a:r>
              <a:rPr lang="en-US" dirty="0"/>
              <a:t>Len nil z                             		</a:t>
            </a:r>
            <a:r>
              <a:rPr lang="en-US" b="1" dirty="0"/>
              <a:t>(By </a:t>
            </a:r>
            <a:r>
              <a:rPr lang="en-US" b="1" i="1" dirty="0"/>
              <a:t>[</a:t>
            </a:r>
            <a:r>
              <a:rPr lang="en-US" b="1" i="1" dirty="0" err="1"/>
              <a:t>len</a:t>
            </a:r>
            <a:r>
              <a:rPr lang="en-US" b="1" i="1" dirty="0"/>
              <a:t>-nil]</a:t>
            </a:r>
            <a:r>
              <a:rPr lang="en-US" b="1" dirty="0"/>
              <a:t>)</a:t>
            </a:r>
          </a:p>
          <a:p>
            <a:pPr marL="342900" indent="-342900">
              <a:buAutoNum type="arabicParenBoth"/>
            </a:pPr>
            <a:r>
              <a:rPr lang="en-US" dirty="0"/>
              <a:t>Append nil n1 cons(n1,nil) 		</a:t>
            </a:r>
            <a:r>
              <a:rPr lang="en-US" b="1" dirty="0"/>
              <a:t>(By </a:t>
            </a:r>
            <a:r>
              <a:rPr lang="en-US" b="1" i="1" dirty="0"/>
              <a:t>[append-nil]</a:t>
            </a:r>
            <a:r>
              <a:rPr lang="en-US" b="1" dirty="0"/>
              <a:t> and n=n1)</a:t>
            </a:r>
          </a:p>
          <a:p>
            <a:pPr marL="342900" indent="-342900">
              <a:buAutoNum type="arabicParenBoth"/>
            </a:pPr>
            <a:r>
              <a:rPr lang="en-US" dirty="0"/>
              <a:t>Len cons(n1,nil) (</a:t>
            </a:r>
            <a:r>
              <a:rPr lang="en-US" dirty="0" err="1"/>
              <a:t>Sz</a:t>
            </a:r>
            <a:r>
              <a:rPr lang="en-US" dirty="0"/>
              <a:t>)        		</a:t>
            </a:r>
            <a:r>
              <a:rPr lang="en-US" b="1" dirty="0"/>
              <a:t>(By (1) and </a:t>
            </a:r>
            <a:r>
              <a:rPr lang="en-US" b="1" i="1" dirty="0"/>
              <a:t>[</a:t>
            </a:r>
            <a:r>
              <a:rPr lang="en-US" b="1" i="1" dirty="0" err="1"/>
              <a:t>len</a:t>
            </a:r>
            <a:r>
              <a:rPr lang="en-US" b="1" i="1" dirty="0"/>
              <a:t>-cons]</a:t>
            </a:r>
            <a:r>
              <a:rPr lang="en-US" b="1" dirty="0"/>
              <a:t>, let l’=cons(n1,nil), n=z)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FEF46-1839-49A5-A19F-CC4A6B861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7805" y="2164294"/>
            <a:ext cx="1904762" cy="4952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B0B122-BF84-9567-3DB9-1F58715CFA40}"/>
              </a:ext>
            </a:extLst>
          </p:cNvPr>
          <p:cNvSpPr txBox="1"/>
          <p:nvPr/>
        </p:nvSpPr>
        <p:spPr>
          <a:xfrm>
            <a:off x="676511" y="4385537"/>
            <a:ext cx="111296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 2: </a:t>
            </a:r>
          </a:p>
          <a:p>
            <a:r>
              <a:rPr lang="en-US" dirty="0"/>
              <a:t>Need to prove: If </a:t>
            </a:r>
            <a:r>
              <a:rPr lang="en-US" dirty="0" err="1"/>
              <a:t>len</a:t>
            </a:r>
            <a:r>
              <a:rPr lang="en-US" dirty="0"/>
              <a:t> cons(n1,l) Sn, and append cons(n1,l) n2 l’’, then </a:t>
            </a:r>
            <a:r>
              <a:rPr lang="en-US" dirty="0" err="1"/>
              <a:t>len</a:t>
            </a:r>
            <a:r>
              <a:rPr lang="en-US" dirty="0"/>
              <a:t> l’’ (S(Sn)).</a:t>
            </a:r>
          </a:p>
          <a:p>
            <a:pPr marL="342900" indent="-342900">
              <a:buAutoNum type="arabicParenBoth"/>
            </a:pPr>
            <a:r>
              <a:rPr lang="en-US" dirty="0"/>
              <a:t>Append l n2 l’                               	</a:t>
            </a:r>
            <a:r>
              <a:rPr lang="en-US" b="1" dirty="0"/>
              <a:t>(By assumption &amp; let n1=n2)</a:t>
            </a:r>
          </a:p>
          <a:p>
            <a:pPr marL="342900" indent="-342900">
              <a:buFontTx/>
              <a:buAutoNum type="arabicParenBoth"/>
            </a:pPr>
            <a:r>
              <a:rPr lang="en-US" dirty="0"/>
              <a:t>Append cons(n1,l) n2 cons(n1,l’) 	</a:t>
            </a:r>
            <a:r>
              <a:rPr lang="en-US" b="1" dirty="0"/>
              <a:t>(By (1) &amp; </a:t>
            </a:r>
            <a:r>
              <a:rPr lang="en-US" b="1" i="1" dirty="0"/>
              <a:t>[append-cons])</a:t>
            </a:r>
          </a:p>
          <a:p>
            <a:pPr marL="342900" indent="-342900">
              <a:buFontTx/>
              <a:buAutoNum type="arabicParenBoth"/>
            </a:pPr>
            <a:r>
              <a:rPr lang="en-US" dirty="0"/>
              <a:t>Len cons(n1,l’) (S(Sn))                 	</a:t>
            </a:r>
            <a:r>
              <a:rPr lang="en-US" b="1" dirty="0"/>
              <a:t>(By I.H. &amp; </a:t>
            </a:r>
            <a:r>
              <a:rPr lang="en-US" b="1" i="1" dirty="0"/>
              <a:t>[</a:t>
            </a:r>
            <a:r>
              <a:rPr lang="en-US" b="1" i="1" dirty="0" err="1"/>
              <a:t>len</a:t>
            </a:r>
            <a:r>
              <a:rPr lang="en-US" b="1" i="1" dirty="0"/>
              <a:t>-cons] </a:t>
            </a:r>
            <a:r>
              <a:rPr lang="en-US" b="1" dirty="0"/>
              <a:t>&amp; </a:t>
            </a:r>
            <a:r>
              <a:rPr lang="en-US" altLang="zh-CN" b="1" dirty="0"/>
              <a:t>let l’’=cons(n1,l’)</a:t>
            </a:r>
            <a:r>
              <a:rPr lang="en-US" b="1" dirty="0"/>
              <a:t>)</a:t>
            </a:r>
          </a:p>
          <a:p>
            <a:pPr marL="342900" indent="-342900">
              <a:buAutoNum type="arabicParenBoth"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6E7AB3-882F-3700-4F78-DD11D55886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155"/>
          <a:stretch>
            <a:fillRect/>
          </a:stretch>
        </p:blipFill>
        <p:spPr>
          <a:xfrm>
            <a:off x="1775149" y="4042680"/>
            <a:ext cx="2831576" cy="6857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71D4866-826A-37A9-46D3-6E6909F462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260"/>
          <a:stretch>
            <a:fillRect/>
          </a:stretch>
        </p:blipFill>
        <p:spPr>
          <a:xfrm>
            <a:off x="3750197" y="1133547"/>
            <a:ext cx="6065413" cy="6666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6A0B9E7-1008-8FC0-FD86-802AE51BA9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6796" y="6248476"/>
            <a:ext cx="3933333" cy="60952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7018C1C-C56B-7C21-0E7D-0322315569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2903" y="6111542"/>
            <a:ext cx="4876190" cy="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763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90F4E-F568-D2B1-9892-16B5CFD39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1AD2CC8-E1D2-BC89-62D4-7779CFA32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421" y="0"/>
            <a:ext cx="9780989" cy="22604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746C6C-614D-0759-EB65-7A32F39C8D29}"/>
              </a:ext>
            </a:extLst>
          </p:cNvPr>
          <p:cNvSpPr txBox="1"/>
          <p:nvPr/>
        </p:nvSpPr>
        <p:spPr>
          <a:xfrm>
            <a:off x="3888946" y="2260495"/>
            <a:ext cx="934077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(b) proof: By induction on the derivation of </a:t>
            </a:r>
            <a:r>
              <a:rPr lang="en-US" dirty="0" err="1"/>
              <a:t>leq</a:t>
            </a:r>
            <a:r>
              <a:rPr lang="en-US" dirty="0"/>
              <a:t> n1 n2</a:t>
            </a:r>
          </a:p>
          <a:p>
            <a:r>
              <a:rPr lang="en-US" dirty="0"/>
              <a:t>Case 1: </a:t>
            </a:r>
          </a:p>
          <a:p>
            <a:endParaRPr lang="en-US" dirty="0"/>
          </a:p>
          <a:p>
            <a:r>
              <a:rPr lang="en-US" dirty="0"/>
              <a:t>Need to prove: If z </a:t>
            </a:r>
            <a:r>
              <a:rPr lang="en-US" dirty="0" err="1"/>
              <a:t>nat</a:t>
            </a:r>
            <a:r>
              <a:rPr lang="en-US" dirty="0"/>
              <a:t>, n2 </a:t>
            </a:r>
            <a:r>
              <a:rPr lang="en-US" dirty="0" err="1"/>
              <a:t>nat</a:t>
            </a:r>
            <a:r>
              <a:rPr lang="en-US" dirty="0"/>
              <a:t>, </a:t>
            </a:r>
            <a:r>
              <a:rPr lang="en-US" dirty="0" err="1"/>
              <a:t>leq</a:t>
            </a:r>
            <a:r>
              <a:rPr lang="en-US" dirty="0"/>
              <a:t> z n2 and </a:t>
            </a:r>
            <a:r>
              <a:rPr lang="en-US" dirty="0" err="1"/>
              <a:t>leq</a:t>
            </a:r>
            <a:r>
              <a:rPr lang="en-US" dirty="0"/>
              <a:t> n2 z, then z=n2</a:t>
            </a:r>
          </a:p>
          <a:p>
            <a:pPr marL="342900" indent="-342900">
              <a:buAutoNum type="arabicParenBoth"/>
            </a:pPr>
            <a:r>
              <a:rPr lang="en-US" dirty="0" err="1"/>
              <a:t>leq</a:t>
            </a:r>
            <a:r>
              <a:rPr lang="en-US" dirty="0"/>
              <a:t> n2 z       		</a:t>
            </a:r>
            <a:r>
              <a:rPr lang="en-US" b="1" dirty="0"/>
              <a:t>(by assumption)</a:t>
            </a:r>
          </a:p>
          <a:p>
            <a:pPr marL="342900" indent="-342900">
              <a:buAutoNum type="arabicParenBoth"/>
            </a:pPr>
            <a:r>
              <a:rPr lang="en-US" dirty="0"/>
              <a:t>n2=z            		</a:t>
            </a:r>
            <a:r>
              <a:rPr lang="en-US" b="1" dirty="0"/>
              <a:t>(by (1), only possible if left is Z)</a:t>
            </a:r>
          </a:p>
          <a:p>
            <a:endParaRPr lang="en-US" dirty="0"/>
          </a:p>
          <a:p>
            <a:r>
              <a:rPr lang="en-US" dirty="0"/>
              <a:t>Case 2:</a:t>
            </a:r>
          </a:p>
          <a:p>
            <a:endParaRPr lang="en-US" dirty="0"/>
          </a:p>
          <a:p>
            <a:r>
              <a:rPr lang="en-US" dirty="0"/>
              <a:t>Need to prove: If Sn1 </a:t>
            </a:r>
            <a:r>
              <a:rPr lang="en-US" dirty="0" err="1"/>
              <a:t>nat</a:t>
            </a:r>
            <a:r>
              <a:rPr lang="en-US" dirty="0"/>
              <a:t>, Sn2 </a:t>
            </a:r>
            <a:r>
              <a:rPr lang="en-US" dirty="0" err="1"/>
              <a:t>nat</a:t>
            </a:r>
            <a:r>
              <a:rPr lang="en-US" dirty="0"/>
              <a:t>, </a:t>
            </a:r>
            <a:r>
              <a:rPr lang="en-US" dirty="0" err="1"/>
              <a:t>leq</a:t>
            </a:r>
            <a:r>
              <a:rPr lang="en-US" dirty="0"/>
              <a:t> Sn1 Sn2 and </a:t>
            </a:r>
            <a:r>
              <a:rPr lang="en-US" dirty="0" err="1"/>
              <a:t>leq</a:t>
            </a:r>
            <a:r>
              <a:rPr lang="en-US" dirty="0"/>
              <a:t> Sn2 Sn1, then Sn1=Sn2</a:t>
            </a:r>
          </a:p>
          <a:p>
            <a:pPr marL="342900" indent="-342900">
              <a:buAutoNum type="arabicParenBoth"/>
            </a:pPr>
            <a:r>
              <a:rPr lang="en-US" dirty="0" err="1"/>
              <a:t>leq</a:t>
            </a:r>
            <a:r>
              <a:rPr lang="en-US" dirty="0"/>
              <a:t> n1 n2		</a:t>
            </a:r>
            <a:r>
              <a:rPr lang="en-US" b="1" dirty="0"/>
              <a:t>(by assumption (premises)) </a:t>
            </a:r>
          </a:p>
          <a:p>
            <a:pPr marL="342900" indent="-342900">
              <a:buAutoNum type="arabicParenBoth"/>
            </a:pPr>
            <a:r>
              <a:rPr lang="en-US" dirty="0" err="1"/>
              <a:t>leq</a:t>
            </a:r>
            <a:r>
              <a:rPr lang="en-US" dirty="0"/>
              <a:t> S(n2) S(n1)	</a:t>
            </a:r>
            <a:r>
              <a:rPr lang="en-US" b="1" dirty="0"/>
              <a:t>(by assumption) </a:t>
            </a:r>
          </a:p>
          <a:p>
            <a:pPr marL="342900" indent="-342900">
              <a:buAutoNum type="arabicParenBoth"/>
            </a:pPr>
            <a:r>
              <a:rPr lang="en-US" dirty="0" err="1"/>
              <a:t>leq</a:t>
            </a:r>
            <a:r>
              <a:rPr lang="en-US" dirty="0"/>
              <a:t> n2 n1		</a:t>
            </a:r>
            <a:r>
              <a:rPr lang="en-US" b="1" dirty="0"/>
              <a:t>(by (2) &amp; inversion of </a:t>
            </a:r>
            <a:r>
              <a:rPr lang="en-US" b="1" i="1" dirty="0"/>
              <a:t>[</a:t>
            </a:r>
            <a:r>
              <a:rPr lang="en-US" b="1" i="1" dirty="0" err="1"/>
              <a:t>leqS</a:t>
            </a:r>
            <a:r>
              <a:rPr lang="en-US" b="1" i="1" dirty="0"/>
              <a:t>]</a:t>
            </a:r>
            <a:r>
              <a:rPr lang="en-US" b="1" dirty="0"/>
              <a:t>)</a:t>
            </a:r>
          </a:p>
          <a:p>
            <a:pPr marL="342900" indent="-342900">
              <a:buAutoNum type="arabicParenBoth"/>
            </a:pPr>
            <a:r>
              <a:rPr lang="en-US" dirty="0"/>
              <a:t>n1 = n2		</a:t>
            </a:r>
            <a:r>
              <a:rPr lang="en-US" b="1" dirty="0"/>
              <a:t>(by I.H. on (1) and (3))</a:t>
            </a:r>
          </a:p>
          <a:p>
            <a:pPr marL="342900" indent="-342900">
              <a:buAutoNum type="arabicParenBoth"/>
            </a:pPr>
            <a:r>
              <a:rPr lang="en-US" dirty="0"/>
              <a:t>S(n1) = S(n2)		</a:t>
            </a:r>
            <a:r>
              <a:rPr lang="en-US" b="1" dirty="0"/>
              <a:t>(by </a:t>
            </a:r>
            <a:r>
              <a:rPr lang="en-US" b="1" i="1" dirty="0"/>
              <a:t>[S] </a:t>
            </a:r>
            <a:r>
              <a:rPr lang="en-US" b="1" dirty="0"/>
              <a:t>f</a:t>
            </a:r>
            <a:r>
              <a:rPr lang="en-US" altLang="zh-CN" b="1" dirty="0"/>
              <a:t>ro</a:t>
            </a:r>
            <a:r>
              <a:rPr lang="en-US" b="1" dirty="0"/>
              <a:t>m </a:t>
            </a:r>
            <a:r>
              <a:rPr lang="en-US" b="1" i="1" dirty="0"/>
              <a:t>n </a:t>
            </a:r>
            <a:r>
              <a:rPr lang="en-US" b="1" i="1" dirty="0" err="1"/>
              <a:t>nat</a:t>
            </a:r>
            <a:r>
              <a:rPr lang="en-US" b="1" dirty="0"/>
              <a:t>)</a:t>
            </a:r>
          </a:p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6BCC00B-23A3-B743-183E-98FD9CB63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652" y="3286358"/>
            <a:ext cx="2333288" cy="169163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A6F6B32-78F5-F137-55FE-BBD1BF385B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3345" b="22844"/>
          <a:stretch>
            <a:fillRect/>
          </a:stretch>
        </p:blipFill>
        <p:spPr>
          <a:xfrm>
            <a:off x="4861027" y="2574962"/>
            <a:ext cx="1032279" cy="58095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5F0DF89-F03D-589D-13FC-C3897514D9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1027" y="4132175"/>
            <a:ext cx="1576937" cy="4861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105E8A2-CED8-76CB-62B9-673420430C4B}"/>
              </a:ext>
            </a:extLst>
          </p:cNvPr>
          <p:cNvSpPr txBox="1"/>
          <p:nvPr/>
        </p:nvSpPr>
        <p:spPr>
          <a:xfrm>
            <a:off x="821421" y="342900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769409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000"/>
    </mc:Choice>
    <mc:Fallback xmlns="">
      <p:transition spd="slow" advTm="6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1854878"/>
      </p:ext>
    </p:extLst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</TotalTime>
  <Words>1153</Words>
  <Application>Microsoft Office PowerPoint</Application>
  <PresentationFormat>Widescreen</PresentationFormat>
  <Paragraphs>152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Gill Sans</vt:lpstr>
      <vt:lpstr>黑体</vt:lpstr>
      <vt:lpstr>SimSun</vt:lpstr>
      <vt:lpstr>SimSun</vt:lpstr>
      <vt:lpstr>Aptos</vt:lpstr>
      <vt:lpstr>Arial</vt:lpstr>
      <vt:lpstr>Calibri</vt:lpstr>
      <vt:lpstr>Cambria Math</vt:lpstr>
      <vt:lpstr>Helvetica</vt:lpstr>
      <vt:lpstr>Wingdings</vt:lpstr>
      <vt:lpstr>UTA Accessible Template</vt:lpstr>
      <vt:lpstr>Tutorial 4</vt:lpstr>
      <vt:lpstr>Quiz2: Judgement and Judgement Form</vt:lpstr>
      <vt:lpstr>PowerPoint Presentation</vt:lpstr>
      <vt:lpstr>Quiz3: Derivation</vt:lpstr>
      <vt:lpstr>PowerPoint Presentation</vt:lpstr>
      <vt:lpstr>1. “succ(n) nat” is a judgement or judgement form ?</vt:lpstr>
      <vt:lpstr>2. Which one of the following is NOT a rule of definition of judgement form a = b + c?</vt:lpstr>
      <vt:lpstr>3. A top-down derivation of a judgement starts from ?</vt:lpstr>
      <vt:lpstr>4. Which one of the following is NOT a part of doing an inductive proof?</vt:lpstr>
      <vt:lpstr>5. If the structure of your induction hypothesis is “If X or Y then A”, which of the following things is proper for you to assume and prove?</vt:lpstr>
      <vt:lpstr>6. If the structure of your induction hypothesis is “If X and Y then A”, which of the following things is proper for you to assume and prove?</vt:lpstr>
      <vt:lpstr>7. To prove that a judgement form holds for a specific instance, typically we use:</vt:lpstr>
      <vt:lpstr>8. In an induction proof, each case typically refers to: </vt:lpstr>
      <vt:lpstr>9. (a) Give an inductive definition of the judgment form "max " n_1 " " n_2 " " n_3, which indicates the maximum number between n_1and n_2is n_3.  (Hint: Consider the inductive definition of add based on the inductive structure of n nat)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Zhang, Weiran</dc:creator>
  <cp:lastModifiedBy>Zhang, Weiran</cp:lastModifiedBy>
  <cp:revision>21</cp:revision>
  <dcterms:created xsi:type="dcterms:W3CDTF">2026-01-19T23:51:43Z</dcterms:created>
  <dcterms:modified xsi:type="dcterms:W3CDTF">2026-02-05T00:37:11Z</dcterms:modified>
</cp:coreProperties>
</file>