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446" r:id="rId3"/>
    <p:sldId id="257" r:id="rId4"/>
    <p:sldId id="449" r:id="rId5"/>
    <p:sldId id="452" r:id="rId6"/>
    <p:sldId id="453" r:id="rId7"/>
    <p:sldId id="371" r:id="rId8"/>
    <p:sldId id="448" r:id="rId9"/>
    <p:sldId id="450" r:id="rId10"/>
    <p:sldId id="451" r:id="rId11"/>
    <p:sldId id="447" r:id="rId12"/>
    <p:sldId id="454" r:id="rId13"/>
    <p:sldId id="455" r:id="rId14"/>
    <p:sldId id="456" r:id="rId15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1EDDDB-AFA8-6733-8F81-ECC332402AF8}" v="1" dt="2025-11-20T02:56:23.4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k, Wonjun" userId="S::wxp7177@mavs.uta.edu::b7ccadb5-266d-4b52-a139-568b916a9101" providerId="AD" clId="Web-{741EDDDB-AFA8-6733-8F81-ECC332402AF8}"/>
    <pc:docChg chg="delSld">
      <pc:chgData name="Park, Wonjun" userId="S::wxp7177@mavs.uta.edu::b7ccadb5-266d-4b52-a139-568b916a9101" providerId="AD" clId="Web-{741EDDDB-AFA8-6733-8F81-ECC332402AF8}" dt="2025-11-20T02:56:23.464" v="0"/>
      <pc:docMkLst>
        <pc:docMk/>
      </pc:docMkLst>
      <pc:sldChg chg="del">
        <pc:chgData name="Park, Wonjun" userId="S::wxp7177@mavs.uta.edu::b7ccadb5-266d-4b52-a139-568b916a9101" providerId="AD" clId="Web-{741EDDDB-AFA8-6733-8F81-ECC332402AF8}" dt="2025-11-20T02:56:23.464" v="0"/>
        <pc:sldMkLst>
          <pc:docMk/>
          <pc:sldMk cId="1642022803" sldId="411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9T18:01:06.219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</inkml:brush>
  </inkml:definitions>
  <inkml:trace contextRef="#ctx0" brushRef="#br0">1 89,'42'0,"-5"0,-22 0,1 0,1 0,0 0,1 0,1 0,3 0,6 0,8 0,4 0,4 0,-2 0,-3 0,0 0,-3 0,0 0,-2 0,-1 0,-2 0,0 0,2 0,-2 0,-1 0,0 0,-5 0,3 0,2 0,2 0,4 0,0 0,1 0,1 0,3 0,-1 0,-4 0,-9 0,-7 0,-3 0,-1 0,-1 0,6 0,-5 0,5 0,-6 0,0 0,1 0,3 0,2 0,2 0,2 0,0 0,3-1,2-2,1 0,-1 1,-2 2,-3 0,0 0,-3 0,-1 0,-2 0,-2 0,1-1,-1-1,0-1,3 1,0 1,3-1,2-1,0-1,2 0,-2-1,-2 1,-3 2,0 0,1 1,2-2,-2 1,-1-2,-1 0,-2 2,1 0,-1 0,0-1,0 1,1 0,-1 2,0 0,1 0,-3 0,0 0,2 0,-4 0,5 0,0 0,-3 0,5 0,-5 0,3 0,-1 0,0 0,1 0,-1 0,0 0,1 0,-1 0,0 0,1 0,-1 0,1 0,1 0,1 0,3 0,2 0,0 0,2 0,1 0,0 0,-1 0,1 0,1 0,2 0,3 0,1 0,-1 0,2 0,0 0,-1 0,0 0,-1 0,0 0,-2 0,-1 0,-1 0,1 0,-3 0,1 0,-2 0,-2 0,0 0,-2 0,0 0,2 0,2 0,1 0,0 0,1 0,-3 0,1 0,-1 0,0 0,1 0,-3 0,1 0,-2 0,-1 0,1 0,0 0,0 0,0 0,-2 0,-1 0,-3 0,1 0,-1 0,0 0,0 0,1 0,1 0,2 0,1 0,2 0,-1 0,2 0,-2 0,0 0,-1 0,0 0,3 0,-1 0,1 0,2 0,-1 0,3 0,2 0,2 0,1 0,1 0,1 0,0 0,3 0,-2 0,-5 0,2 0,6 0,5 0,7 0,-3 0,-6 0,1 0,-2 0,-2 0,-2 0,-4 0,-1 0,0-2,-2 0,1-1,-1 1,1 2,-2-2,0 0,-1 0,2 0,0 2,0 0,-1 0,-2 0,-1 0,-1 0,1 0,2 0,1 0,2 0,-3 0,-1 0,-1 0,-2 0,1 0,0 0,0 0,2 0,0 0,2 0,1 0,1 0,1 0,-1 0,1 0,1 0,3 0,1 0,1 0,0 0,-1 0,1 0,-1 0,-2 0,-1 0,-3 0,-1 0,0 0,-2 0,1 0,1 0,0 0,3 0,1 0,-2 0,3 0,-3 0,0 2,3 1,0 0,3 1,-1-1,3-1,0-1,1-1,0 0,-5 0,-2 2,1 1,0-1,2 0,-2-2,-1 0,-2 0,-1 0,-1 1,-2 2,1-1,0 2,1-1,0 0,-2-1,0-2,1 0,0 0,1 0,1 0,-1 0,-1 2,-1 1,-1-1,-1 0,0-2,-1 0,-4 0,0 0,-1 0,-1 0,2 0,-2 0,1 0,1 0,0 0,3 0,-1 0,2 0,2 0,-2 0,2 0,-3 0,-2 0,-1 0,-1 0,-2 0,2 0,-1 0,1 0,-1 0,0 0,2 0,-2 0,0 0,-1 0,2 0,-1 0,0 0,0 0,-3 0,0 0,1 0,-1 0,3 0,0 0,0 0,-1 0,-1 0,-1 0,3 0,0 0,0 0,0 0,-3 0,1 0,-1 0,0 0,1 0,-1 0,1 0,-1 0,0 0,1 0,-1 0,0 0,1 0,-1 0,0 0,1 0,-1 0,3 0,0 0,2 0,3 0,0 0,0 2,0 1,-2-1,-3 0,2-2,-2 0,-3 2,-1 0,1 0,2-1,2 0,2-1,-3 0,2 0,1 0,-1 0,1 0,-3 0,2 0,-1 0,2 0,0 0,0 0,-2 0,1 0,0 0,0 0,0 0,-2 0,2 0,-1 0,1 0,1 0,-1 0,3 0,0 0,2 0,-2 0,-1 0,1 0,4 0,1 0,0 2,1 0,-3 1,0-1,-2-2,-2 0,-1 0,0 0,0 0,-1 0,1 0,0 0,0 0,0 0,-3 0,0 0,0 0,0 0,1 0,1 0,-2 0,1 0,0 0,1 0,1 0,-2 0,-1 0,0 0,0 0,1 0,1 0,-2 0,2 0,0 0,-2 0,0 0,-3 0,1 0,-1 0,-2 0,0 0,0 0,4 0,0 0,2 0,-4 0,-2 0,0 0,0 0,1 0,1 0,1 0,-1 0,0 0,1 0,-1 0,3 0,0 0,0 0,-1 0,-1 0,-1 0,0 0,1 0,-1 0,0 0,0 0,-2 0,0 0,0 0,1 0,0 0,6 0,-5 0,6 0,-5 0,-1 0,0 0,1 0,-3 0,3 0,-5 0,5 0,-4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8:05:24.3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1587 24575,'23'0'0,"4"0"0,4 0 0,5 0 0,0 0 0,2 0 0,-1 0 0,-2 0 0,1 0 0,-1 0 0,1 0 0,-2 0 0,-4 0 0,0 0 0,-4 0 0,0 0 0,0 0 0,-2 0 0,-2 0 0,-2 0 0,-3 0 0,1 0 0,-1 0 0,-2 0 0,0 0 0,-2 0 0,-2 0 0,0 0 0,-3 0 0,1 0 0,3 0 0,2 0 0,2 0 0,4 0 0,0 0 0,0 0 0,-2 0 0,-4 0 0,-1 0 0,-1 0 0,1 0 0,-1 0 0,0 0 0,0 0 0,-1-3 0,-4-4 0,-3-7 0,-4-7 0,0-6 0,0-5 0,0-3 0,0-3 0,0 0 0,0-1 0,0 0 0,0 1 0,0-1 0,0 0 0,0 1 0,0 0 0,0 2 0,0 3 0,0 2 0,0 1 0,0 1 0,0 1 0,0-3 0,0 0 0,0 2 0,0 0 0,0 1 0,0 0 0,0 0 0,0 3 0,0 2 0,0 1 0,0 0 0,0 0 0,0-1 0,0 3 0,0 0 0,0 0 0,0-1 0,0-2 0,0-3 0,0 0 0,0-1 0,0 0 0,0 0 0,0 1 0,0-1 0,0 0 0,0 1 0,0 1 0,0 1 0,0 3 0,0 2 0,-2 1 0,-1-2 0,1-1 0,0 1 0,2 1 0,0 2 0,0 3 0,0 6 0,0 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8:05:26.6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174 59 24575,'-15'2'0,"0"4"0,0 2 0,1 3 0,5-1 0,3-2 0,3 0 0,2-2 0,-3-1 0,-6 3 0,-8 5 0,-3 5 0,1 2 0,5-2 0,8-5 0,7-7 0,6-4 0,4-4 0,2-2 0,3 2 0,1-1 0,1 0 0,4 1 0,4-1 0,3 2 0,2 1 0,-2 0 0,-3 0 0,0 0 0,-2 0 0,-3 0 0,0 0 0,-3 0 0,1 0 0,-1 0 0,-2 0 0,0 0 0,-2 0 0,-1 0 0,-1 0 0,0 0 0,-4 0 0,-7 0 0,-5-3 0,-8-2 0,-2-2 0,-3-4 0,-2 0 0,-2-3 0,1 0 0,0 1 0,2 0 0,3 1 0,1-1 0,-1-1 0,-1 0 0,-3-1 0,2 3 0,1 1 0,3 1 0,7 5 0,3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C4774C-2001-2447-8C80-801716BED38F}" type="datetimeFigureOut">
              <a:rPr lang="en-KR" smtClean="0"/>
              <a:t>11/19/2025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8E2000-37FB-9848-9C26-A1CB0B8468E2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169744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CA8B9-5C32-621E-FFAC-B8FF10D66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7FAEDB-0E61-D74C-44A3-ADA0CDFAE7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FDAE2-A828-9C35-C635-8735319EB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C486-3FC1-D047-8AAD-775C03B1D46D}" type="datetime1">
              <a:rPr lang="en-US" smtClean="0"/>
              <a:t>11/19/2025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1D897-4B14-F8D7-9B29-3072C9940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203F9-B0A9-722F-B2AA-4062D25C9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C90A-C1D4-1A4A-BB39-07FDF258A5BB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11794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D4619-9B98-0FB4-C25C-D4335A5C9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A6249-4691-7630-5AD6-296190A24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40156-C9B6-DB5B-B8AF-13A40B1D5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18D73-32D1-A847-AA81-E353C58266DD}" type="datetime1">
              <a:rPr lang="en-US" smtClean="0"/>
              <a:t>11/19/2025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89562-5734-F68E-3384-F88C45533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AFC42-DD36-16D9-1F81-78579DC45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C90A-C1D4-1A4A-BB39-07FDF258A5BB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93462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7B4C6-3DE5-E0E5-7562-C4FA090F2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E39A4-343B-429B-7CE4-39557BA6F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19C57-C27D-0D81-C445-50FEA9F6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F0C8A-8D87-224E-912B-0C981F57F905}" type="datetime1">
              <a:rPr lang="en-US" smtClean="0"/>
              <a:t>11/19/2025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BF4E2-7DF8-1BA9-B802-42B4DEDDA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83876-84A7-CF6B-F8DC-346ABA46E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C90A-C1D4-1A4A-BB39-07FDF258A5BB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179391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C1BE7-923B-8C8D-3955-932F3C37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652B8-D053-E37E-3F54-2A5D912583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CA33A-844B-2713-40D2-5E88EB6A85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AC3BF-64B1-DEFD-A2E1-14137B0C2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3F313-F49C-2040-9962-BF560DDCC7CA}" type="datetime1">
              <a:rPr lang="en-US" smtClean="0"/>
              <a:t>11/19/2025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ADEBB-0A5E-0EFE-FAE4-B942A0C40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C7D413-C30C-C659-0895-DF7A7AA12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C90A-C1D4-1A4A-BB39-07FDF258A5BB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446692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51BC5-52EE-0D89-BEC4-B014655FC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16CBA-44C3-9338-6085-78F787597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F7092-5233-17E5-3D08-98EE078D14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7F56F1-B52F-FB7C-A460-2595EAB5CB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95A295-AB16-465C-B27E-4A8CEEFFDF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06501D-03EE-220F-B77B-7D6999440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67C72-4FC2-E744-89F6-2196F33FEDFC}" type="datetime1">
              <a:rPr lang="en-US" smtClean="0"/>
              <a:t>11/19/2025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662C4D-5885-C553-1167-F9440B003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82D276-276A-1933-4128-29D556D30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C90A-C1D4-1A4A-BB39-07FDF258A5BB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723827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B2DF5-AD5A-EFCE-9CA5-09F5AB81E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D0BD82-3FFC-C245-0E49-FE28B587D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D0B36-39CF-3C40-AF2F-273CBE04BEB2}" type="datetime1">
              <a:rPr lang="en-US" smtClean="0"/>
              <a:t>11/19/2025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5D9F9C-118E-2CFC-ACC4-38080D096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7B37BF-673D-26FD-7FC5-5AF4FD2E3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C90A-C1D4-1A4A-BB39-07FDF258A5BB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9171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A9038B-A85B-38E8-F405-F8D815326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50A9D-8DFF-B740-A01D-EB2FF93D258C}" type="datetime1">
              <a:rPr lang="en-US" smtClean="0"/>
              <a:t>11/19/2025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5BAA64-E923-95F3-7C32-C392FAD0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EDC67-94A4-743C-BB52-3DF8DA5E6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C90A-C1D4-1A4A-BB39-07FDF258A5BB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99708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AF049-BD4E-F2ED-F635-50F3EE447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4C4EE-5F43-5EF4-C4B5-8BABB0C56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810D6-8BD5-C43E-C8D8-9CD2C7554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758D3-80C7-65E2-7116-73EB88B2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83C3-29C2-8D4D-9024-3854AFA4D352}" type="datetime1">
              <a:rPr lang="en-US" smtClean="0"/>
              <a:t>11/19/2025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50750-DA97-53AC-ECFD-5C89297D1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5C2564-5288-95ED-0759-7C531195A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C90A-C1D4-1A4A-BB39-07FDF258A5BB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32600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1170F-5360-4E09-7EFD-88CC4DF64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FACEC0-BCEB-4160-BDF7-636D1138BF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D841AE-0EFA-2508-7699-65D8270D5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032804-297B-3A8E-3F6A-86F408F4B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2AF14-B600-2C4D-ABB0-51C5A8D429B0}" type="datetime1">
              <a:rPr lang="en-US" smtClean="0"/>
              <a:t>11/19/2025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F67707-C75E-016B-189E-2E33AE9AB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E80B5B-19C5-A575-83D6-6B3B6D012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C90A-C1D4-1A4A-BB39-07FDF258A5BB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798976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7EAD3-9AFD-62DB-72C8-605C3B402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497C8C-BA83-EA20-B154-059B9C086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5986-84B2-DA81-C542-B2E359670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43B52-1EE7-7E49-82A9-FAE84E3792EC}" type="datetime1">
              <a:rPr lang="en-US" smtClean="0"/>
              <a:t>11/19/2025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A76B6-53AF-97BE-665A-85F532E28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1304F-415C-0E74-1989-E4D562391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C90A-C1D4-1A4A-BB39-07FDF258A5BB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86727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861C39-FD12-CCF4-6122-A5C7D6F57A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A14E29-1E1A-7351-9168-63C0CBDFF9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1AD27-D8C6-F703-2690-0B4C3EF7F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00662-EEAF-0D45-B5FF-93297BDD54C0}" type="datetime1">
              <a:rPr lang="en-US" smtClean="0"/>
              <a:t>11/19/2025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DA1A3-84F3-6FB6-A9EC-7DDCD0E32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04B29-EF1E-B888-F0C3-D2F13D631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C90A-C1D4-1A4A-BB39-07FDF258A5BB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60790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8A4A1B-CE80-99CB-D27C-67C451717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80DD7-08B8-819B-927B-86188A40C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BB74A-B273-3E57-9117-667359C40B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0F38A0-08EA-A847-AADD-5A3F09E1CFA9}" type="datetime1">
              <a:rPr lang="en-US" smtClean="0"/>
              <a:t>11/19/2025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F17F1-471C-564A-4D92-0C76761417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C234D-285F-B79D-13F8-9013A6198B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A7C90A-C1D4-1A4A-BB39-07FDF258A5BB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21192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937C9-2D88-6EE2-255C-709A1BF81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6487" y="1122363"/>
            <a:ext cx="9379026" cy="2387600"/>
          </a:xfrm>
        </p:spPr>
        <p:txBody>
          <a:bodyPr>
            <a:normAutofit/>
          </a:bodyPr>
          <a:lstStyle/>
          <a:p>
            <a:r>
              <a:rPr lang="en-KR" sz="4800" b="1">
                <a:latin typeface="Apple SD Gothic Neo" panose="02000300000000000000" pitchFamily="2" charset="-127"/>
                <a:ea typeface="Apple SD Gothic Neo" panose="02000300000000000000" pitchFamily="2" charset="-127"/>
                <a:cs typeface="Apple Symbols" panose="02000000000000000000" pitchFamily="2" charset="-79"/>
              </a:rPr>
              <a:t>Programming Language Concepts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CCA8F9-2699-C14D-432C-5FE58B1465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KR">
                <a:latin typeface="Apple SD Gothic Neo" panose="02000300000000000000" pitchFamily="2" charset="-127"/>
                <a:ea typeface="Apple SD Gothic Neo" panose="02000300000000000000" pitchFamily="2" charset="-127"/>
                <a:cs typeface="Apple Symbols" panose="02000000000000000000" pitchFamily="2" charset="-79"/>
              </a:rPr>
              <a:t>CSE 3302 / 5307 - Dr. Kenny Zhu</a:t>
            </a:r>
          </a:p>
          <a:p>
            <a:endParaRPr lang="en-KR">
              <a:latin typeface="Apple SD Gothic Neo" panose="02000300000000000000" pitchFamily="2" charset="-127"/>
              <a:ea typeface="Apple SD Gothic Neo" panose="02000300000000000000" pitchFamily="2" charset="-127"/>
              <a:cs typeface="Apple Symbols" panose="02000000000000000000" pitchFamily="2" charset="-79"/>
            </a:endParaRPr>
          </a:p>
          <a:p>
            <a:r>
              <a:rPr lang="en-KR" b="1">
                <a:latin typeface="Apple SD Gothic Neo" panose="02000300000000000000" pitchFamily="2" charset="-127"/>
                <a:ea typeface="Apple SD Gothic Neo" panose="02000300000000000000" pitchFamily="2" charset="-127"/>
                <a:cs typeface="Apple Symbols" panose="02000000000000000000" pitchFamily="2" charset="-79"/>
              </a:rPr>
              <a:t>Tutorial 14</a:t>
            </a:r>
          </a:p>
          <a:p>
            <a:r>
              <a:rPr lang="en-KR">
                <a:latin typeface="Apple SD Gothic Neo" panose="02000300000000000000" pitchFamily="2" charset="-127"/>
                <a:ea typeface="Apple SD Gothic Neo" panose="02000300000000000000" pitchFamily="2" charset="-127"/>
                <a:cs typeface="Apple Symbols" panose="02000000000000000000" pitchFamily="2" charset="-79"/>
              </a:rPr>
              <a:t>Wonjun Park</a:t>
            </a:r>
          </a:p>
        </p:txBody>
      </p:sp>
    </p:spTree>
    <p:extLst>
      <p:ext uri="{BB962C8B-B14F-4D97-AF65-F5344CB8AC3E}">
        <p14:creationId xmlns:p14="http://schemas.microsoft.com/office/powerpoint/2010/main" val="3403576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EC5B0-DAB1-BFF1-B792-0E6273F25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30F1F-398F-76C0-CB71-EA8FDEFE4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KR" b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Homework </a:t>
            </a:r>
            <a:r>
              <a:rPr lang="en-US" b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13</a:t>
            </a:r>
            <a:endParaRPr lang="en-KR" b="1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78260-EC9E-55C1-0926-CB1C1B895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AF2F9-5A37-ED13-3531-8ACB039DF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F0C8A-8D87-224E-912B-0C981F57F905}" type="datetime1">
              <a:rPr lang="en-US" smtClean="0"/>
              <a:t>11/19/2025</a:t>
            </a:fld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4FD63B-48A9-73DD-E8E6-90EE53209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C90A-C1D4-1A4A-BB39-07FDF258A5BB}" type="slidenum">
              <a:rPr lang="en-KR" smtClean="0"/>
              <a:t>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2843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1B8DB-EA24-160D-E42C-6853651A0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18D73-32D1-A847-AA81-E353C58266DD}" type="datetime1">
              <a:rPr lang="en-US" smtClean="0"/>
              <a:t>11/19/2025</a:t>
            </a:fld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BECE32-7FFC-1F2B-A131-76CC7A4B6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C90A-C1D4-1A4A-BB39-07FDF258A5BB}" type="slidenum">
              <a:rPr lang="en-KR" smtClean="0"/>
              <a:t>3</a:t>
            </a:fld>
            <a:endParaRPr lang="en-KR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A13E9D5-8E0A-CB61-98A8-A5841E46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KR" b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Problem 1</a:t>
            </a:r>
            <a:br>
              <a:rPr lang="en-KR" b="1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en-KR" sz="240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Description</a:t>
            </a:r>
            <a:endParaRPr lang="en-KR" b="1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EC6322-1199-1CCF-954B-89C7B46D6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87" y="1704109"/>
            <a:ext cx="10514226" cy="34497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66F41A-E67A-40D6-5F48-07F4CFDE8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113" y="2853715"/>
            <a:ext cx="3429000" cy="334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589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6442F-B47E-66A6-ABD8-CE6E084A9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9162F6-3374-F1F0-96CE-F84F98D26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b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Problem 1</a:t>
            </a:r>
            <a:br>
              <a:rPr lang="en-KR" b="1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en-KR" sz="240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Recap</a:t>
            </a:r>
            <a:endParaRPr lang="en-KR" b="1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201F7E-D14B-22D7-E4F1-A9EDBCFF6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R"/>
              <a:t>Max Heap</a:t>
            </a:r>
          </a:p>
          <a:p>
            <a:pPr lvl="1"/>
            <a:r>
              <a:rPr lang="en-KR"/>
              <a:t>Complete Binary Tree</a:t>
            </a:r>
          </a:p>
          <a:p>
            <a:pPr lvl="2"/>
            <a:r>
              <a:rPr lang="en-KR"/>
              <a:t>Filled nodes from left to right</a:t>
            </a:r>
          </a:p>
          <a:p>
            <a:pPr lvl="2"/>
            <a:r>
              <a:rPr lang="en-KR"/>
              <a:t>All levels should be completely filled except the last level</a:t>
            </a:r>
          </a:p>
          <a:p>
            <a:pPr lvl="2"/>
            <a:endParaRPr lang="en-KR"/>
          </a:p>
          <a:p>
            <a:pPr lvl="1"/>
            <a:r>
              <a:rPr lang="en-KR"/>
              <a:t>Root node is the max value</a:t>
            </a:r>
          </a:p>
          <a:p>
            <a:pPr lvl="1"/>
            <a:endParaRPr lang="en-KR"/>
          </a:p>
          <a:p>
            <a:pPr lvl="1"/>
            <a:r>
              <a:rPr lang="en-KR"/>
              <a:t>Heapify</a:t>
            </a:r>
          </a:p>
          <a:p>
            <a:pPr lvl="2"/>
            <a:r>
              <a:rPr lang="en-KR"/>
              <a:t>O(log n)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F6760-61FB-ED41-5AA5-3D6A12428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18D73-32D1-A847-AA81-E353C58266DD}" type="datetime1">
              <a:rPr lang="en-US" smtClean="0"/>
              <a:t>11/19/2025</a:t>
            </a:fld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2CFA72-E6A5-B4A8-D09C-E333DF927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C90A-C1D4-1A4A-BB39-07FDF258A5BB}" type="slidenum">
              <a:rPr lang="en-KR" smtClean="0"/>
              <a:t>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866473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D0021-672E-1603-6818-F3045A10A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693CBC9C-6E07-B264-3D45-3139A6BF8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b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Problem 1</a:t>
            </a:r>
            <a:br>
              <a:rPr lang="en-KR" b="1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en-KR" sz="240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Recap</a:t>
            </a:r>
            <a:endParaRPr lang="en-KR" b="1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EF667-6273-E36F-2ACA-2C8A46C0B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18D73-32D1-A847-AA81-E353C58266DD}" type="datetime1">
              <a:rPr lang="en-US" smtClean="0"/>
              <a:t>11/19/2025</a:t>
            </a:fld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10329-A94F-14D0-6C66-69318EC6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C90A-C1D4-1A4A-BB39-07FDF258A5BB}" type="slidenum">
              <a:rPr lang="en-KR" smtClean="0"/>
              <a:t>5</a:t>
            </a:fld>
            <a:endParaRPr lang="en-KR"/>
          </a:p>
        </p:txBody>
      </p:sp>
      <p:pic>
        <p:nvPicPr>
          <p:cNvPr id="1026" name="Picture 2" descr="Introduction to Max-Heap - GeeksforGeeks">
            <a:extLst>
              <a:ext uri="{FF2B5EF4-FFF2-40B4-BE49-F238E27FC236}">
                <a16:creationId xmlns:a16="http://schemas.microsoft.com/office/drawing/2014/main" id="{2676208A-50B4-6896-1E5E-5C3F2D3D33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55" b="31250"/>
          <a:stretch>
            <a:fillRect/>
          </a:stretch>
        </p:blipFill>
        <p:spPr bwMode="auto">
          <a:xfrm>
            <a:off x="0" y="1966119"/>
            <a:ext cx="12192000" cy="2925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11ADF6-C53A-5598-BD9A-488880BCAF58}"/>
              </a:ext>
            </a:extLst>
          </p:cNvPr>
          <p:cNvSpPr txBox="1"/>
          <p:nvPr/>
        </p:nvSpPr>
        <p:spPr>
          <a:xfrm>
            <a:off x="661605" y="4891881"/>
            <a:ext cx="80427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[1] Max Heap Insertion. https://</a:t>
            </a:r>
            <a:r>
              <a:rPr lang="en-US" sz="1400" err="1"/>
              <a:t>www.geeksforgeeks.org</a:t>
            </a:r>
            <a:r>
              <a:rPr lang="en-US" sz="1400"/>
              <a:t>/</a:t>
            </a:r>
            <a:r>
              <a:rPr lang="en-US" sz="1400" err="1"/>
              <a:t>dsa</a:t>
            </a:r>
            <a:r>
              <a:rPr lang="en-US" sz="1400"/>
              <a:t>/introduction-to-max-heap-data-structure/</a:t>
            </a:r>
            <a:endParaRPr lang="en-KR" sz="1400"/>
          </a:p>
        </p:txBody>
      </p:sp>
    </p:spTree>
    <p:extLst>
      <p:ext uri="{BB962C8B-B14F-4D97-AF65-F5344CB8AC3E}">
        <p14:creationId xmlns:p14="http://schemas.microsoft.com/office/powerpoint/2010/main" val="410655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5D43B-E6B5-048F-60D2-26B9D2609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A6F7DC0-C861-1EDF-CA22-A1847ED8B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b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Problem 1</a:t>
            </a:r>
            <a:br>
              <a:rPr lang="en-KR" b="1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en-KR" sz="240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Recap</a:t>
            </a:r>
            <a:endParaRPr lang="en-KR" b="1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6F81A-6834-3FBF-DB6C-D078371A6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18D73-32D1-A847-AA81-E353C58266DD}" type="datetime1">
              <a:rPr lang="en-US" smtClean="0"/>
              <a:t>11/19/2025</a:t>
            </a:fld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B9EB7-64A1-C42A-4205-D674C8D97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C90A-C1D4-1A4A-BB39-07FDF258A5BB}" type="slidenum">
              <a:rPr lang="en-KR" smtClean="0"/>
              <a:t>6</a:t>
            </a:fld>
            <a:endParaRPr lang="en-KR"/>
          </a:p>
        </p:txBody>
      </p:sp>
      <p:pic>
        <p:nvPicPr>
          <p:cNvPr id="1026" name="Picture 2" descr="Introduction to Max-Heap - GeeksforGeeks">
            <a:extLst>
              <a:ext uri="{FF2B5EF4-FFF2-40B4-BE49-F238E27FC236}">
                <a16:creationId xmlns:a16="http://schemas.microsoft.com/office/drawing/2014/main" id="{16F68E05-9857-FEFE-DA1A-67C121E34B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55" b="31250"/>
          <a:stretch>
            <a:fillRect/>
          </a:stretch>
        </p:blipFill>
        <p:spPr bwMode="auto">
          <a:xfrm>
            <a:off x="0" y="1966119"/>
            <a:ext cx="12192000" cy="2925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0C9723-AA03-03B1-3CBB-5B5FBE647766}"/>
              </a:ext>
            </a:extLst>
          </p:cNvPr>
          <p:cNvSpPr txBox="1"/>
          <p:nvPr/>
        </p:nvSpPr>
        <p:spPr>
          <a:xfrm>
            <a:off x="661605" y="4891881"/>
            <a:ext cx="80427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[1] Max Heap Insertion. https://</a:t>
            </a:r>
            <a:r>
              <a:rPr lang="en-US" sz="1400" err="1"/>
              <a:t>www.geeksforgeeks.org</a:t>
            </a:r>
            <a:r>
              <a:rPr lang="en-US" sz="1400"/>
              <a:t>/</a:t>
            </a:r>
            <a:r>
              <a:rPr lang="en-US" sz="1400" err="1"/>
              <a:t>dsa</a:t>
            </a:r>
            <a:r>
              <a:rPr lang="en-US" sz="1400"/>
              <a:t>/introduction-to-max-heap-data-structure/</a:t>
            </a:r>
            <a:endParaRPr lang="en-KR" sz="1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4AAD32-7DD5-045B-F8D2-A0ECF65C9E2F}"/>
              </a:ext>
            </a:extLst>
          </p:cNvPr>
          <p:cNvSpPr txBox="1"/>
          <p:nvPr/>
        </p:nvSpPr>
        <p:spPr>
          <a:xfrm>
            <a:off x="10902461" y="1693253"/>
            <a:ext cx="680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/>
              <a:t>Pop?</a:t>
            </a:r>
          </a:p>
        </p:txBody>
      </p:sp>
    </p:spTree>
    <p:extLst>
      <p:ext uri="{BB962C8B-B14F-4D97-AF65-F5344CB8AC3E}">
        <p14:creationId xmlns:p14="http://schemas.microsoft.com/office/powerpoint/2010/main" val="1646571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DE270-3551-D5E9-853C-3C118F195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F2FE1-6745-DD95-AA5F-396442983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18D73-32D1-A847-AA81-E353C58266DD}" type="datetime1">
              <a:rPr lang="en-US" smtClean="0"/>
              <a:t>11/19/2025</a:t>
            </a:fld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10856-46E3-C471-9ACF-5BB5FACD9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C90A-C1D4-1A4A-BB39-07FDF258A5BB}" type="slidenum">
              <a:rPr lang="en-KR" smtClean="0"/>
              <a:t>7</a:t>
            </a:fld>
            <a:endParaRPr lang="en-KR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E897508-015D-653E-5C6D-1B281BF8A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r"/>
            <a:r>
              <a:rPr lang="en-KR" b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Problem 1</a:t>
            </a:r>
            <a:br>
              <a:rPr lang="en-KR" b="1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en-KR" sz="240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Solution</a:t>
            </a:r>
            <a:endParaRPr lang="en-KR" b="1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9557CD-BA0E-3102-DF6B-BCBF9A2B4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64054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2A8A3C-6270-BFBF-D3B3-7437CA9FD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190" y="0"/>
            <a:ext cx="4509626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34BD23-D37C-D4BB-1FE0-244820C675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9952" y="2940339"/>
            <a:ext cx="4309933" cy="33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835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16F7D-F844-BAE2-A2AE-263D214D0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24B33-64C1-5B81-FA7C-63440B1D7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18D73-32D1-A847-AA81-E353C58266DD}" type="datetime1">
              <a:rPr lang="en-US" smtClean="0"/>
              <a:t>11/19/2025</a:t>
            </a:fld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3BFDA2-5D64-CC16-29E2-97A8B2A8B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C90A-C1D4-1A4A-BB39-07FDF258A5BB}" type="slidenum">
              <a:rPr lang="en-KR" smtClean="0"/>
              <a:t>8</a:t>
            </a:fld>
            <a:endParaRPr lang="en-KR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2923B80-D39E-A56D-341F-27DA91AD9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KR" b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Problem 2</a:t>
            </a:r>
            <a:br>
              <a:rPr lang="en-KR" b="1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en-KR" sz="240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Description</a:t>
            </a:r>
            <a:endParaRPr lang="en-KR" b="1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D6F3DE-C367-D5A0-3FF9-78432AC1C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246" y="1075410"/>
            <a:ext cx="7772400" cy="5782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02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679E0-DB6B-38FB-C206-0099ACC8C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D2714-FA21-D854-FBB3-0CE487244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18D73-32D1-A847-AA81-E353C58266DD}" type="datetime1">
              <a:rPr lang="en-US" smtClean="0"/>
              <a:t>11/19/2025</a:t>
            </a:fld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68F1B4-E395-D907-6A76-FA45D0329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C90A-C1D4-1A4A-BB39-07FDF258A5BB}" type="slidenum">
              <a:rPr lang="en-KR" smtClean="0"/>
              <a:t>9</a:t>
            </a:fld>
            <a:endParaRPr lang="en-KR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FE622AB-917F-C23C-1242-C915DACE1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KR" b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Problem 2</a:t>
            </a:r>
            <a:br>
              <a:rPr lang="en-KR" b="1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en-KR" sz="240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Description</a:t>
            </a:r>
            <a:endParaRPr lang="en-KR" b="1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812D0B-CE61-B30C-ED00-60844F8AD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204" y="1600306"/>
            <a:ext cx="9487592" cy="48464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CDCCA5-035F-0E7C-C621-8C427E9CBB45}"/>
              </a:ext>
            </a:extLst>
          </p:cNvPr>
          <p:cNvSpPr txBox="1"/>
          <p:nvPr/>
        </p:nvSpPr>
        <p:spPr>
          <a:xfrm>
            <a:off x="7186246" y="5987018"/>
            <a:ext cx="4460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G</a:t>
            </a:r>
            <a:r>
              <a:rPr lang="en-KR">
                <a:solidFill>
                  <a:srgbClr val="FF0000"/>
                </a:solidFill>
              </a:rPr>
              <a:t>oal: the alignment with the minimum cost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2C18329-5F9E-0128-C7B1-D2946AB9EA73}"/>
                  </a:ext>
                </a:extLst>
              </p14:cNvPr>
              <p14:cNvContentPartPr/>
              <p14:nvPr/>
            </p14:nvContentPartPr>
            <p14:xfrm>
              <a:off x="6188566" y="1766834"/>
              <a:ext cx="4438080" cy="324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2C18329-5F9E-0128-C7B1-D2946AB9EA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34566" y="1657621"/>
                <a:ext cx="4545720" cy="250463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465AFFB-2F50-4FF3-92C3-8753CA874758}"/>
              </a:ext>
            </a:extLst>
          </p:cNvPr>
          <p:cNvSpPr txBox="1"/>
          <p:nvPr/>
        </p:nvSpPr>
        <p:spPr>
          <a:xfrm>
            <a:off x="8612760" y="1154828"/>
            <a:ext cx="3240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>
                <a:solidFill>
                  <a:srgbClr val="FF0000"/>
                </a:solidFill>
              </a:rPr>
              <a:t>Needleman-Wunsch algorithm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1A9A25E-FF9C-2106-1221-38C4B429003C}"/>
              </a:ext>
            </a:extLst>
          </p:cNvPr>
          <p:cNvGrpSpPr/>
          <p:nvPr/>
        </p:nvGrpSpPr>
        <p:grpSpPr>
          <a:xfrm>
            <a:off x="10754446" y="1540394"/>
            <a:ext cx="449280" cy="592560"/>
            <a:chOff x="10754446" y="1540394"/>
            <a:chExt cx="449280" cy="59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B85BBBC-FC23-5A71-43F4-5EDC1CFF8E03}"/>
                    </a:ext>
                  </a:extLst>
                </p14:cNvPr>
                <p14:cNvContentPartPr/>
                <p14:nvPr/>
              </p14:nvContentPartPr>
              <p14:xfrm>
                <a:off x="10754446" y="1561634"/>
                <a:ext cx="350280" cy="571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B85BBBC-FC23-5A71-43F4-5EDC1CFF8E0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736446" y="1543645"/>
                  <a:ext cx="385920" cy="6069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25D6CFE-A3FB-D04A-8EFF-9D6F348D72CA}"/>
                    </a:ext>
                  </a:extLst>
                </p14:cNvPr>
                <p14:cNvContentPartPr/>
                <p14:nvPr/>
              </p14:nvContentPartPr>
              <p14:xfrm>
                <a:off x="11038486" y="1540394"/>
                <a:ext cx="165240" cy="79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25D6CFE-A3FB-D04A-8EFF-9D6F348D72C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020447" y="1522394"/>
                  <a:ext cx="200958" cy="115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F047FDA-5F85-1DE2-1FCB-FC81D9DDF79F}"/>
              </a:ext>
            </a:extLst>
          </p:cNvPr>
          <p:cNvSpPr txBox="1"/>
          <p:nvPr/>
        </p:nvSpPr>
        <p:spPr>
          <a:xfrm>
            <a:off x="2986142" y="6399438"/>
            <a:ext cx="6219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>
                <a:solidFill>
                  <a:srgbClr val="FF0000"/>
                </a:solidFill>
              </a:rPr>
              <a:t>=&gt; Only stores the previous row =&gt; O(m+n) space complexity</a:t>
            </a:r>
          </a:p>
        </p:txBody>
      </p:sp>
    </p:spTree>
    <p:extLst>
      <p:ext uri="{BB962C8B-B14F-4D97-AF65-F5344CB8AC3E}">
        <p14:creationId xmlns:p14="http://schemas.microsoft.com/office/powerpoint/2010/main" val="2285051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A0432-9C32-A58F-4431-58804F75C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BE15F-4B0E-C1AB-51B6-7629A30A4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18D73-32D1-A847-AA81-E353C58266DD}" type="datetime1">
              <a:rPr lang="en-US" smtClean="0"/>
              <a:t>11/19/2025</a:t>
            </a:fld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37C243-92C2-4F18-ACD6-D967C9437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C90A-C1D4-1A4A-BB39-07FDF258A5BB}" type="slidenum">
              <a:rPr lang="en-KR" smtClean="0"/>
              <a:t>10</a:t>
            </a:fld>
            <a:endParaRPr lang="en-KR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44B3787-FEAD-B478-58AF-3727A2BAD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KR" b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Problem 2</a:t>
            </a:r>
            <a:br>
              <a:rPr lang="en-KR" b="1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en-KR" sz="240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Description</a:t>
            </a:r>
            <a:endParaRPr lang="en-KR" b="1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22101B-AB38-D558-E6A7-020AED981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54" y="1690688"/>
            <a:ext cx="10619346" cy="16209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17BE8C-2739-AB42-D4CB-F50D56641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743" y="3546331"/>
            <a:ext cx="10060514" cy="2805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736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9A992-7E69-3590-C68F-C8D1D6C49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BE622DE-B410-EFE7-7072-290DE00DE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151138" y="0"/>
            <a:ext cx="17343138" cy="683719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0639C-B947-0D8E-F1B2-B2CCCE179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18D73-32D1-A847-AA81-E353C58266DD}" type="datetime1">
              <a:rPr lang="en-US" smtClean="0"/>
              <a:t>11/19/2025</a:t>
            </a:fld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182EFD-52F2-7BBF-408B-695D432D7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C90A-C1D4-1A4A-BB39-07FDF258A5BB}" type="slidenum">
              <a:rPr lang="en-KR" smtClean="0"/>
              <a:t>11</a:t>
            </a:fld>
            <a:endParaRPr lang="en-KR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4AEB81-54D4-F061-3744-9C3EE788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061938" cy="6837199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9DEA607C-3A13-22AE-12E2-0DDE94125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r"/>
            <a:r>
              <a:rPr lang="en-KR" b="1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Problem 2</a:t>
            </a:r>
            <a:br>
              <a:rPr lang="en-KR" b="1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en-KR" sz="2400">
                <a:solidFill>
                  <a:schemeClr val="bg1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Solution</a:t>
            </a:r>
            <a:endParaRPr lang="en-KR" b="1">
              <a:solidFill>
                <a:schemeClr val="bg1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4971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A2571-983A-FD2C-B1BF-CDDC86642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56C1B-6216-3E09-2746-E9D176C42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18D73-32D1-A847-AA81-E353C58266DD}" type="datetime1">
              <a:rPr lang="en-US" smtClean="0"/>
              <a:t>11/19/2025</a:t>
            </a:fld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DF081-BBF1-372D-3996-21FE998A4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C90A-C1D4-1A4A-BB39-07FDF258A5BB}" type="slidenum">
              <a:rPr lang="en-KR" smtClean="0"/>
              <a:t>12</a:t>
            </a:fld>
            <a:endParaRPr lang="en-KR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D5FB15A-85E4-C730-A343-3A897CE05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r"/>
            <a:r>
              <a:rPr lang="en-KR" b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Problem 2</a:t>
            </a:r>
            <a:br>
              <a:rPr lang="en-KR" b="1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en-KR" sz="240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Solution</a:t>
            </a:r>
            <a:endParaRPr lang="en-KR" b="1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3CEEF2-7EA1-5B99-F551-6ACF3A0C2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610600" cy="415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2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25774-97A7-319F-1424-0FD4DF777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641DA-9C45-BB38-4424-AA91E4D89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18D73-32D1-A847-AA81-E353C58266DD}" type="datetime1">
              <a:rPr lang="en-US" smtClean="0"/>
              <a:t>11/19/2025</a:t>
            </a:fld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B4E02E-A387-5EE0-D7EF-14223AC7E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C90A-C1D4-1A4A-BB39-07FDF258A5BB}" type="slidenum">
              <a:rPr lang="en-KR" smtClean="0"/>
              <a:t>13</a:t>
            </a:fld>
            <a:endParaRPr lang="en-KR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DBF8461-A5C7-01F1-11C4-F4F01E174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r"/>
            <a:r>
              <a:rPr lang="en-KR" b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Problem 2</a:t>
            </a:r>
            <a:br>
              <a:rPr lang="en-KR" b="1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en-KR" sz="240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Solution</a:t>
            </a:r>
            <a:endParaRPr lang="en-KR" b="1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CCD84E-47C2-E377-2878-238266280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697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057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5F009-219A-6040-F689-1A8F61AF1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57E19-EA81-E4DC-93EB-D3EBD2954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18D73-32D1-A847-AA81-E353C58266DD}" type="datetime1">
              <a:rPr lang="en-US" smtClean="0"/>
              <a:t>11/19/2025</a:t>
            </a:fld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16CDAA-F2D1-D633-96F5-86136A09F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C90A-C1D4-1A4A-BB39-07FDF258A5BB}" type="slidenum">
              <a:rPr lang="en-KR" smtClean="0"/>
              <a:t>14</a:t>
            </a:fld>
            <a:endParaRPr lang="en-KR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9AFCDC7-3834-1A54-FEE1-F9E2E93FF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r"/>
            <a:r>
              <a:rPr lang="en-KR" b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Problem 2</a:t>
            </a:r>
            <a:br>
              <a:rPr lang="en-KR" b="1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en-KR" sz="240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Solution</a:t>
            </a:r>
            <a:endParaRPr lang="en-KR" b="1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A009EB9-59A2-458E-7859-5E8AE160A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69791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DA7D42-E295-00B7-CF18-90C2BAD83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184" y="1690688"/>
            <a:ext cx="4232031" cy="14147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243588-B641-540A-032A-333409F1F6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8749" y="4349812"/>
            <a:ext cx="4406900" cy="138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83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Programming Language Concepts</vt:lpstr>
      <vt:lpstr>Homework 13</vt:lpstr>
      <vt:lpstr>Problem 1 Description</vt:lpstr>
      <vt:lpstr>Problem 1 Recap</vt:lpstr>
      <vt:lpstr>Problem 1 Recap</vt:lpstr>
      <vt:lpstr>Problem 1 Recap</vt:lpstr>
      <vt:lpstr>Problem 1 Solution</vt:lpstr>
      <vt:lpstr>Problem 2 Description</vt:lpstr>
      <vt:lpstr>Problem 2 Description</vt:lpstr>
      <vt:lpstr>Problem 2 Description</vt:lpstr>
      <vt:lpstr>Problem 2 Solution</vt:lpstr>
      <vt:lpstr>Problem 2 Solution</vt:lpstr>
      <vt:lpstr>Problem 2 Solution</vt:lpstr>
      <vt:lpstr>Problem 2 Solution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Park, Wonjun</dc:creator>
  <cp:revision>1</cp:revision>
  <dcterms:created xsi:type="dcterms:W3CDTF">2025-08-27T00:41:02Z</dcterms:created>
  <dcterms:modified xsi:type="dcterms:W3CDTF">2025-11-20T02:57:03Z</dcterms:modified>
</cp:coreProperties>
</file>