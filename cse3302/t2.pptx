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75" r:id="rId2"/>
    <p:sldId id="322" r:id="rId3"/>
    <p:sldId id="350" r:id="rId4"/>
    <p:sldId id="351" r:id="rId5"/>
    <p:sldId id="338" r:id="rId6"/>
    <p:sldId id="339" r:id="rId7"/>
    <p:sldId id="340" r:id="rId8"/>
    <p:sldId id="341" r:id="rId9"/>
    <p:sldId id="342" r:id="rId10"/>
    <p:sldId id="343" r:id="rId11"/>
    <p:sldId id="344" r:id="rId12"/>
    <p:sldId id="326" r:id="rId13"/>
    <p:sldId id="352" r:id="rId14"/>
    <p:sldId id="356" r:id="rId15"/>
    <p:sldId id="345" r:id="rId16"/>
    <p:sldId id="355" r:id="rId17"/>
    <p:sldId id="346" r:id="rId18"/>
    <p:sldId id="348" r:id="rId19"/>
    <p:sldId id="349" r:id="rId20"/>
    <p:sldId id="347" r:id="rId21"/>
    <p:sldId id="354" r:id="rId22"/>
    <p:sldId id="353" r:id="rId23"/>
    <p:sldId id="28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15" autoAdjust="0"/>
    <p:restoredTop sz="74953" autoAdjust="0"/>
  </p:normalViewPr>
  <p:slideViewPr>
    <p:cSldViewPr snapToGrid="0">
      <p:cViewPr varScale="1">
        <p:scale>
          <a:sx n="83" d="100"/>
          <a:sy n="83" d="100"/>
        </p:scale>
        <p:origin x="17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142834-A923-415F-BF9C-1B2F00B6F7DD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EA8166-61D3-44AA-A36C-C4C8A9BB49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40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97744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56FC7-7B57-9B34-0849-C63EFD745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86A493-5B8F-B9CD-9EE4-713326D268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32D1DF-D2CD-F0BF-62DF-8107F9243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UcPeriod"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99663-8861-F76C-865E-A2D41C6D0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36759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25E59-AAA9-FB48-FC7D-4FE07FE4D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0BCC3-BBE9-88BD-BC91-A8D64E938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E31EB8-9EB9-D6EA-3668-CFE6BAC63C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B18CC-EEE9-22E8-DEE2-CAC1D6607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1263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71070-024E-5E45-BFBD-DCDE48686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BEB2B-EFB0-1A1D-83D9-0B78F57ED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EF85F1-40C3-B020-E15D-0F8E6AFBFF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BCFAB6-FE80-FB60-BA63-D7A96A59D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35850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A6490-D46B-6400-19CA-8A34381F7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A6A40-40FF-13C2-3F7C-9CFDB91549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B85B32-C54F-DCBC-4B0E-CF30A5F61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008709-7259-8139-1122-E72F6AAAFE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2132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516526-2F22-3043-642E-8CBB49F2C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677E03-C6F5-BB1B-7A47-6FC716B459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285CDA-907D-E8AE-86AF-93AC6B726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D8F14-840B-D8BC-A2CA-E8203F6F6F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94360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388ED-BC9C-0A8A-2502-F8A0787C7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17052D-7C47-4FF0-1DD3-46F2A0171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F75BD-C965-A3CF-C958-5798915BC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D214F-AA21-F1F9-4D40-1EF8F4691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13795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A67B-2259-C946-CA29-6E0DC8ACA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631A4E-5ABB-BFE2-5E91-C8991AA871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84E126-F62C-0CB2-8E49-309D7F0197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3479B-4914-4761-5557-5CABB7A1F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601026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3A5F2-B4CB-7DF7-3771-B1D7AFF9E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D8089-2A24-10B2-CA8A-4164356E2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5C0F33-7CB5-5797-A9E3-F9967EB511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D5747-EA15-CC17-C90A-B90542EC9C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190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D1E4C-D941-EA97-3B5C-7CFAE1A42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F93902-7773-BE0A-4E8D-1292628E0C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E637DE-B6FF-4525-132F-CC0C127D26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5AB83-DF12-8356-5315-CABD125B3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6357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195B5-3066-CBC9-E98F-034F8C0136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D1EDE7-975F-AD22-EACD-F0C6AC7CAB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F91FB-9C1A-008E-68CE-0B1DC1CB8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E3C926-DA7E-BAAE-B867-9A822979B5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22691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FCD30-B447-862F-BA4A-F05E2DBDD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0A1D32-770F-246F-B604-45C528D5EC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3246D3-D27D-DA6C-B05A-30F5B0D56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10E35-F402-B8AE-35AC-E4ADF1E505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257532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DA27E-0FED-0B09-D762-4B522126F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2FD946-02BE-7523-7F61-16345311B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38FF1E-D271-41DD-B442-69BF02505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E9226B-BF32-6372-6435-9DB0D870C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93159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7EE5F-C301-95FD-914F-321838A79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E67993-9D43-29B8-AC92-69E046AA1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04127A-DE94-F4C3-2DEC-AD94E125C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9E6D80-12B5-91B0-8130-38ED872D6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85310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FA468-22CB-4342-39E0-9BD4632D8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A89AFF-0535-31A7-E340-C50138BC11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7925F8-CF67-4B7D-9D27-8D0B27BBA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C5AE1-9344-20F7-99FA-CE6DBC280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1300690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1A3A1-2FE2-1C26-BDE4-47C704364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8CEF90-A385-5DE5-B456-D42E39C037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7F99F7-B36E-B06D-59AC-FADB8BDC34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55DE11-FFE4-1799-1146-EA7F236654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41145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3B461-CC0B-96E9-76A2-0EAD82A8B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AC8761-59AE-52FF-3DC6-E8E5B56803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9E73F1-FDBE-97FD-DF32-C5B6DAB11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67305-2A35-E839-B1CA-C75CC9DD99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565569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F6506-94DA-5CB6-9A8E-20A3D5E7B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3E6D70-2CEE-39D6-3141-2C0410E5A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D55090-B254-DC08-0D67-519E42E460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0261C-D60F-7B96-3EAA-CA677E5C88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08560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968DB-04E7-6767-1C7C-AE7ED728A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025151-56D4-1DC6-7309-02D9F39C0E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632F12-F1AE-5FFF-1B2C-E8F068EA1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FD89A-5B1E-5AD7-38DA-9766B0BCA0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7757265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60EC6C-5E39-E295-ECDB-624A3AE47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D06B58-A1D9-3E57-EC75-7029867058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4E4580-941A-F62C-A857-ECD9D959E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B7BF4-A5BA-F9E0-D1CD-C90352555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774650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C348C-BB53-8C69-FBE4-420D87E62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DDA56A-7459-86DE-FA69-3562E309AA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B6D54E-5FD3-57FB-8752-F513731F14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953443-7FB1-1020-D1C3-2BEF6CA33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243523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6E6CC-BF8C-3160-5B68-946EB10D4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1D9EF-98B5-D462-D244-A9E763A0E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A046F3-44B5-04B0-D7DB-76924917CC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612D4D-80F7-2809-6A31-EC1AFE2E97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257366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80C5E2-78CD-F746-9BAF-2B89BCAF7EBF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8522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TA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31E7C7E-200A-F626-0A3D-92CC978B8DA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38495" y="4750278"/>
            <a:ext cx="6968291" cy="1941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479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</p:spTree>
    <p:extLst>
      <p:ext uri="{BB962C8B-B14F-4D97-AF65-F5344CB8AC3E}">
        <p14:creationId xmlns:p14="http://schemas.microsoft.com/office/powerpoint/2010/main" val="40437679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686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lt Signature 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33034725-7AAD-B746-AE51-C7D78423B9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5447" y="1955800"/>
            <a:ext cx="10972800" cy="1143001"/>
          </a:xfrm>
          <a:noFill/>
        </p:spPr>
        <p:txBody>
          <a:bodyPr>
            <a:normAutofit/>
          </a:bodyPr>
          <a:lstStyle>
            <a:lvl1pPr algn="l">
              <a:defRPr sz="5333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C330FAE0-5504-8A44-8C81-7D40C5EF219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15447" y="2868634"/>
            <a:ext cx="10972799" cy="574517"/>
          </a:xfrm>
        </p:spPr>
        <p:txBody>
          <a:bodyPr/>
          <a:lstStyle>
            <a:lvl1pPr marL="0" indent="0">
              <a:buNone/>
              <a:defRPr sz="2667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F961A44D-63B2-3547-B671-D76FD4AAA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920551" y="3510709"/>
            <a:ext cx="6515952" cy="0"/>
          </a:xfrm>
          <a:prstGeom prst="line">
            <a:avLst/>
          </a:prstGeom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H3">
            <a:extLst>
              <a:ext uri="{FF2B5EF4-FFF2-40B4-BE49-F238E27FC236}">
                <a16:creationId xmlns:a16="http://schemas.microsoft.com/office/drawing/2014/main" id="{F0663673-BC83-3044-9EF4-B601B50B6DD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5447" y="3655551"/>
            <a:ext cx="5486400" cy="389181"/>
          </a:xfrm>
        </p:spPr>
        <p:txBody>
          <a:bodyPr>
            <a:normAutofit/>
          </a:bodyPr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My Name</a:t>
            </a:r>
          </a:p>
        </p:txBody>
      </p:sp>
      <p:sp>
        <p:nvSpPr>
          <p:cNvPr id="13" name="H4">
            <a:extLst>
              <a:ext uri="{FF2B5EF4-FFF2-40B4-BE49-F238E27FC236}">
                <a16:creationId xmlns:a16="http://schemas.microsoft.com/office/drawing/2014/main" id="{4EEBD0D7-6519-B842-ACAE-C6ABB0409325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15447" y="4045017"/>
            <a:ext cx="3111500" cy="387996"/>
          </a:xfrm>
        </p:spPr>
        <p:txBody>
          <a:bodyPr>
            <a:normAutofit/>
          </a:bodyPr>
          <a:lstStyle>
            <a:lvl1pPr marL="0" indent="0">
              <a:buNone/>
              <a:defRPr sz="1867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My Title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16F1EA-8163-2F90-809C-BB51A31AB50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56694" y="5179121"/>
            <a:ext cx="6108700" cy="1411816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255C03-226B-5FC2-208E-578716830E5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08800" y="3655551"/>
            <a:ext cx="4878917" cy="11979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70552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380617"/>
            <a:ext cx="10972800" cy="1143004"/>
          </a:xfrm>
        </p:spPr>
        <p:txBody>
          <a:bodyPr>
            <a:normAutofit/>
          </a:bodyPr>
          <a:lstStyle>
            <a:lvl1pPr>
              <a:defRPr sz="5867" b="1" i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H2 Subtitle">
            <a:extLst>
              <a:ext uri="{FF2B5EF4-FFF2-40B4-BE49-F238E27FC236}">
                <a16:creationId xmlns:a16="http://schemas.microsoft.com/office/drawing/2014/main" id="{DB257BD6-4D9A-CD45-BCE2-728C5AB620C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3372856"/>
            <a:ext cx="10972800" cy="905933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1219170" indent="0">
              <a:buNone/>
              <a:defRPr/>
            </a:lvl3pPr>
            <a:lvl4pPr marL="1828754" indent="0">
              <a:buNone/>
              <a:defRPr/>
            </a:lvl4pPr>
            <a:lvl5pPr marL="2438339" indent="0">
              <a:buNone/>
              <a:defRPr/>
            </a:lvl5pPr>
          </a:lstStyle>
          <a:p>
            <a:pPr lvl="0"/>
            <a:r>
              <a:rPr lang="en-US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27222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>
            <a:extLst>
              <a:ext uri="{FF2B5EF4-FFF2-40B4-BE49-F238E27FC236}">
                <a16:creationId xmlns:a16="http://schemas.microsoft.com/office/drawing/2014/main" id="{88B4A6B9-381D-5D40-84AC-41D60C0A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8665"/>
            <a:ext cx="10972800" cy="11430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H2 Subtitle">
            <a:extLst>
              <a:ext uri="{FF2B5EF4-FFF2-40B4-BE49-F238E27FC236}">
                <a16:creationId xmlns:a16="http://schemas.microsoft.com/office/drawing/2014/main" id="{5B196C90-74A6-5E42-A204-A1E0DBCB679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1167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6" name="Body Content">
            <a:extLst>
              <a:ext uri="{FF2B5EF4-FFF2-40B4-BE49-F238E27FC236}">
                <a16:creationId xmlns:a16="http://schemas.microsoft.com/office/drawing/2014/main" id="{4F275BD8-ECF8-F54B-B4E2-A66F7AB27D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10972800" cy="4131733"/>
          </a:xfrm>
        </p:spPr>
        <p:txBody>
          <a:bodyPr>
            <a:normAutofit/>
          </a:bodyPr>
          <a:lstStyle>
            <a:lvl1pPr marL="457189" indent="-457189">
              <a:buFont typeface="Wingdings" pitchFamily="2" charset="2"/>
              <a:buChar char="§"/>
              <a:defRPr sz="2133"/>
            </a:lvl1pPr>
            <a:lvl2pPr marL="990575" indent="-380990">
              <a:buFont typeface="Wingdings" pitchFamily="2" charset="2"/>
              <a:buChar char="§"/>
              <a:defRPr sz="2133"/>
            </a:lvl2pPr>
            <a:lvl3pPr marL="1523962" indent="-304792">
              <a:buFont typeface="Wingdings" pitchFamily="2" charset="2"/>
              <a:buChar char="§"/>
              <a:defRPr sz="2133"/>
            </a:lvl3pPr>
            <a:lvl4pPr marL="2133547" indent="-304792">
              <a:buFont typeface="Wingdings" pitchFamily="2" charset="2"/>
              <a:buChar char="§"/>
              <a:defRPr sz="2133"/>
            </a:lvl4pPr>
            <a:lvl5pPr marL="2743131" indent="-304792">
              <a:buFont typeface="Wingdings" pitchFamily="2" charset="2"/>
              <a:buChar char="§"/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166147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H2 Subtitle">
            <a:extLst>
              <a:ext uri="{FF2B5EF4-FFF2-40B4-BE49-F238E27FC236}">
                <a16:creationId xmlns:a16="http://schemas.microsoft.com/office/drawing/2014/main" id="{7E449A25-5BA8-A049-892B-A920427B81B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" y="1065953"/>
            <a:ext cx="10972800" cy="451275"/>
          </a:xfrm>
        </p:spPr>
        <p:txBody>
          <a:bodyPr>
            <a:noAutofit/>
          </a:bodyPr>
          <a:lstStyle>
            <a:lvl1pPr marL="0" indent="0" algn="ctr">
              <a:buNone/>
              <a:defRPr sz="2667">
                <a:solidFill>
                  <a:srgbClr val="00599B"/>
                </a:solidFill>
              </a:defRPr>
            </a:lvl1pPr>
            <a:lvl2pPr marL="609585" indent="0">
              <a:buNone/>
              <a:defRPr sz="3200">
                <a:solidFill>
                  <a:srgbClr val="00599B"/>
                </a:solidFill>
              </a:defRPr>
            </a:lvl2pPr>
            <a:lvl3pPr marL="1219170" indent="0">
              <a:buNone/>
              <a:defRPr sz="3200">
                <a:solidFill>
                  <a:srgbClr val="00599B"/>
                </a:solidFill>
              </a:defRPr>
            </a:lvl3pPr>
            <a:lvl4pPr marL="1828754" indent="0">
              <a:buNone/>
              <a:defRPr sz="3200">
                <a:solidFill>
                  <a:srgbClr val="00599B"/>
                </a:solidFill>
              </a:defRPr>
            </a:lvl4pPr>
            <a:lvl5pPr marL="2438339" indent="0">
              <a:buNone/>
              <a:defRPr sz="3200">
                <a:solidFill>
                  <a:srgbClr val="00599B"/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" name="Body Content 1"/>
          <p:cNvSpPr>
            <a:spLocks noGrp="1"/>
          </p:cNvSpPr>
          <p:nvPr>
            <p:ph sz="half" idx="1"/>
          </p:nvPr>
        </p:nvSpPr>
        <p:spPr>
          <a:xfrm>
            <a:off x="609600" y="1747522"/>
            <a:ext cx="5384800" cy="4131733"/>
          </a:xfrm>
        </p:spPr>
        <p:txBody>
          <a:bodyPr>
            <a:normAutofit/>
          </a:bodyPr>
          <a:lstStyle>
            <a:lvl1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197600" y="1747522"/>
            <a:ext cx="5384800" cy="4131733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96634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1 Title">
            <a:extLst>
              <a:ext uri="{FF2B5EF4-FFF2-40B4-BE49-F238E27FC236}">
                <a16:creationId xmlns:a16="http://schemas.microsoft.com/office/drawing/2014/main" id="{32D9C8E5-1CF3-6F45-9C03-04506B4E5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Body Content 2"/>
          <p:cNvSpPr>
            <a:spLocks noGrp="1"/>
          </p:cNvSpPr>
          <p:nvPr>
            <p:ph sz="half" idx="2"/>
          </p:nvPr>
        </p:nvSpPr>
        <p:spPr>
          <a:xfrm>
            <a:off x="63335" y="1481545"/>
            <a:ext cx="3628573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2" name="Body Content 2">
            <a:extLst>
              <a:ext uri="{FF2B5EF4-FFF2-40B4-BE49-F238E27FC236}">
                <a16:creationId xmlns:a16="http://schemas.microsoft.com/office/drawing/2014/main" id="{AF760239-E1E4-98A8-BC2A-AD64F71B7E0D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3333" y="3808021"/>
            <a:ext cx="3628575" cy="2224644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Body Content 2">
            <a:extLst>
              <a:ext uri="{FF2B5EF4-FFF2-40B4-BE49-F238E27FC236}">
                <a16:creationId xmlns:a16="http://schemas.microsoft.com/office/drawing/2014/main" id="{52458702-0A0A-743A-4663-E0EA4FBC4EB5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892467" y="1481545"/>
            <a:ext cx="3525653" cy="2326476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Body Content 2">
            <a:extLst>
              <a:ext uri="{FF2B5EF4-FFF2-40B4-BE49-F238E27FC236}">
                <a16:creationId xmlns:a16="http://schemas.microsoft.com/office/drawing/2014/main" id="{E7DCE5C4-5A12-8BD9-2E79-6B094F4C1FDC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3879271" y="3980299"/>
            <a:ext cx="3628575" cy="262840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Body Content 2">
            <a:extLst>
              <a:ext uri="{FF2B5EF4-FFF2-40B4-BE49-F238E27FC236}">
                <a16:creationId xmlns:a16="http://schemas.microsoft.com/office/drawing/2014/main" id="{3180402C-B205-3B02-80EC-1389CEFE02F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011889" y="1490548"/>
            <a:ext cx="3910937" cy="2215640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0" name="Body Content 2">
            <a:extLst>
              <a:ext uri="{FF2B5EF4-FFF2-40B4-BE49-F238E27FC236}">
                <a16:creationId xmlns:a16="http://schemas.microsoft.com/office/drawing/2014/main" id="{1D0698A4-F993-1339-EDDC-E122275B26EE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67023" y="3980299"/>
            <a:ext cx="3937332" cy="2613235"/>
          </a:xfrm>
        </p:spPr>
        <p:txBody>
          <a:bodyPr>
            <a:normAutofit/>
          </a:bodyPr>
          <a:lstStyle>
            <a:lvl1pPr marL="380990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990575" indent="-380990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523962" indent="-304792">
              <a:buFont typeface="Wingdings" pitchFamily="2" charset="2"/>
              <a:buChar char="§"/>
              <a:defRPr sz="2133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2133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658409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Wide Table">
            <a:extLst>
              <a:ext uri="{FF2B5EF4-FFF2-40B4-BE49-F238E27FC236}">
                <a16:creationId xmlns:a16="http://schemas.microsoft.com/office/drawing/2014/main" id="{A31F2DD0-A818-C246-A801-671F4BC2994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07375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de Char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Wide Chart">
            <a:extLst>
              <a:ext uri="{FF2B5EF4-FFF2-40B4-BE49-F238E27FC236}">
                <a16:creationId xmlns:a16="http://schemas.microsoft.com/office/drawing/2014/main" id="{21B7D27F-640B-514B-9B11-9D1645F3F49A}"/>
              </a:ext>
            </a:extLst>
          </p:cNvPr>
          <p:cNvSpPr>
            <a:spLocks noGrp="1" noChangeAspect="1"/>
          </p:cNvSpPr>
          <p:nvPr>
            <p:ph type="chart" sz="quarter" idx="11"/>
          </p:nvPr>
        </p:nvSpPr>
        <p:spPr>
          <a:xfrm>
            <a:off x="304800" y="381000"/>
            <a:ext cx="11582400" cy="6096000"/>
          </a:xfrm>
        </p:spPr>
        <p:txBody>
          <a:bodyPr/>
          <a:lstStyle/>
          <a:p>
            <a:r>
              <a:rPr lang="en-US"/>
              <a:t>Click icon to add chart</a:t>
            </a:r>
          </a:p>
        </p:txBody>
      </p:sp>
    </p:spTree>
    <p:extLst>
      <p:ext uri="{BB962C8B-B14F-4D97-AF65-F5344CB8AC3E}">
        <p14:creationId xmlns:p14="http://schemas.microsoft.com/office/powerpoint/2010/main" val="3609476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ull Bleed Photo">
            <a:extLst>
              <a:ext uri="{FF2B5EF4-FFF2-40B4-BE49-F238E27FC236}">
                <a16:creationId xmlns:a16="http://schemas.microsoft.com/office/drawing/2014/main" id="{3D0D2707-18C2-FA48-9C1E-B114D1A3869D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1075568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Vide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visible H1 Title">
            <a:extLst>
              <a:ext uri="{FF2B5EF4-FFF2-40B4-BE49-F238E27FC236}">
                <a16:creationId xmlns:a16="http://schemas.microsoft.com/office/drawing/2014/main" id="{D197014B-C43D-B34F-A577-29627A811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-1284803"/>
            <a:ext cx="10972800" cy="1143000"/>
          </a:xfrm>
        </p:spPr>
        <p:txBody>
          <a:bodyPr>
            <a:normAutofit/>
          </a:bodyPr>
          <a:lstStyle>
            <a:lvl1pPr>
              <a:defRPr sz="4267"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ull Bleed Video">
            <a:extLst>
              <a:ext uri="{FF2B5EF4-FFF2-40B4-BE49-F238E27FC236}">
                <a16:creationId xmlns:a16="http://schemas.microsoft.com/office/drawing/2014/main" id="{E64AE5ED-FB71-2940-A0AA-8B776317FAB2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-60960" y="-45720"/>
            <a:ext cx="12313920" cy="6949440"/>
          </a:xfrm>
        </p:spPr>
        <p:txBody>
          <a:bodyPr/>
          <a:lstStyle/>
          <a:p>
            <a:r>
              <a:rPr lang="en-US"/>
              <a:t>Click icon to add media</a:t>
            </a:r>
          </a:p>
        </p:txBody>
      </p:sp>
    </p:spTree>
    <p:extLst>
      <p:ext uri="{BB962C8B-B14F-4D97-AF65-F5344CB8AC3E}">
        <p14:creationId xmlns:p14="http://schemas.microsoft.com/office/powerpoint/2010/main" val="2112701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1 Title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Body Content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088411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ctr" defTabSz="609585" rtl="0" eaLnBrk="1" latinLnBrk="0" hangingPunct="1">
        <a:spcBef>
          <a:spcPct val="0"/>
        </a:spcBef>
        <a:buNone/>
        <a:defRPr sz="4667" b="1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990575" indent="-380990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523962" indent="-304792" algn="l" defTabSz="609585" rtl="0" eaLnBrk="1" latinLnBrk="0" hangingPunct="1">
        <a:spcBef>
          <a:spcPct val="20000"/>
        </a:spcBef>
        <a:buFont typeface="Wingdings" pitchFamily="2" charset="2"/>
        <a:buChar char="§"/>
        <a:defRPr sz="24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03" y="563071"/>
            <a:ext cx="10972800" cy="2344263"/>
          </a:xfrm>
        </p:spPr>
        <p:txBody>
          <a:bodyPr>
            <a:noAutofit/>
          </a:bodyPr>
          <a:lstStyle/>
          <a:p>
            <a:r>
              <a:rPr lang="en-US" sz="4800" dirty="0"/>
              <a:t>Tutorial 2</a:t>
            </a:r>
            <a:endParaRPr lang="en-US" altLang="zh-CN" sz="5333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46EDE5-6FC5-824E-9F44-F022997BFE4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09600" y="4906266"/>
            <a:ext cx="10972800" cy="1244300"/>
          </a:xfrm>
        </p:spPr>
        <p:txBody>
          <a:bodyPr>
            <a:normAutofit/>
          </a:bodyPr>
          <a:lstStyle/>
          <a:p>
            <a:pPr fontAlgn="base"/>
            <a:r>
              <a:rPr lang="en-US" altLang="zh-CN" dirty="0"/>
              <a:t>Presenter: Peter​ Zhang</a:t>
            </a:r>
          </a:p>
          <a:p>
            <a:pPr fontAlgn="base"/>
            <a:r>
              <a:rPr lang="en-US" altLang="zh-CN" dirty="0"/>
              <a:t>1/21/2026</a:t>
            </a:r>
          </a:p>
          <a:p>
            <a:endParaRPr lang="en-US" dirty="0"/>
          </a:p>
        </p:txBody>
      </p:sp>
      <p:sp>
        <p:nvSpPr>
          <p:cNvPr id="4" name="Content Placeholder 1">
            <a:extLst>
              <a:ext uri="{FF2B5EF4-FFF2-40B4-BE49-F238E27FC236}">
                <a16:creationId xmlns:a16="http://schemas.microsoft.com/office/drawing/2014/main" id="{7C796814-B4C7-06C2-94D6-3F9ED29CF958}"/>
              </a:ext>
            </a:extLst>
          </p:cNvPr>
          <p:cNvSpPr txBox="1">
            <a:spLocks/>
          </p:cNvSpPr>
          <p:nvPr/>
        </p:nvSpPr>
        <p:spPr>
          <a:xfrm>
            <a:off x="482103" y="3284650"/>
            <a:ext cx="10972800" cy="1244300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24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609585" fontAlgn="base"/>
            <a:r>
              <a:rPr lang="fr-FR" altLang="zh-CN" sz="3733" b="1" i="1" dirty="0">
                <a:solidFill>
                  <a:prstClr val="white"/>
                </a:solidFill>
                <a:ea typeface="黑体" panose="02010609060101010101" pitchFamily="49" charset="-122"/>
              </a:rPr>
              <a:t>Quiz 1 &amp; HW 1</a:t>
            </a:r>
            <a:endParaRPr lang="en-US" altLang="zh-CN" sz="3733" b="1" i="1" dirty="0">
              <a:solidFill>
                <a:prstClr val="white"/>
              </a:solidFill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0631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49CCE-ED76-8FB5-A257-6CCDE2B0D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ADF500-6292-F3BD-B2A0-FC7ACB98E2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zh-CN" sz="4400" kern="0" dirty="0">
                <a:ea typeface="宋体" panose="02010600030101010101" pitchFamily="2" charset="-122"/>
              </a:rPr>
              <a:t>1. What is the course about?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ECEAC0-2253-E353-6059-AA6EF2D429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216809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Programming in a language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How to compile a program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The design and implementation of languages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How to interpret a program</a:t>
            </a:r>
          </a:p>
        </p:txBody>
      </p:sp>
    </p:spTree>
    <p:extLst>
      <p:ext uri="{BB962C8B-B14F-4D97-AF65-F5344CB8AC3E}">
        <p14:creationId xmlns:p14="http://schemas.microsoft.com/office/powerpoint/2010/main" val="1622999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02096-7C88-9A4B-F830-39BDC76566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8F9467F-9C92-8A03-7E50-8EDAC1057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altLang="zh-CN" sz="4400" kern="0" dirty="0">
                <a:ea typeface="宋体" panose="02010600030101010101" pitchFamily="2" charset="-122"/>
              </a:rPr>
              <a:t>2. Which one of following is </a:t>
            </a:r>
            <a:r>
              <a:rPr lang="en-US" altLang="zh-CN" sz="4400" kern="0" dirty="0">
                <a:solidFill>
                  <a:srgbClr val="FF0000"/>
                </a:solidFill>
                <a:ea typeface="宋体" panose="02010600030101010101" pitchFamily="2" charset="-122"/>
              </a:rPr>
              <a:t>not</a:t>
            </a:r>
            <a:r>
              <a:rPr lang="en-US" altLang="zh-CN" sz="4400" kern="0" dirty="0">
                <a:ea typeface="宋体" panose="02010600030101010101" pitchFamily="2" charset="-122"/>
              </a:rPr>
              <a:t> a programming paradigm?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411404-588B-943E-2A03-5ABD4CD725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398238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Statement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Object-oriented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Functional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Declarative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42733D-0C63-7C2E-0B6A-B535240AAE7E}"/>
              </a:ext>
            </a:extLst>
          </p:cNvPr>
          <p:cNvSpPr txBox="1"/>
          <p:nvPr/>
        </p:nvSpPr>
        <p:spPr>
          <a:xfrm>
            <a:off x="3902891" y="3634378"/>
            <a:ext cx="7242629" cy="201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There are four main programming paradigms: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Imperative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Object-oriented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Functional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Logic (declarative)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005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DDAC8-2C81-5F7C-49C2-034D03386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F34A95-FD8B-25B2-2D31-0A5864353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altLang="zh-CN" sz="4400" kern="0" dirty="0">
                <a:ea typeface="宋体" panose="02010600030101010101" pitchFamily="2" charset="-122"/>
              </a:rPr>
              <a:t>3. Which one is </a:t>
            </a:r>
            <a:r>
              <a:rPr lang="en-US" altLang="zh-CN" sz="4400" kern="0" dirty="0">
                <a:solidFill>
                  <a:srgbClr val="FF0000"/>
                </a:solidFill>
                <a:ea typeface="宋体" panose="02010600030101010101" pitchFamily="2" charset="-122"/>
              </a:rPr>
              <a:t>not</a:t>
            </a:r>
            <a:r>
              <a:rPr lang="en-US" altLang="zh-CN" sz="4400" kern="0" dirty="0">
                <a:ea typeface="宋体" panose="02010600030101010101" pitchFamily="2" charset="-122"/>
              </a:rPr>
              <a:t> a basic property of programming languages?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44238C-3E1B-6EE5-9F78-1EF6B52C06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398238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Syntax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Names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Types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Values</a:t>
            </a:r>
          </a:p>
        </p:txBody>
      </p:sp>
      <p:sp>
        <p:nvSpPr>
          <p:cNvPr id="3" name="文本框 1">
            <a:extLst>
              <a:ext uri="{FF2B5EF4-FFF2-40B4-BE49-F238E27FC236}">
                <a16:creationId xmlns:a16="http://schemas.microsoft.com/office/drawing/2014/main" id="{5F04D9A2-BFE7-6563-3891-86292DB58025}"/>
              </a:ext>
            </a:extLst>
          </p:cNvPr>
          <p:cNvSpPr txBox="1"/>
          <p:nvPr/>
        </p:nvSpPr>
        <p:spPr>
          <a:xfrm>
            <a:off x="3704845" y="3598619"/>
            <a:ext cx="7442125" cy="20128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Times New Roman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Programming languages have four properties: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Syntax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Names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Types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Semantics</a:t>
            </a:r>
          </a:p>
        </p:txBody>
      </p:sp>
    </p:spTree>
    <p:extLst>
      <p:ext uri="{BB962C8B-B14F-4D97-AF65-F5344CB8AC3E}">
        <p14:creationId xmlns:p14="http://schemas.microsoft.com/office/powerpoint/2010/main" val="2166566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D23D-04E4-B828-3499-96039F9C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F322D9E-7804-49D6-5A76-1751B565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zh-CN" sz="4000" kern="0" dirty="0">
                <a:ea typeface="宋体" panose="02010600030101010101" pitchFamily="2" charset="-122"/>
              </a:rPr>
              <a:t>4. What is </a:t>
            </a:r>
            <a:r>
              <a:rPr lang="en-US" altLang="zh-CN" sz="4000" kern="0" dirty="0">
                <a:solidFill>
                  <a:srgbClr val="FF0000"/>
                </a:solidFill>
                <a:ea typeface="宋体" panose="02010600030101010101" pitchFamily="2" charset="-122"/>
              </a:rPr>
              <a:t>not</a:t>
            </a:r>
            <a:r>
              <a:rPr lang="en-US" altLang="zh-CN" sz="4000" kern="0" dirty="0">
                <a:ea typeface="宋体" panose="02010600030101010101" pitchFamily="2" charset="-122"/>
              </a:rPr>
              <a:t> a major concern of syntax?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A498EB-4B6B-9C52-6949-35C6ED8848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398238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Syntax error detection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Types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Grammar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3583418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A41E3-D328-EF6E-4F27-2ADF17873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34A055-1C24-66D6-7C51-9C461CDF9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857" y="64664"/>
            <a:ext cx="10885714" cy="2061679"/>
          </a:xfrm>
        </p:spPr>
        <p:txBody>
          <a:bodyPr>
            <a:normAutofit/>
          </a:bodyPr>
          <a:lstStyle/>
          <a:p>
            <a:r>
              <a:rPr lang="en-US" altLang="zh-CN" sz="4000" kern="0" dirty="0">
                <a:ea typeface="宋体" panose="02010600030101010101" pitchFamily="2" charset="-122"/>
              </a:rPr>
              <a:t>5. A name (identifier) always refers to the same identity, regardless of the context(scope, visibility, lifetime, type...)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5040BB-FCEB-C5DF-6305-13B252973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2065896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True</a:t>
            </a:r>
          </a:p>
          <a:p>
            <a:pPr marL="757238" indent="-557213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False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0A2507-D437-9319-35B2-4ACD0D8738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334" y="2126343"/>
            <a:ext cx="2332152" cy="455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859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FAA10-468A-DD69-2C52-07D6E5F9B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FD7DFE8-3A9A-2890-0CBF-2F4F4D30C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9" y="282379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altLang="zh-CN" sz="4400" kern="0" dirty="0">
                <a:ea typeface="宋体" panose="02010600030101010101" pitchFamily="2" charset="-122"/>
              </a:rPr>
              <a:t>6. Which of the following is </a:t>
            </a:r>
            <a:r>
              <a:rPr lang="en-US" altLang="zh-CN" sz="4400" kern="0" dirty="0">
                <a:solidFill>
                  <a:srgbClr val="FF0000"/>
                </a:solidFill>
                <a:ea typeface="宋体" panose="02010600030101010101" pitchFamily="2" charset="-122"/>
              </a:rPr>
              <a:t>not</a:t>
            </a:r>
            <a:r>
              <a:rPr lang="en-US" altLang="zh-CN" sz="4400" kern="0" dirty="0">
                <a:ea typeface="宋体" panose="02010600030101010101" pitchFamily="2" charset="-122"/>
              </a:rPr>
              <a:t> a type in imperative programs?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6F1769-3D05-A7FC-2848-0B454B37B2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7640" y="1644981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Arrow (function) type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Boolean	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String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Integer</a:t>
            </a:r>
          </a:p>
        </p:txBody>
      </p:sp>
    </p:spTree>
    <p:extLst>
      <p:ext uri="{BB962C8B-B14F-4D97-AF65-F5344CB8AC3E}">
        <p14:creationId xmlns:p14="http://schemas.microsoft.com/office/powerpoint/2010/main" val="2259535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A7A137-426B-22C4-0385-0FACE1244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71ED16-DD08-C18B-EB15-0EAD2E959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sz="4400" kern="0" dirty="0">
                <a:ea typeface="宋体" panose="02010600030101010101" pitchFamily="2" charset="-122"/>
              </a:rPr>
              <a:t>7. Is state change a major feature in function language?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BEB5A7-FEC9-5E49-22A8-237A6AA55E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398238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Yes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No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B02F0A-6A80-E68B-FAE7-5EC334C2B2CD}"/>
              </a:ext>
            </a:extLst>
          </p:cNvPr>
          <p:cNvSpPr txBox="1"/>
          <p:nvPr/>
        </p:nvSpPr>
        <p:spPr>
          <a:xfrm>
            <a:off x="3490685" y="2485363"/>
            <a:ext cx="6096000" cy="2714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Wingdings"/>
              <a:buChar char="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Functional languages are characterized by: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Functional composition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Recursion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No state changes</a:t>
            </a: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: no variable assignments</a:t>
            </a:r>
          </a:p>
          <a:p>
            <a:pPr marL="914400" marR="0" lvl="2" indent="-18288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>
                  <a:shade val="75000"/>
                </a:srgbClr>
              </a:buClr>
              <a:buSzPct val="60000"/>
              <a:buFont typeface="Wingdings"/>
              <a:buChar char="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srgbClr val="FE8637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x := x + 1 (wrong!)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Mathematically: output results instantly</a:t>
            </a:r>
          </a:p>
        </p:txBody>
      </p:sp>
    </p:spTree>
    <p:extLst>
      <p:ext uri="{BB962C8B-B14F-4D97-AF65-F5344CB8AC3E}">
        <p14:creationId xmlns:p14="http://schemas.microsoft.com/office/powerpoint/2010/main" val="102006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60CC5-541D-9B91-3008-AC7546E31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766D46A-927B-7CDE-910B-1E01093AB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zh-CN" sz="4000" kern="0" dirty="0">
                <a:ea typeface="宋体" panose="02010600030101010101" pitchFamily="2" charset="-122"/>
              </a:rPr>
              <a:t>8. Logic programs describes?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1E4E05-FD60-AC7F-E8E7-A5566F6148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398238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How the problem is solved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What is the expected outcome</a:t>
            </a:r>
          </a:p>
        </p:txBody>
      </p:sp>
    </p:spTree>
    <p:extLst>
      <p:ext uri="{BB962C8B-B14F-4D97-AF65-F5344CB8AC3E}">
        <p14:creationId xmlns:p14="http://schemas.microsoft.com/office/powerpoint/2010/main" val="3331535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1295F-A9D3-38B5-5278-ACB0ADB6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3A7105E-641C-78EF-6856-3771CBD77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US" altLang="zh-CN" sz="4400" kern="0" dirty="0">
                <a:ea typeface="宋体" panose="02010600030101010101" pitchFamily="2" charset="-122"/>
              </a:rPr>
              <a:t>9. What </a:t>
            </a:r>
            <a:r>
              <a:rPr lang="en-US" altLang="zh-CN" sz="4400" kern="0" dirty="0">
                <a:solidFill>
                  <a:srgbClr val="FF0000"/>
                </a:solidFill>
                <a:ea typeface="宋体" panose="02010600030101010101" pitchFamily="2" charset="-122"/>
              </a:rPr>
              <a:t>doesn’t</a:t>
            </a:r>
            <a:r>
              <a:rPr lang="en-US" altLang="zh-CN" sz="4400" kern="0" dirty="0">
                <a:ea typeface="宋体" panose="02010600030101010101" pitchFamily="2" charset="-122"/>
              </a:rPr>
              <a:t> make a successful programming language?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45598F4-DD14-6D03-FB13-7132E43CEC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398238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Clarity about binding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Abstraction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Orthogonality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Similarity with human language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8B7474-68AE-0DB5-EF7F-A6C139093BA0}"/>
              </a:ext>
            </a:extLst>
          </p:cNvPr>
          <p:cNvSpPr txBox="1"/>
          <p:nvPr/>
        </p:nvSpPr>
        <p:spPr>
          <a:xfrm>
            <a:off x="6415314" y="1837232"/>
            <a:ext cx="6096000" cy="3622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lvl="0" indent="-274320">
              <a:spcBef>
                <a:spcPts val="600"/>
              </a:spcBef>
              <a:buClr>
                <a:srgbClr val="FE8637"/>
              </a:buClr>
              <a:buSzPct val="70000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/>
              <a:t>What makes a successful language?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Times New Roman" charset="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Key characteristics: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Simplicity and readability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Clarity about binding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Reliability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Support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Abstraction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Orthogonality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E8637"/>
              </a:buClr>
              <a:buSzPct val="80000"/>
              <a:buFont typeface="Wingdings 2"/>
              <a:buChar char="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Efficient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73838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1" dur="indefinite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9EE09-EF3D-81B7-78FF-9DBC16D78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DD3B2A7-37EB-95D6-E18A-14A0B0E64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>
            <a:normAutofit/>
          </a:bodyPr>
          <a:lstStyle/>
          <a:p>
            <a:r>
              <a:rPr lang="en-US" altLang="zh-CN" sz="4000" kern="0" dirty="0">
                <a:ea typeface="宋体" panose="02010600030101010101" pitchFamily="2" charset="-122"/>
              </a:rPr>
              <a:t>10. Which language is Python?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45F596-42F8-FF17-FFFC-2AE5B14D62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280" y="1398238"/>
            <a:ext cx="11856720" cy="3391477"/>
          </a:xfrm>
        </p:spPr>
        <p:txBody>
          <a:bodyPr vert="horz" lIns="121920" tIns="60960" rIns="121920" bIns="60960" rtlCol="0" anchor="t">
            <a:normAutofit/>
          </a:bodyPr>
          <a:lstStyle/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A compiled language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An interpreted language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A hybrid compilation/interpretation</a:t>
            </a:r>
          </a:p>
          <a:p>
            <a:pPr marL="1009650" indent="-742950">
              <a:buSzPct val="100000"/>
              <a:buFont typeface="Gill Sans" charset="0"/>
              <a:buAutoNum type="alphaLcPeriod"/>
            </a:pPr>
            <a:r>
              <a:rPr lang="en-US" altLang="zh-CN" sz="2400" kern="0" dirty="0">
                <a:ea typeface="宋体" panose="02010600030101010101" pitchFamily="2" charset="-122"/>
              </a:rPr>
              <a:t>None of the above</a:t>
            </a:r>
          </a:p>
        </p:txBody>
      </p:sp>
    </p:spTree>
    <p:extLst>
      <p:ext uri="{BB962C8B-B14F-4D97-AF65-F5344CB8AC3E}">
        <p14:creationId xmlns:p14="http://schemas.microsoft.com/office/powerpoint/2010/main" val="300487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" dur="indefinite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CC3300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8264D-5C1A-7063-232E-47D6795BD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1129AC0-D5B6-31B7-3AD5-9C7C738B2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HW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C6A466-9FD2-0F1C-F532-9551DCA1D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9371" y="2360043"/>
            <a:ext cx="9760857" cy="4131733"/>
          </a:xfr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Orthogonality: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Font typeface="Wingdings"/>
              <a:buChar char=""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A language is </a:t>
            </a:r>
            <a:r>
              <a:rPr kumimoji="0" lang="en-GB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orthogonal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 if its features are built upon a small, </a:t>
            </a:r>
            <a:r>
              <a:rPr kumimoji="0" lang="en-GB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mutually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 </a:t>
            </a:r>
            <a:r>
              <a:rPr kumimoji="0" lang="en-GB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independent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 set of primitive operations.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GB" sz="2400" dirty="0">
              <a:solidFill>
                <a:prstClr val="black"/>
              </a:solidFill>
              <a:latin typeface="Century Schoolbook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AF0A0E-8397-146F-E4B6-9635646FD1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688" b="11376"/>
          <a:stretch>
            <a:fillRect/>
          </a:stretch>
        </p:blipFill>
        <p:spPr>
          <a:xfrm>
            <a:off x="1139371" y="1110343"/>
            <a:ext cx="874395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186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44AB5-71A0-0A07-557A-3D30A7160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D85CF9C-8FF0-15F9-B5CA-4D1924B14E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4057" y="738283"/>
            <a:ext cx="9855199" cy="5381433"/>
          </a:xfr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Century Schoolbook"/>
                <a:cs typeface="+mn-cs"/>
              </a:rPr>
              <a:t>C:</a:t>
            </a: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Century Schoolbook"/>
              </a:rPr>
              <a:t>Orthogonality:</a:t>
            </a: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US" sz="2400" dirty="0"/>
              <a:t>Same operator </a:t>
            </a:r>
            <a:r>
              <a:rPr lang="en-US" dirty="0"/>
              <a:t>*</a:t>
            </a:r>
            <a:r>
              <a:rPr lang="en-US" sz="2400" dirty="0"/>
              <a:t> works the same way for </a:t>
            </a:r>
            <a:r>
              <a:rPr lang="en-US" dirty="0"/>
              <a:t>int*</a:t>
            </a:r>
            <a:r>
              <a:rPr lang="en-US" sz="2400" dirty="0"/>
              <a:t> and </a:t>
            </a:r>
            <a:r>
              <a:rPr lang="en-US" dirty="0"/>
              <a:t>double*</a:t>
            </a:r>
            <a:r>
              <a:rPr lang="en-US" sz="2400" dirty="0"/>
              <a:t>. The rule is consistent across types, so it's more orthogonal.</a:t>
            </a: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/>
              <a:ea typeface="+mn-ea"/>
              <a:cs typeface="+mn-cs"/>
            </a:endParaRP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US" sz="2400" dirty="0">
              <a:solidFill>
                <a:prstClr val="black"/>
              </a:solidFill>
              <a:latin typeface="Century Schoolbook"/>
              <a:cs typeface="+mn-cs"/>
            </a:endParaRP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Non-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o</a:t>
            </a:r>
            <a:r>
              <a:rPr lang="en-GB" sz="2400" dirty="0" err="1">
                <a:solidFill>
                  <a:prstClr val="black"/>
                </a:solidFill>
                <a:latin typeface="Century Schoolbook"/>
              </a:rPr>
              <a:t>rthogonality</a:t>
            </a:r>
            <a:r>
              <a:rPr lang="en-GB" sz="2400" dirty="0">
                <a:solidFill>
                  <a:prstClr val="black"/>
                </a:solidFill>
                <a:latin typeface="Century Schoolbook"/>
              </a:rPr>
              <a:t>: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/>
              <a:ea typeface="+mn-ea"/>
              <a:cs typeface="+mn-cs"/>
            </a:endParaRP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US" sz="2400" dirty="0"/>
              <a:t>If arrays were treated like normal values, </a:t>
            </a:r>
            <a:r>
              <a:rPr lang="en-US" dirty="0"/>
              <a:t>x = y</a:t>
            </a:r>
            <a:r>
              <a:rPr lang="en-US" sz="2400" dirty="0"/>
              <a:t> should work. But in C it doesn't—this is a special rule, so it's non-orthogonal.</a:t>
            </a:r>
            <a:endParaRPr lang="en-GB" sz="2400" dirty="0">
              <a:solidFill>
                <a:prstClr val="black"/>
              </a:solidFill>
              <a:latin typeface="Century Schoolbook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6ABC96-9823-C7FE-E385-DCF1EECA6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923" y="2183876"/>
            <a:ext cx="2533333" cy="160952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0B108B-4E11-EEB7-870B-A051544B98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018" y="4674124"/>
            <a:ext cx="3895238" cy="112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8181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51440-04E0-D374-F373-B39D11232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48D6E6-9138-7F8D-D4FA-8086712D34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29333" y="326571"/>
            <a:ext cx="9899923" cy="5793145"/>
          </a:xfrm>
        </p:spPr>
        <p:txBody>
          <a:bodyPr vert="horz" lIns="121920" tIns="60960" rIns="121920" bIns="6096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Century Schoolbook"/>
                <a:cs typeface="+mn-cs"/>
              </a:rPr>
              <a:t>Java:</a:t>
            </a: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GB" sz="2400" dirty="0">
                <a:solidFill>
                  <a:prstClr val="black"/>
                </a:solidFill>
                <a:latin typeface="Century Schoolbook"/>
              </a:rPr>
              <a:t>Orthogonality:</a:t>
            </a: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US" sz="2400" dirty="0"/>
              <a:t>Even though </a:t>
            </a:r>
            <a:r>
              <a:rPr lang="en-US" dirty="0" err="1"/>
              <a:t>ArrayList</a:t>
            </a:r>
            <a:r>
              <a:rPr lang="en-US" sz="2400" dirty="0"/>
              <a:t> and </a:t>
            </a:r>
            <a:r>
              <a:rPr lang="en-US" dirty="0"/>
              <a:t>LinkedList</a:t>
            </a:r>
            <a:r>
              <a:rPr lang="en-US" sz="2400" dirty="0"/>
              <a:t> are different implementations, we can use the same interface </a:t>
            </a:r>
            <a:r>
              <a:rPr lang="en-US" dirty="0"/>
              <a:t>List</a:t>
            </a:r>
            <a:r>
              <a:rPr lang="en-US" sz="2400" dirty="0"/>
              <a:t> and call the same methods. </a:t>
            </a: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/>
              <a:ea typeface="+mn-ea"/>
              <a:cs typeface="+mn-cs"/>
            </a:endParaRP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US" sz="2400" dirty="0">
              <a:solidFill>
                <a:prstClr val="black"/>
              </a:solidFill>
              <a:latin typeface="Century Schoolbook"/>
              <a:cs typeface="+mn-cs"/>
            </a:endParaRP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endParaRPr lang="en-US" sz="2400" dirty="0">
              <a:solidFill>
                <a:prstClr val="black"/>
              </a:solidFill>
              <a:latin typeface="Century Schoolbook"/>
              <a:cs typeface="+mn-cs"/>
            </a:endParaRP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Non-</a:t>
            </a: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Schoolbook"/>
                <a:ea typeface="+mn-ea"/>
                <a:cs typeface="+mn-cs"/>
              </a:rPr>
              <a:t>o</a:t>
            </a:r>
            <a:r>
              <a:rPr lang="en-GB" sz="2400" dirty="0" err="1">
                <a:solidFill>
                  <a:prstClr val="black"/>
                </a:solidFill>
                <a:latin typeface="Century Schoolbook"/>
              </a:rPr>
              <a:t>rthogonality</a:t>
            </a:r>
            <a:r>
              <a:rPr lang="en-GB" sz="2400" dirty="0">
                <a:solidFill>
                  <a:prstClr val="black"/>
                </a:solidFill>
                <a:latin typeface="Century Schoolbook"/>
              </a:rPr>
              <a:t>: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/>
              <a:ea typeface="+mn-ea"/>
              <a:cs typeface="+mn-cs"/>
            </a:endParaRPr>
          </a:p>
          <a:p>
            <a:pPr marL="0" lvl="0" indent="0" defTabSz="914400">
              <a:spcBef>
                <a:spcPts val="600"/>
              </a:spcBef>
              <a:buClr>
                <a:srgbClr val="FE8637"/>
              </a:buClr>
              <a:buSzPct val="70000"/>
              <a:buNone/>
              <a:tabLst>
                <a:tab pos="454025" algn="l"/>
                <a:tab pos="911225" algn="l"/>
                <a:tab pos="1368425" algn="l"/>
                <a:tab pos="1825625" algn="l"/>
                <a:tab pos="2282825" algn="l"/>
                <a:tab pos="2740025" algn="l"/>
                <a:tab pos="3197225" algn="l"/>
                <a:tab pos="3654425" algn="l"/>
                <a:tab pos="4111625" algn="l"/>
                <a:tab pos="4568825" algn="l"/>
                <a:tab pos="5026025" algn="l"/>
                <a:tab pos="5483225" algn="l"/>
                <a:tab pos="5940425" algn="l"/>
                <a:tab pos="6397625" algn="l"/>
                <a:tab pos="6854825" algn="l"/>
                <a:tab pos="7312025" algn="l"/>
                <a:tab pos="7769225" algn="l"/>
                <a:tab pos="8226425" algn="l"/>
                <a:tab pos="8683625" algn="l"/>
                <a:tab pos="9140825" algn="l"/>
              </a:tabLst>
              <a:defRPr/>
            </a:pPr>
            <a:r>
              <a:rPr lang="en-US" sz="2400" dirty="0"/>
              <a:t>Same operator </a:t>
            </a:r>
            <a:r>
              <a:rPr lang="en-US" dirty="0"/>
              <a:t>==</a:t>
            </a:r>
            <a:r>
              <a:rPr lang="en-US" sz="2400" dirty="0"/>
              <a:t>, but different meaning depending on type: for primitives it compares values; for objects it compares references. 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Schoolbook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6B3BAB-5855-F4AD-E585-DB6ED96F42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667" y="1983132"/>
            <a:ext cx="2800000" cy="19047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3E5A7B-BB69-AAB0-E058-AD72A4234F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817952"/>
            <a:ext cx="5066667" cy="18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195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CA5C1-ED68-B164-7F4A-8BA1B17BD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5F5211-E0D9-D188-DD18-BEABD4931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B62240-C41C-9E57-D347-A3F696DF0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2149" y="1363133"/>
            <a:ext cx="9760857" cy="4131733"/>
          </a:xfrm>
        </p:spPr>
        <p:txBody>
          <a:bodyPr vert="horz" lIns="121920" tIns="60960" rIns="121920" bIns="60960" rtlCol="0">
            <a:normAutofit/>
          </a:bodyPr>
          <a:lstStyle/>
          <a:p>
            <a:pPr marL="0" indent="0">
              <a:buNone/>
            </a:pPr>
            <a:r>
              <a:rPr lang="en-US" dirty="0"/>
              <a:t>Java Basic Data Types (Primitive Types):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76F885-9CEC-DABF-6F44-37808DE36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149" y="166265"/>
            <a:ext cx="8352685" cy="1315103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15CEA80-873D-AC2C-1324-DBDC87D75E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5101485"/>
              </p:ext>
            </p:extLst>
          </p:nvPr>
        </p:nvGraphicFramePr>
        <p:xfrm>
          <a:off x="2316489" y="1767176"/>
          <a:ext cx="7048345" cy="4525965"/>
        </p:xfrm>
        <a:graphic>
          <a:graphicData uri="http://schemas.openxmlformats.org/drawingml/2006/table">
            <a:tbl>
              <a:tblPr/>
              <a:tblGrid>
                <a:gridCol w="1495778">
                  <a:extLst>
                    <a:ext uri="{9D8B030D-6E8A-4147-A177-3AD203B41FA5}">
                      <a16:colId xmlns:a16="http://schemas.microsoft.com/office/drawing/2014/main" val="3272314860"/>
                    </a:ext>
                  </a:extLst>
                </a:gridCol>
                <a:gridCol w="5552567">
                  <a:extLst>
                    <a:ext uri="{9D8B030D-6E8A-4147-A177-3AD203B41FA5}">
                      <a16:colId xmlns:a16="http://schemas.microsoft.com/office/drawing/2014/main" val="3607296830"/>
                    </a:ext>
                  </a:extLst>
                </a:gridCol>
              </a:tblGrid>
              <a:tr h="37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Data Type</a:t>
                      </a:r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Explanation</a:t>
                      </a:r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4086138"/>
                  </a:ext>
                </a:extLst>
              </a:tr>
              <a:tr h="66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Courier New" panose="02070309020205020404" pitchFamily="49" charset="0"/>
                        </a:rPr>
                        <a:t>byte</a:t>
                      </a:r>
                      <a:endParaRPr lang="en-US" sz="1900" b="1" dirty="0"/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8-bit signed integer, used to save memory</a:t>
                      </a:r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1858794"/>
                  </a:ext>
                </a:extLst>
              </a:tr>
              <a:tr h="37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Courier New" panose="02070309020205020404" pitchFamily="49" charset="0"/>
                        </a:rPr>
                        <a:t>short</a:t>
                      </a:r>
                      <a:endParaRPr lang="en-US" sz="1900" b="1" dirty="0"/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16-bit signed integer</a:t>
                      </a:r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681849"/>
                  </a:ext>
                </a:extLst>
              </a:tr>
              <a:tr h="66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Courier New" panose="02070309020205020404" pitchFamily="49" charset="0"/>
                        </a:rPr>
                        <a:t>int</a:t>
                      </a:r>
                      <a:endParaRPr lang="en-US" sz="1900" b="1" dirty="0"/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32-bit signed integer, most commonly used</a:t>
                      </a:r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3876160"/>
                  </a:ext>
                </a:extLst>
              </a:tr>
              <a:tr h="66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Courier New" panose="02070309020205020404" pitchFamily="49" charset="0"/>
                        </a:rPr>
                        <a:t>long</a:t>
                      </a:r>
                      <a:endParaRPr lang="en-US" sz="1900" b="1" dirty="0"/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64-bit signed integer for large whole numbers</a:t>
                      </a:r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128952"/>
                  </a:ext>
                </a:extLst>
              </a:tr>
              <a:tr h="37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Courier New" panose="02070309020205020404" pitchFamily="49" charset="0"/>
                        </a:rPr>
                        <a:t>float</a:t>
                      </a:r>
                      <a:endParaRPr lang="en-US" sz="1900" b="1" dirty="0"/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32-bit floating-point number</a:t>
                      </a:r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8206143"/>
                  </a:ext>
                </a:extLst>
              </a:tr>
              <a:tr h="667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Courier New" panose="02070309020205020404" pitchFamily="49" charset="0"/>
                        </a:rPr>
                        <a:t>double</a:t>
                      </a:r>
                      <a:endParaRPr lang="en-US" sz="1900" b="1" dirty="0"/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64-bit floating-point number with higher precision</a:t>
                      </a:r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9243222"/>
                  </a:ext>
                </a:extLst>
              </a:tr>
              <a:tr h="37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>
                          <a:latin typeface="Courier New" panose="02070309020205020404" pitchFamily="49" charset="0"/>
                        </a:rPr>
                        <a:t>char</a:t>
                      </a:r>
                      <a:endParaRPr lang="en-US" sz="1900" b="1" dirty="0"/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/>
                        <a:t>Single 16-bit Unicode character</a:t>
                      </a:r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8847327"/>
                  </a:ext>
                </a:extLst>
              </a:tr>
              <a:tr h="370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b="1" dirty="0" err="1">
                          <a:latin typeface="Courier New" panose="02070309020205020404" pitchFamily="49" charset="0"/>
                        </a:rPr>
                        <a:t>boolean</a:t>
                      </a:r>
                      <a:endParaRPr lang="en-US" sz="1900" b="1" dirty="0"/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/>
                        <a:t>Represents </a:t>
                      </a:r>
                      <a:r>
                        <a:rPr lang="en-US" sz="1900" b="1" dirty="0">
                          <a:latin typeface="Courier New" panose="02070309020205020404" pitchFamily="49" charset="0"/>
                        </a:rPr>
                        <a:t>true</a:t>
                      </a:r>
                      <a:r>
                        <a:rPr lang="en-US" sz="1900" b="0" dirty="0"/>
                        <a:t> or </a:t>
                      </a:r>
                      <a:r>
                        <a:rPr lang="en-US" sz="1900" b="1" dirty="0">
                          <a:latin typeface="Courier New" panose="02070309020205020404" pitchFamily="49" charset="0"/>
                        </a:rPr>
                        <a:t>false</a:t>
                      </a:r>
                      <a:endParaRPr lang="en-US" sz="1900" b="1" dirty="0"/>
                    </a:p>
                  </a:txBody>
                  <a:tcPr marL="74196" marR="74196" marT="37098" marB="3709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52768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35983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067ADF-8688-E2D1-BA85-BE41CFE3B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138D214-CB0A-15EB-923D-B40A613FE7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232" y="194291"/>
            <a:ext cx="9760857" cy="4131733"/>
          </a:xfrm>
        </p:spPr>
        <p:txBody>
          <a:bodyPr vert="horz" lIns="121920" tIns="60960" rIns="121920" bIns="60960" rtlCol="0">
            <a:normAutofit/>
          </a:bodyPr>
          <a:lstStyle/>
          <a:p>
            <a:pPr marL="0" indent="0">
              <a:buNone/>
            </a:pPr>
            <a:r>
              <a:rPr lang="en-US" dirty="0"/>
              <a:t>C Basic Data Types: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51479E-DA23-F9E2-1B87-33777664B1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813985"/>
              </p:ext>
            </p:extLst>
          </p:nvPr>
        </p:nvGraphicFramePr>
        <p:xfrm>
          <a:off x="1143387" y="1011804"/>
          <a:ext cx="9177406" cy="4525964"/>
        </p:xfrm>
        <a:graphic>
          <a:graphicData uri="http://schemas.openxmlformats.org/drawingml/2006/table">
            <a:tbl>
              <a:tblPr/>
              <a:tblGrid>
                <a:gridCol w="1792249">
                  <a:extLst>
                    <a:ext uri="{9D8B030D-6E8A-4147-A177-3AD203B41FA5}">
                      <a16:colId xmlns:a16="http://schemas.microsoft.com/office/drawing/2014/main" val="2251394256"/>
                    </a:ext>
                  </a:extLst>
                </a:gridCol>
                <a:gridCol w="7385157">
                  <a:extLst>
                    <a:ext uri="{9D8B030D-6E8A-4147-A177-3AD203B41FA5}">
                      <a16:colId xmlns:a16="http://schemas.microsoft.com/office/drawing/2014/main" val="2660799595"/>
                    </a:ext>
                  </a:extLst>
                </a:gridCol>
              </a:tblGrid>
              <a:tr h="40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Data Type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Explanation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0589824"/>
                  </a:ext>
                </a:extLst>
              </a:tr>
              <a:tr h="727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ourier New" panose="02070309020205020404" pitchFamily="49" charset="0"/>
                        </a:rPr>
                        <a:t>char</a:t>
                      </a:r>
                      <a:endParaRPr lang="en-US" sz="2100" b="1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Typically 8 bits, used to store characters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4844563"/>
                  </a:ext>
                </a:extLst>
              </a:tr>
              <a:tr h="727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ourier New" panose="02070309020205020404" pitchFamily="49" charset="0"/>
                        </a:rPr>
                        <a:t>int</a:t>
                      </a:r>
                      <a:endParaRPr lang="en-US" sz="2100" b="1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Used for integers, size depends on system (usually 32 bits)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58694"/>
                  </a:ext>
                </a:extLst>
              </a:tr>
              <a:tr h="40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ourier New" panose="02070309020205020404" pitchFamily="49" charset="0"/>
                        </a:rPr>
                        <a:t>short</a:t>
                      </a:r>
                      <a:endParaRPr lang="en-US" sz="2100" b="1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Smaller integer type (usually 16 bits)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932374"/>
                  </a:ext>
                </a:extLst>
              </a:tr>
              <a:tr h="727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ourier New" panose="02070309020205020404" pitchFamily="49" charset="0"/>
                        </a:rPr>
                        <a:t>long</a:t>
                      </a:r>
                      <a:endParaRPr lang="en-US" sz="2100" b="1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Larger integer type, size depends on system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2154279"/>
                  </a:ext>
                </a:extLst>
              </a:tr>
              <a:tr h="40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ourier New" panose="02070309020205020404" pitchFamily="49" charset="0"/>
                        </a:rPr>
                        <a:t>float</a:t>
                      </a:r>
                      <a:endParaRPr lang="en-US" sz="2100" b="1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Single-precision floating-point number (32 bits)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6888068"/>
                  </a:ext>
                </a:extLst>
              </a:tr>
              <a:tr h="4041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ourier New" panose="02070309020205020404" pitchFamily="49" charset="0"/>
                        </a:rPr>
                        <a:t>double</a:t>
                      </a:r>
                      <a:endParaRPr lang="en-US" sz="2100" b="1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Double-precision floating-point number (64 bits)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7800651"/>
                  </a:ext>
                </a:extLst>
              </a:tr>
              <a:tr h="7273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Courier New" panose="02070309020205020404" pitchFamily="49" charset="0"/>
                        </a:rPr>
                        <a:t>void</a:t>
                      </a:r>
                      <a:endParaRPr lang="en-US" sz="2100" b="1" dirty="0"/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Represents no value (used for functions with no return)</a:t>
                      </a:r>
                    </a:p>
                  </a:txBody>
                  <a:tcPr marL="80821" marR="80821" marT="40410" marB="4041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6340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480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A513D-528F-D020-17BA-B45DF225A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0A0BD5-E7C1-69F1-7863-ADA8CD2E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509D66-48E0-7EC2-3C24-962246E30B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683" r="654" b="8125"/>
          <a:stretch>
            <a:fillRect/>
          </a:stretch>
        </p:blipFill>
        <p:spPr>
          <a:xfrm>
            <a:off x="856342" y="1015998"/>
            <a:ext cx="8319752" cy="2220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7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DCD6B9-25F3-43AA-BFFC-1F8076DE8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2925F5-EC52-3751-00A9-7B68E446D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CF035B-8B61-CF9B-C825-376C90772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104" y="1309265"/>
            <a:ext cx="6466667" cy="5085714"/>
          </a:xfrm>
          <a:prstGeom prst="rect">
            <a:avLst/>
          </a:prstGeom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0D611D-E071-A504-D14D-847CED04A1C3}"/>
              </a:ext>
            </a:extLst>
          </p:cNvPr>
          <p:cNvSpPr txBox="1">
            <a:spLocks/>
          </p:cNvSpPr>
          <p:nvPr/>
        </p:nvSpPr>
        <p:spPr>
          <a:xfrm>
            <a:off x="449942" y="1363133"/>
            <a:ext cx="3606801" cy="4131733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380990" indent="-380990" algn="l" defTabSz="609585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133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133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133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Dynamic array (</a:t>
            </a:r>
            <a:r>
              <a:rPr lang="en-US" dirty="0" err="1"/>
              <a:t>ArrayList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79702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F9534-C0DB-A20A-4870-BBA60D976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7AF6BF-03E1-914E-B4BA-15064D84C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EFD11F-A4A5-1D63-257E-936AD29D3D37}"/>
              </a:ext>
            </a:extLst>
          </p:cNvPr>
          <p:cNvSpPr txBox="1">
            <a:spLocks/>
          </p:cNvSpPr>
          <p:nvPr/>
        </p:nvSpPr>
        <p:spPr>
          <a:xfrm>
            <a:off x="449942" y="1363133"/>
            <a:ext cx="3606801" cy="4131733"/>
          </a:xfrm>
          <a:prstGeom prst="rect">
            <a:avLst/>
          </a:prstGeom>
        </p:spPr>
        <p:txBody>
          <a:bodyPr vert="horz" lIns="121920" tIns="60960" rIns="121920" bIns="60960" rtlCol="0">
            <a:normAutofit/>
          </a:bodyPr>
          <a:lstStyle>
            <a:lvl1pPr marL="380990" indent="-380990" algn="l" defTabSz="609585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133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90575" indent="-380990" algn="l" defTabSz="609585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133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523962" indent="-304792" algn="l" defTabSz="609585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133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133547" indent="-304792" algn="l" defTabSz="609585" rtl="0" eaLnBrk="1" latinLnBrk="0" hangingPunct="1">
              <a:spcBef>
                <a:spcPct val="20000"/>
              </a:spcBef>
              <a:buFont typeface="Arial"/>
              <a:buChar char="–"/>
              <a:defRPr sz="2133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4pPr>
            <a:lvl5pPr marL="2743131" indent="-304792" algn="l" defTabSz="609585" rtl="0" eaLnBrk="1" latinLnBrk="0" hangingPunct="1">
              <a:spcBef>
                <a:spcPct val="20000"/>
              </a:spcBef>
              <a:buFont typeface="Arial"/>
              <a:buChar char="»"/>
              <a:defRPr sz="2400" kern="1200">
                <a:solidFill>
                  <a:schemeClr val="tx1"/>
                </a:solidFill>
                <a:latin typeface="Helvetica" pitchFamily="2" charset="0"/>
                <a:ea typeface="+mn-ea"/>
                <a:cs typeface="+mn-cs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dirty="0"/>
              <a:t>Fixed array (int[])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B33C2-3D71-7B39-425E-F6F4E0A7D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0858" y="1039248"/>
            <a:ext cx="6400000" cy="5476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0266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98ECA-E2D2-E0CC-24AB-BDD2482B9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D22780-BB00-CB24-BB2E-84F7BBBF0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 anchor="ctr">
            <a:normAutofit/>
          </a:bodyPr>
          <a:lstStyle/>
          <a:p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B62EB6B-80D6-B76F-5482-C403661AD2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39370" y="2399800"/>
            <a:ext cx="9760857" cy="4131733"/>
          </a:xfrm>
        </p:spPr>
        <p:txBody>
          <a:bodyPr vert="horz" lIns="121920" tIns="60960" rIns="121920" bIns="60960" rtlCol="0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B62114-89C1-46EC-62CA-9A34A1A75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70" y="166265"/>
            <a:ext cx="8521893" cy="1551056"/>
          </a:xfrm>
          <a:prstGeom prst="rect">
            <a:avLst/>
          </a:prstGeom>
        </p:spPr>
      </p:pic>
      <p:pic>
        <p:nvPicPr>
          <p:cNvPr id="1026" name="Picture 2" descr="How Compilers Work: From Code to Execution">
            <a:extLst>
              <a:ext uri="{FF2B5EF4-FFF2-40B4-BE49-F238E27FC236}">
                <a16:creationId xmlns:a16="http://schemas.microsoft.com/office/drawing/2014/main" id="{9138201C-3C56-E96B-EAED-4337CFB7E7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4" t="557" r="5952" b="5577"/>
          <a:stretch>
            <a:fillRect/>
          </a:stretch>
        </p:blipFill>
        <p:spPr bwMode="auto">
          <a:xfrm>
            <a:off x="3418768" y="1991744"/>
            <a:ext cx="6702951" cy="402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840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1E58D-24F2-7D37-D304-D1F234689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ontent Placeholder 2">
            <a:extLst>
              <a:ext uri="{FF2B5EF4-FFF2-40B4-BE49-F238E27FC236}">
                <a16:creationId xmlns:a16="http://schemas.microsoft.com/office/drawing/2014/main" id="{B1054996-8095-3742-50EA-BD259C0916AA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587047555"/>
              </p:ext>
            </p:extLst>
          </p:nvPr>
        </p:nvGraphicFramePr>
        <p:xfrm>
          <a:off x="609600" y="485031"/>
          <a:ext cx="10972800" cy="5224007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53307673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9526376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4163194150"/>
                    </a:ext>
                  </a:extLst>
                </a:gridCol>
              </a:tblGrid>
              <a:tr h="467522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2100" dirty="0"/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/>
                        <a:t>Interpreted Language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/>
                        <a:t>Compiled Language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1196730"/>
                  </a:ext>
                </a:extLst>
              </a:tr>
              <a:tr h="46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Performance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Generally slower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Generally faster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388056"/>
                  </a:ext>
                </a:extLst>
              </a:tr>
              <a:tr h="7290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Portability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High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Lower (platform-dependent)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9992895"/>
                  </a:ext>
                </a:extLst>
              </a:tr>
              <a:tr h="46752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Development Speed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Faster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Slower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606015"/>
                  </a:ext>
                </a:extLst>
              </a:tr>
              <a:tr h="840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Error Handling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/>
                        <a:t>Errors detected at runtime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Errors detected before execution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6325910"/>
                  </a:ext>
                </a:extLst>
              </a:tr>
              <a:tr h="1199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Use Cases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Scripting, automation, rapid prototyping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High-performance applications, system programming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1572417"/>
                  </a:ext>
                </a:extLst>
              </a:tr>
              <a:tr h="10530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Examples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Python, JS, Ruby, PHP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/>
                        <a:t>C, C++, Rust, Go</a:t>
                      </a:r>
                    </a:p>
                  </a:txBody>
                  <a:tcPr marL="81333" marR="81333" marT="40666" marB="4066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33742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653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00AE2-45BD-0FBE-E8A2-CA6B8059F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055898-8EDA-188C-E187-F24AE1D1D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6265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US" dirty="0"/>
              <a:t>General Questions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C36FBC-A39B-046C-2EDA-318585DA1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4856" y="1532729"/>
            <a:ext cx="10218058" cy="4131733"/>
          </a:xfrm>
        </p:spPr>
        <p:txBody>
          <a:bodyPr vert="horz" lIns="121920" tIns="60960" rIns="121920" bIns="60960" rtlCol="0">
            <a:normAutofit/>
          </a:bodyPr>
          <a:lstStyle/>
          <a:p>
            <a:r>
              <a:rPr lang="en-US" dirty="0"/>
              <a:t>Usually, homework will be released every Wednesday, and the due date will be the following Monday at 11:59 PM.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Quizzes will count toward the total score (15%).</a:t>
            </a:r>
          </a:p>
          <a:p>
            <a:endParaRPr lang="en-US" dirty="0"/>
          </a:p>
          <a:p>
            <a:r>
              <a:rPr lang="en-US" dirty="0"/>
              <a:t>Students who participate in the tutorial and present their own homework will receive bonus points (up to 5%).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CA663C-F96F-8103-BBDC-E87198C865E9}"/>
              </a:ext>
            </a:extLst>
          </p:cNvPr>
          <p:cNvSpPr txBox="1"/>
          <p:nvPr/>
        </p:nvSpPr>
        <p:spPr>
          <a:xfrm>
            <a:off x="6037108" y="4925161"/>
            <a:ext cx="37310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No homework this week!</a:t>
            </a:r>
          </a:p>
        </p:txBody>
      </p:sp>
    </p:spTree>
    <p:extLst>
      <p:ext uri="{BB962C8B-B14F-4D97-AF65-F5344CB8AC3E}">
        <p14:creationId xmlns:p14="http://schemas.microsoft.com/office/powerpoint/2010/main" val="1366971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333063-774E-D64F-A41A-85AA488BD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1854878"/>
      </p:ext>
    </p:extLst>
  </p:cSld>
  <p:clrMapOvr>
    <a:masterClrMapping/>
  </p:clrMapOvr>
</p:sld>
</file>

<file path=ppt/theme/theme1.xml><?xml version="1.0" encoding="utf-8"?>
<a:theme xmlns:a="http://schemas.openxmlformats.org/drawingml/2006/main" name="UTA Accessible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essible-PPT.pptx" id="{DC14534C-1046-F040-970C-D4B656BEDF73}" vid="{22719C90-FD2E-C343-B61D-D3EE9148FC7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739</TotalTime>
  <Words>714</Words>
  <Application>Microsoft Office PowerPoint</Application>
  <PresentationFormat>Widescreen</PresentationFormat>
  <Paragraphs>180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Gill Sans</vt:lpstr>
      <vt:lpstr>黑体</vt:lpstr>
      <vt:lpstr>宋体</vt:lpstr>
      <vt:lpstr>Aptos</vt:lpstr>
      <vt:lpstr>Arial</vt:lpstr>
      <vt:lpstr>Calibri</vt:lpstr>
      <vt:lpstr>Century Schoolbook</vt:lpstr>
      <vt:lpstr>Courier New</vt:lpstr>
      <vt:lpstr>Helvetica</vt:lpstr>
      <vt:lpstr>Times New Roman</vt:lpstr>
      <vt:lpstr>Wingdings</vt:lpstr>
      <vt:lpstr>Wingdings 2</vt:lpstr>
      <vt:lpstr>UTA Accessible Template</vt:lpstr>
      <vt:lpstr>Tutorial 2</vt:lpstr>
      <vt:lpstr>1. What is the course about?</vt:lpstr>
      <vt:lpstr>2. Which one of following is not a programming paradigm?</vt:lpstr>
      <vt:lpstr>3. Which one is not a basic property of programming languages?</vt:lpstr>
      <vt:lpstr>4. What is not a major concern of syntax?</vt:lpstr>
      <vt:lpstr>5. A name (identifier) always refers to the same identity, regardless of the context(scope, visibility, lifetime, type...)</vt:lpstr>
      <vt:lpstr>6. Which of the following is not a type in imperative programs?</vt:lpstr>
      <vt:lpstr>7. Is state change a major feature in function language?</vt:lpstr>
      <vt:lpstr>8. Logic programs describes?</vt:lpstr>
      <vt:lpstr>9. What doesn’t make a successful programming language?</vt:lpstr>
      <vt:lpstr>10. Which language is Python?</vt:lpstr>
      <vt:lpstr>HW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General Questions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Zhang, Weiran</dc:creator>
  <cp:lastModifiedBy>Zhang, Weiran</cp:lastModifiedBy>
  <cp:revision>9</cp:revision>
  <dcterms:created xsi:type="dcterms:W3CDTF">2026-01-19T23:51:43Z</dcterms:created>
  <dcterms:modified xsi:type="dcterms:W3CDTF">2026-01-22T01:32:37Z</dcterms:modified>
</cp:coreProperties>
</file>