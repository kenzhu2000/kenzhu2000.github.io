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275" r:id="rId2"/>
    <p:sldId id="281" r:id="rId3"/>
    <p:sldId id="257" r:id="rId4"/>
    <p:sldId id="282" r:id="rId5"/>
    <p:sldId id="283" r:id="rId6"/>
    <p:sldId id="378" r:id="rId7"/>
    <p:sldId id="286" r:id="rId8"/>
    <p:sldId id="288" r:id="rId9"/>
    <p:sldId id="285" r:id="rId10"/>
    <p:sldId id="258" r:id="rId11"/>
    <p:sldId id="322" r:id="rId12"/>
    <p:sldId id="357" r:id="rId13"/>
    <p:sldId id="368" r:id="rId14"/>
    <p:sldId id="369" r:id="rId15"/>
    <p:sldId id="372" r:id="rId16"/>
    <p:sldId id="373" r:id="rId17"/>
    <p:sldId id="370" r:id="rId18"/>
    <p:sldId id="374" r:id="rId19"/>
    <p:sldId id="376" r:id="rId20"/>
    <p:sldId id="371" r:id="rId21"/>
    <p:sldId id="375" r:id="rId22"/>
    <p:sldId id="377" r:id="rId23"/>
    <p:sldId id="28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15" autoAdjust="0"/>
    <p:restoredTop sz="84746" autoAdjust="0"/>
  </p:normalViewPr>
  <p:slideViewPr>
    <p:cSldViewPr snapToGrid="0">
      <p:cViewPr varScale="1">
        <p:scale>
          <a:sx n="135" d="100"/>
          <a:sy n="135" d="100"/>
        </p:scale>
        <p:origin x="360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42834-A923-415F-BF9C-1B2F00B6F7D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EA8166-61D3-44AA-A36C-C4C8A9BB4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40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7443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56FC7-7B57-9B34-0849-C63EFD745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6A493-5B8F-B9CD-9EE4-713326D26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2D1DF-D2CD-F0BF-62DF-8107F9243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99663-8861-F76C-865E-A2D41C6D0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675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97BB0-077F-D10F-EC57-35E30B2D2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E2FF1-88C4-CB8B-434E-A9B3E079F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ED8BBB-A6BF-A5B1-1909-A8C14F1D0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D0062-B18B-4B98-14A5-403497FDD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2618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DED8F-89C4-F1E5-24CC-B914AFAA7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DA626-3B92-6D9B-01A0-D3721D680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F07F3-24BD-57C0-00A7-69D4C9774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7B2BB-84B0-0FDF-595A-439618A6B6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94475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A677-E523-E49C-B75C-ED4376751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3243FB-643D-9DAF-1F23-1878983D1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05A7C2-BFA9-FE1C-A300-FF83AA7B1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BCB6-7661-B58A-0B7C-F49354E477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60027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02D7C-43D6-CE86-DC02-5B7806F24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C5C595-798B-7480-629C-857720784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9E1BA8-3081-57EA-46D3-1BC9E6320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E6607-6AD0-2F34-337D-E8A9FE6587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56764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8913B-81BF-DE84-8C36-A75F9C06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0C43C-B7B7-A613-E274-03806CEC8F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E43655-CA4F-3BF4-20E0-5544FC357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7FBEE-326E-7D04-E2B9-BE17BFEA11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73685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B0B75-AE8A-EE75-32D2-C208D444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A49E1C-F5BF-1B1D-B11A-838E63EA9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F7C84B-21A2-D7FC-D44C-DB1B0E979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24E5F6-4D97-39B8-21F6-01E4E7A062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74114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90F8-104F-7A9A-3E32-C9ACF8DD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BEF0A-5CFF-8284-1CB1-1C2CEA9E9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1E0C8-08C7-9D33-E96F-DAB9B47C1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2BF9C-0A7B-6C14-5C7A-1B4D0684C6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89649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8478F-43A0-7E53-59E2-DB185647E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1DF8A-BF19-C962-25C8-1B6610AE4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E49F74-93D0-CD2B-263C-86E608123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E7985C-A6F7-70C7-EDE3-3BC89CF58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9858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1C6C-A217-F005-22A8-4CD4E39D0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35206-4066-F8BF-D8BE-7134DAF22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0FE4D8-9381-7125-A8D1-D9F8EB794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C3C336-46D2-5D52-D846-C93B261FA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92435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BA0FC-B426-C7BE-EE38-3933E447C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1B7EE-5BB9-43EC-07EF-F41E08910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9AB000-BE5C-3C40-5DB5-4D28D098DB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E217A-8F8A-93C9-AC44-50985BCA08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52368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1CC58-91C1-EFA0-BE0B-312B4ED0E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DAE314-4250-ED1D-3FFC-E10276B53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15A4C-6EEF-92CE-4ECB-3D6B2755A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E8D34-DE32-6174-920F-2445B13D72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28566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3852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T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031E7C7E-200A-F626-0A3D-92CC978B8D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38495" y="4750278"/>
            <a:ext cx="6968291" cy="1941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479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</p:spTree>
    <p:extLst>
      <p:ext uri="{BB962C8B-B14F-4D97-AF65-F5344CB8AC3E}">
        <p14:creationId xmlns:p14="http://schemas.microsoft.com/office/powerpoint/2010/main" val="4043767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56694" y="5179121"/>
            <a:ext cx="6108700" cy="1411816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686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56694" y="5179121"/>
            <a:ext cx="6108700" cy="1411816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255C03-226B-5FC2-208E-578716830E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08800" y="3655551"/>
            <a:ext cx="4878917" cy="11979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70552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609600" y="2380617"/>
            <a:ext cx="10972800" cy="1143004"/>
          </a:xfrm>
        </p:spPr>
        <p:txBody>
          <a:bodyPr>
            <a:normAutofit/>
          </a:bodyPr>
          <a:lstStyle>
            <a:lvl1pPr>
              <a:defRPr sz="5867" b="1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DB257BD6-4D9A-CD45-BCE2-728C5AB620C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3372856"/>
            <a:ext cx="10972800" cy="90593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527222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88B4A6B9-381D-5D40-84AC-41D60C0A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8665"/>
            <a:ext cx="10972800" cy="1143000"/>
          </a:xfrm>
        </p:spPr>
        <p:txBody>
          <a:bodyPr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H2 Subtitle">
            <a:extLst>
              <a:ext uri="{FF2B5EF4-FFF2-40B4-BE49-F238E27FC236}">
                <a16:creationId xmlns:a16="http://schemas.microsoft.com/office/drawing/2014/main" id="{5B196C90-74A6-5E42-A204-A1E0DBCB679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116753"/>
            <a:ext cx="10972800" cy="451275"/>
          </a:xfrm>
        </p:spPr>
        <p:txBody>
          <a:bodyPr>
            <a:noAutofit/>
          </a:bodyPr>
          <a:lstStyle>
            <a:lvl1pPr marL="0" indent="0" algn="ctr">
              <a:buNone/>
              <a:defRPr sz="2667">
                <a:solidFill>
                  <a:srgbClr val="00599B"/>
                </a:solidFill>
              </a:defRPr>
            </a:lvl1pPr>
            <a:lvl2pPr marL="609585" indent="0">
              <a:buNone/>
              <a:defRPr sz="3200">
                <a:solidFill>
                  <a:srgbClr val="00599B"/>
                </a:solidFill>
              </a:defRPr>
            </a:lvl2pPr>
            <a:lvl3pPr marL="1219170" indent="0">
              <a:buNone/>
              <a:defRPr sz="3200">
                <a:solidFill>
                  <a:srgbClr val="00599B"/>
                </a:solidFill>
              </a:defRPr>
            </a:lvl3pPr>
            <a:lvl4pPr marL="1828754" indent="0">
              <a:buNone/>
              <a:defRPr sz="3200">
                <a:solidFill>
                  <a:srgbClr val="00599B"/>
                </a:solidFill>
              </a:defRPr>
            </a:lvl4pPr>
            <a:lvl5pPr marL="2438339" indent="0">
              <a:buNone/>
              <a:defRPr sz="32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Body Content">
            <a:extLst>
              <a:ext uri="{FF2B5EF4-FFF2-40B4-BE49-F238E27FC236}">
                <a16:creationId xmlns:a16="http://schemas.microsoft.com/office/drawing/2014/main" id="{4F275BD8-ECF8-F54B-B4E2-A66F7AB27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47522"/>
            <a:ext cx="10972800" cy="4131733"/>
          </a:xfrm>
        </p:spPr>
        <p:txBody>
          <a:bodyPr>
            <a:normAutofit/>
          </a:bodyPr>
          <a:lstStyle>
            <a:lvl1pPr marL="457189" indent="-457189">
              <a:buFont typeface="Wingdings" pitchFamily="2" charset="2"/>
              <a:buChar char="§"/>
              <a:defRPr sz="2133"/>
            </a:lvl1pPr>
            <a:lvl2pPr marL="990575" indent="-380990">
              <a:buFont typeface="Wingdings" pitchFamily="2" charset="2"/>
              <a:buChar char="§"/>
              <a:defRPr sz="2133"/>
            </a:lvl2pPr>
            <a:lvl3pPr marL="1523962" indent="-304792">
              <a:buFont typeface="Wingdings" pitchFamily="2" charset="2"/>
              <a:buChar char="§"/>
              <a:defRPr sz="2133"/>
            </a:lvl3pPr>
            <a:lvl4pPr marL="2133547" indent="-304792">
              <a:buFont typeface="Wingdings" pitchFamily="2" charset="2"/>
              <a:buChar char="§"/>
              <a:defRPr sz="2133"/>
            </a:lvl4pPr>
            <a:lvl5pPr marL="2743131" indent="-304792">
              <a:buFont typeface="Wingdings" pitchFamily="2" charset="2"/>
              <a:buChar char="§"/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661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H2 Subtitle">
            <a:extLst>
              <a:ext uri="{FF2B5EF4-FFF2-40B4-BE49-F238E27FC236}">
                <a16:creationId xmlns:a16="http://schemas.microsoft.com/office/drawing/2014/main" id="{7E449A25-5BA8-A049-892B-A920427B81B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065953"/>
            <a:ext cx="10972800" cy="451275"/>
          </a:xfrm>
        </p:spPr>
        <p:txBody>
          <a:bodyPr>
            <a:noAutofit/>
          </a:bodyPr>
          <a:lstStyle>
            <a:lvl1pPr marL="0" indent="0" algn="ctr">
              <a:buNone/>
              <a:defRPr sz="2667">
                <a:solidFill>
                  <a:srgbClr val="00599B"/>
                </a:solidFill>
              </a:defRPr>
            </a:lvl1pPr>
            <a:lvl2pPr marL="609585" indent="0">
              <a:buNone/>
              <a:defRPr sz="3200">
                <a:solidFill>
                  <a:srgbClr val="00599B"/>
                </a:solidFill>
              </a:defRPr>
            </a:lvl2pPr>
            <a:lvl3pPr marL="1219170" indent="0">
              <a:buNone/>
              <a:defRPr sz="3200">
                <a:solidFill>
                  <a:srgbClr val="00599B"/>
                </a:solidFill>
              </a:defRPr>
            </a:lvl3pPr>
            <a:lvl4pPr marL="1828754" indent="0">
              <a:buNone/>
              <a:defRPr sz="3200">
                <a:solidFill>
                  <a:srgbClr val="00599B"/>
                </a:solidFill>
              </a:defRPr>
            </a:lvl4pPr>
            <a:lvl5pPr marL="2438339" indent="0">
              <a:buNone/>
              <a:defRPr sz="32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Body Content 1"/>
          <p:cNvSpPr>
            <a:spLocks noGrp="1"/>
          </p:cNvSpPr>
          <p:nvPr>
            <p:ph sz="half" idx="1"/>
          </p:nvPr>
        </p:nvSpPr>
        <p:spPr>
          <a:xfrm>
            <a:off x="609600" y="1747522"/>
            <a:ext cx="5384800" cy="4131733"/>
          </a:xfrm>
        </p:spPr>
        <p:txBody>
          <a:bodyPr>
            <a:normAutofit/>
          </a:bodyPr>
          <a:lstStyle>
            <a:lvl1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6197600" y="1747522"/>
            <a:ext cx="5384800" cy="4131733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896634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63335" y="1481545"/>
            <a:ext cx="3628573" cy="2224644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Body Content 2">
            <a:extLst>
              <a:ext uri="{FF2B5EF4-FFF2-40B4-BE49-F238E27FC236}">
                <a16:creationId xmlns:a16="http://schemas.microsoft.com/office/drawing/2014/main" id="{AF760239-E1E4-98A8-BC2A-AD64F71B7E0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3333" y="3808021"/>
            <a:ext cx="3628575" cy="2224644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Body Content 2">
            <a:extLst>
              <a:ext uri="{FF2B5EF4-FFF2-40B4-BE49-F238E27FC236}">
                <a16:creationId xmlns:a16="http://schemas.microsoft.com/office/drawing/2014/main" id="{52458702-0A0A-743A-4663-E0EA4FBC4EB5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3892467" y="1481545"/>
            <a:ext cx="3525653" cy="2326476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Body Content 2">
            <a:extLst>
              <a:ext uri="{FF2B5EF4-FFF2-40B4-BE49-F238E27FC236}">
                <a16:creationId xmlns:a16="http://schemas.microsoft.com/office/drawing/2014/main" id="{E7DCE5C4-5A12-8BD9-2E79-6B094F4C1FDC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3879271" y="3980299"/>
            <a:ext cx="3628575" cy="2628405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Body Content 2">
            <a:extLst>
              <a:ext uri="{FF2B5EF4-FFF2-40B4-BE49-F238E27FC236}">
                <a16:creationId xmlns:a16="http://schemas.microsoft.com/office/drawing/2014/main" id="{3180402C-B205-3B02-80EC-1389CEFE02F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011889" y="1490548"/>
            <a:ext cx="3910937" cy="2215640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Body Content 2">
            <a:extLst>
              <a:ext uri="{FF2B5EF4-FFF2-40B4-BE49-F238E27FC236}">
                <a16:creationId xmlns:a16="http://schemas.microsoft.com/office/drawing/2014/main" id="{1D0698A4-F993-1339-EDDC-E122275B26E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67023" y="3980299"/>
            <a:ext cx="3937332" cy="2613235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658409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Wide Table">
            <a:extLst>
              <a:ext uri="{FF2B5EF4-FFF2-40B4-BE49-F238E27FC236}">
                <a16:creationId xmlns:a16="http://schemas.microsoft.com/office/drawing/2014/main" id="{A31F2DD0-A818-C246-A801-671F4BC2994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304800" y="381000"/>
            <a:ext cx="11582400" cy="6096000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1207375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Wide Chart">
            <a:extLst>
              <a:ext uri="{FF2B5EF4-FFF2-40B4-BE49-F238E27FC236}">
                <a16:creationId xmlns:a16="http://schemas.microsoft.com/office/drawing/2014/main" id="{21B7D27F-640B-514B-9B11-9D1645F3F49A}"/>
              </a:ext>
            </a:extLst>
          </p:cNvPr>
          <p:cNvSpPr>
            <a:spLocks noGrp="1" noChangeAspect="1"/>
          </p:cNvSpPr>
          <p:nvPr>
            <p:ph type="chart" sz="quarter" idx="11"/>
          </p:nvPr>
        </p:nvSpPr>
        <p:spPr>
          <a:xfrm>
            <a:off x="304800" y="381000"/>
            <a:ext cx="11582400" cy="60960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3609476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ull Bleed Photo">
            <a:extLst>
              <a:ext uri="{FF2B5EF4-FFF2-40B4-BE49-F238E27FC236}">
                <a16:creationId xmlns:a16="http://schemas.microsoft.com/office/drawing/2014/main" id="{3D0D2707-18C2-FA48-9C1E-B114D1A3869D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-60960" y="-45720"/>
            <a:ext cx="12313920" cy="694944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107556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ull Bleed Video">
            <a:extLst>
              <a:ext uri="{FF2B5EF4-FFF2-40B4-BE49-F238E27FC236}">
                <a16:creationId xmlns:a16="http://schemas.microsoft.com/office/drawing/2014/main" id="{E64AE5ED-FB71-2940-A0AA-8B776317FAB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-60960" y="-45720"/>
            <a:ext cx="12313920" cy="6949440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21127013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noProof="1"/>
              <a:t>Click to edit Master title style</a:t>
            </a:r>
            <a:endParaRPr lang="zh-CN" alt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 noProof="1"/>
              <a:t>Click to edit Master text styles</a:t>
            </a:r>
          </a:p>
          <a:p>
            <a:pPr lvl="1"/>
            <a:r>
              <a:rPr lang="en-US" altLang="zh-CN" noProof="1"/>
              <a:t>Second level</a:t>
            </a:r>
          </a:p>
          <a:p>
            <a:pPr lvl="2"/>
            <a:r>
              <a:rPr lang="en-US" altLang="zh-CN" noProof="1"/>
              <a:t>Third level</a:t>
            </a:r>
          </a:p>
          <a:p>
            <a:pPr lvl="3"/>
            <a:r>
              <a:rPr lang="en-US" altLang="zh-CN" noProof="1"/>
              <a:t>Fourth level</a:t>
            </a:r>
          </a:p>
          <a:p>
            <a:pPr lvl="4"/>
            <a:r>
              <a:rPr lang="en-US" altLang="zh-CN" noProof="1"/>
              <a:t>Fifth level</a:t>
            </a:r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1912950176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8506589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 Content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88411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609585" rtl="0" eaLnBrk="1" latinLnBrk="0" hangingPunct="1">
        <a:spcBef>
          <a:spcPct val="0"/>
        </a:spcBef>
        <a:buNone/>
        <a:defRPr sz="4667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90575" indent="-380990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523962" indent="-304792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9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103" y="563071"/>
            <a:ext cx="10972800" cy="2344263"/>
          </a:xfrm>
        </p:spPr>
        <p:txBody>
          <a:bodyPr>
            <a:noAutofit/>
          </a:bodyPr>
          <a:lstStyle/>
          <a:p>
            <a:r>
              <a:rPr lang="en-US" sz="4800" dirty="0"/>
              <a:t>Tutorial 5</a:t>
            </a:r>
            <a:endParaRPr lang="en-US" altLang="zh-CN" sz="5333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46EDE5-6FC5-824E-9F44-F022997BFE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9600" y="4906266"/>
            <a:ext cx="10972800" cy="1244300"/>
          </a:xfrm>
        </p:spPr>
        <p:txBody>
          <a:bodyPr>
            <a:normAutofit/>
          </a:bodyPr>
          <a:lstStyle/>
          <a:p>
            <a:pPr fontAlgn="base"/>
            <a:r>
              <a:rPr lang="en-US" altLang="zh-CN" dirty="0"/>
              <a:t>Presenter: Peter​ Zhang</a:t>
            </a:r>
          </a:p>
          <a:p>
            <a:pPr fontAlgn="base"/>
            <a:r>
              <a:rPr lang="en-US" altLang="zh-CN"/>
              <a:t>2/18/2026</a:t>
            </a:r>
            <a:endParaRPr lang="en-US" altLang="zh-CN" dirty="0"/>
          </a:p>
          <a:p>
            <a:endParaRPr lang="en-US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C796814-B4C7-06C2-94D6-3F9ED29CF958}"/>
              </a:ext>
            </a:extLst>
          </p:cNvPr>
          <p:cNvSpPr txBox="1">
            <a:spLocks/>
          </p:cNvSpPr>
          <p:nvPr/>
        </p:nvSpPr>
        <p:spPr>
          <a:xfrm>
            <a:off x="482103" y="3284650"/>
            <a:ext cx="10972800" cy="1244300"/>
          </a:xfrm>
          <a:prstGeom prst="rect">
            <a:avLst/>
          </a:prstGeom>
        </p:spPr>
        <p:txBody>
          <a:bodyPr vert="horz" lIns="121920" tIns="60960" rIns="121920" bIns="6096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24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 fontAlgn="base"/>
            <a:r>
              <a:rPr lang="fr-FR" altLang="zh-CN" sz="3733" b="1" i="1" dirty="0">
                <a:solidFill>
                  <a:prstClr val="white"/>
                </a:solidFill>
                <a:ea typeface="黑体" panose="02010609060101010101" pitchFamily="49" charset="-122"/>
              </a:rPr>
              <a:t>Quiz 8(30min), Quiz 6 &amp; HW 4</a:t>
            </a:r>
            <a:endParaRPr lang="en-US" altLang="zh-CN" sz="3733" b="1" i="1" dirty="0">
              <a:solidFill>
                <a:prstClr val="white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6317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">
            <a:extLst>
              <a:ext uri="{FF2B5EF4-FFF2-40B4-BE49-F238E27FC236}">
                <a16:creationId xmlns:a16="http://schemas.microsoft.com/office/drawing/2014/main" id="{DB36F8A9-0FC7-9AC4-6369-5265F8F034C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98651" y="178594"/>
            <a:ext cx="8050113" cy="1782589"/>
          </a:xfrm>
        </p:spPr>
        <p:txBody>
          <a:bodyPr/>
          <a:lstStyle/>
          <a:p>
            <a:pPr algn="l" eaLnBrk="1" hangingPunct="1"/>
            <a:r>
              <a:rPr lang="en-US" altLang="zh-CN" sz="3375" dirty="0">
                <a:ea typeface="SimSun" panose="02010600030101010101" pitchFamily="2" charset="-122"/>
              </a:rPr>
              <a:t>1. Which one of the following statements is </a:t>
            </a:r>
            <a:r>
              <a:rPr lang="en-US" altLang="zh-CN" sz="3375" dirty="0">
                <a:solidFill>
                  <a:srgbClr val="FF0000"/>
                </a:solidFill>
                <a:ea typeface="SimSun" panose="02010600030101010101" pitchFamily="2" charset="-122"/>
              </a:rPr>
              <a:t>correct?</a:t>
            </a:r>
            <a:endParaRPr lang="en-US" altLang="zh-CN" sz="3375" dirty="0">
              <a:ea typeface="SimSun" panose="02010600030101010101" pitchFamily="2" charset="-122"/>
            </a:endParaRPr>
          </a:p>
        </p:txBody>
      </p:sp>
      <p:sp>
        <p:nvSpPr>
          <p:cNvPr id="16387" name="内容占位符 1">
            <a:extLst>
              <a:ext uri="{FF2B5EF4-FFF2-40B4-BE49-F238E27FC236}">
                <a16:creationId xmlns:a16="http://schemas.microsoft.com/office/drawing/2014/main" id="{235E9F63-21D5-1BC6-6D66-97F70A3D3C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197075" y="1961183"/>
            <a:ext cx="7358063" cy="4018359"/>
          </a:xfrm>
        </p:spPr>
        <p:txBody>
          <a:bodyPr/>
          <a:lstStyle/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 sz="2812" dirty="0">
                <a:ea typeface="SimSun" panose="02010600030101010101" pitchFamily="2" charset="-122"/>
              </a:rPr>
              <a:t>a name and the object it denote are the same thing.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 sz="2812" dirty="0">
                <a:ea typeface="SimSun" panose="02010600030101010101" pitchFamily="2" charset="-122"/>
              </a:rPr>
              <a:t>an object can have only one name.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 sz="2812" dirty="0">
                <a:ea typeface="SimSun" panose="02010600030101010101" pitchFamily="2" charset="-122"/>
              </a:rPr>
              <a:t>a name can denote different objects at different times.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zh-CN" sz="2812" dirty="0"/>
              <a:t>λ </a:t>
            </a:r>
            <a:r>
              <a:rPr lang="en-US" altLang="zh-CN" sz="2812" dirty="0">
                <a:ea typeface="SimSun" panose="02010600030101010101" pitchFamily="2" charset="-122"/>
              </a:rPr>
              <a:t>-calculus uses dynamic binding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1">
            <a:extLst>
              <a:ext uri="{FF2B5EF4-FFF2-40B4-BE49-F238E27FC236}">
                <a16:creationId xmlns:a16="http://schemas.microsoft.com/office/drawing/2014/main" id="{51D032B8-768E-7A52-A2E3-39C4B8EF01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98651" y="178594"/>
            <a:ext cx="7476381" cy="1782589"/>
          </a:xfrm>
        </p:spPr>
        <p:txBody>
          <a:bodyPr/>
          <a:lstStyle/>
          <a:p>
            <a:pPr algn="l" eaLnBrk="1" hangingPunct="1"/>
            <a:r>
              <a:rPr lang="en-US" altLang="zh-CN" sz="3375" dirty="0">
                <a:ea typeface="SimSun" panose="02010600030101010101" pitchFamily="2" charset="-122"/>
              </a:rPr>
              <a:t>2. What are the free variables in the following lambda expression?</a:t>
            </a:r>
            <a:br>
              <a:rPr lang="en-US" altLang="zh-CN" sz="3375" dirty="0">
                <a:ea typeface="SimSun" panose="02010600030101010101" pitchFamily="2" charset="-122"/>
              </a:rPr>
            </a:br>
            <a:r>
              <a:rPr lang="en-US" altLang="zh-CN" sz="3375" dirty="0">
                <a:ea typeface="SimSun" panose="02010600030101010101" pitchFamily="2" charset="-122"/>
              </a:rPr>
              <a:t>	</a:t>
            </a:r>
            <a:r>
              <a:rPr lang="en-US" altLang="zh-CN" sz="3375" i="1" dirty="0">
                <a:ea typeface="SimSun" panose="02010600030101010101" pitchFamily="2" charset="-122"/>
              </a:rPr>
              <a:t>x (</a:t>
            </a:r>
            <a:r>
              <a:rPr lang="en-US" altLang="zh-CN" sz="3375" i="1" dirty="0" err="1">
                <a:ea typeface="SimSun" panose="02010600030101010101" pitchFamily="2" charset="-122"/>
              </a:rPr>
              <a:t>λy</a:t>
            </a:r>
            <a:r>
              <a:rPr lang="en-US" altLang="zh-CN" sz="3375" i="1" dirty="0">
                <a:ea typeface="SimSun" panose="02010600030101010101" pitchFamily="2" charset="-122"/>
              </a:rPr>
              <a:t> · y z x) (</a:t>
            </a:r>
            <a:r>
              <a:rPr lang="en-US" altLang="zh-CN" sz="3375" i="1" dirty="0" err="1">
                <a:ea typeface="SimSun" panose="02010600030101010101" pitchFamily="2" charset="-122"/>
              </a:rPr>
              <a:t>λm</a:t>
            </a:r>
            <a:r>
              <a:rPr lang="en-US" altLang="zh-CN" sz="3375" i="1" dirty="0">
                <a:ea typeface="SimSun" panose="02010600030101010101" pitchFamily="2" charset="-122"/>
              </a:rPr>
              <a:t> · </a:t>
            </a:r>
            <a:r>
              <a:rPr lang="en-US" altLang="zh-CN" sz="3375" i="1" dirty="0" err="1">
                <a:ea typeface="SimSun" panose="02010600030101010101" pitchFamily="2" charset="-122"/>
              </a:rPr>
              <a:t>λn</a:t>
            </a:r>
            <a:r>
              <a:rPr lang="en-US" altLang="zh-CN" sz="3375" i="1" dirty="0">
                <a:ea typeface="SimSun" panose="02010600030101010101" pitchFamily="2" charset="-122"/>
              </a:rPr>
              <a:t> · l m n)</a:t>
            </a:r>
            <a:endParaRPr lang="en-US" altLang="zh-CN" sz="3375" dirty="0">
              <a:ea typeface="SimSun" panose="02010600030101010101" pitchFamily="2" charset="-122"/>
            </a:endParaRPr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89B43AAA-9C98-C475-FBEE-CF58CC27AE5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>
                <a:ea typeface="SimSun" panose="02010600030101010101" pitchFamily="2" charset="-122"/>
              </a:rPr>
              <a:t>x, z, l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>
                <a:ea typeface="SimSun" panose="02010600030101010101" pitchFamily="2" charset="-122"/>
              </a:rPr>
              <a:t>x, y, z, l, m, n</a:t>
            </a:r>
            <a:endParaRPr lang="zh-CN" altLang="zh-CN">
              <a:ea typeface="SimSun" panose="02010600030101010101" pitchFamily="2" charset="-122"/>
            </a:endParaRP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>
                <a:ea typeface="SimSun" panose="02010600030101010101" pitchFamily="2" charset="-122"/>
              </a:rPr>
              <a:t>x, z, n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>
                <a:ea typeface="SimSun" panose="02010600030101010101" pitchFamily="2" charset="-122"/>
              </a:rPr>
              <a:t>y, l, m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1">
            <a:extLst>
              <a:ext uri="{FF2B5EF4-FFF2-40B4-BE49-F238E27FC236}">
                <a16:creationId xmlns:a16="http://schemas.microsoft.com/office/drawing/2014/main" id="{9C8185C9-B8C2-8D11-E647-0E0C9FA85D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98651" y="178594"/>
            <a:ext cx="8101459" cy="1782589"/>
          </a:xfrm>
        </p:spPr>
        <p:txBody>
          <a:bodyPr/>
          <a:lstStyle/>
          <a:p>
            <a:pPr algn="l" eaLnBrk="1" hangingPunct="1"/>
            <a:r>
              <a:rPr lang="en-US" altLang="zh-CN" sz="3375" dirty="0">
                <a:ea typeface="SimSun" panose="02010600030101010101" pitchFamily="2" charset="-122"/>
              </a:rPr>
              <a:t>3. Which one of the following is </a:t>
            </a:r>
            <a:r>
              <a:rPr lang="en-US" altLang="zh-CN" sz="3375" dirty="0">
                <a:solidFill>
                  <a:srgbClr val="FF0000"/>
                </a:solidFill>
                <a:ea typeface="SimSun" panose="02010600030101010101" pitchFamily="2" charset="-122"/>
              </a:rPr>
              <a:t>different</a:t>
            </a:r>
            <a:r>
              <a:rPr lang="en-US" altLang="zh-CN" sz="3375" dirty="0">
                <a:ea typeface="SimSun" panose="02010600030101010101" pitchFamily="2" charset="-122"/>
              </a:rPr>
              <a:t> from the other three after </a:t>
            </a:r>
            <a:r>
              <a:rPr lang="en-US" altLang="zh-CN" sz="3375" dirty="0">
                <a:solidFill>
                  <a:srgbClr val="FF0000"/>
                </a:solidFill>
                <a:ea typeface="SimSun" panose="02010600030101010101" pitchFamily="2" charset="-122"/>
              </a:rPr>
              <a:t>call by name </a:t>
            </a:r>
            <a:r>
              <a:rPr lang="en-US" altLang="zh-CN" sz="3375" dirty="0">
                <a:ea typeface="SimSun" panose="02010600030101010101" pitchFamily="2" charset="-122"/>
              </a:rPr>
              <a:t>evaluation?</a:t>
            </a:r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8BFE8489-CBBC-657A-159A-16C501C8404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98650" y="3747120"/>
            <a:ext cx="7358063" cy="2481337"/>
          </a:xfrm>
        </p:spPr>
        <p:txBody>
          <a:bodyPr/>
          <a:lstStyle/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>
                <a:ea typeface="SimSun" panose="02010600030101010101" pitchFamily="2" charset="-122"/>
              </a:rPr>
              <a:t>λx. x x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s-ES" altLang="zh-CN">
                <a:ea typeface="SimSun" panose="02010600030101010101" pitchFamily="2" charset="-122"/>
              </a:rPr>
              <a:t>(λx. x x) (λy. y y)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s-ES" altLang="zh-CN">
                <a:ea typeface="SimSun" panose="02010600030101010101" pitchFamily="2" charset="-122"/>
              </a:rPr>
              <a:t>(λy. λx. y x) (λx. x x) (λy. y y)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zh-CN">
                <a:ea typeface="SimSun" panose="02010600030101010101" pitchFamily="2" charset="-122"/>
              </a:rPr>
              <a:t>(λ</a:t>
            </a:r>
            <a:r>
              <a:rPr lang="en-US" altLang="zh-CN">
                <a:ea typeface="SimSun" panose="02010600030101010101" pitchFamily="2" charset="-122"/>
              </a:rPr>
              <a:t>x. (</a:t>
            </a:r>
            <a:r>
              <a:rPr lang="el-GR" altLang="zh-CN">
                <a:ea typeface="SimSun" panose="02010600030101010101" pitchFamily="2" charset="-122"/>
              </a:rPr>
              <a:t>λ</a:t>
            </a:r>
            <a:r>
              <a:rPr lang="en-US" altLang="zh-CN">
                <a:ea typeface="SimSun" panose="02010600030101010101" pitchFamily="2" charset="-122"/>
              </a:rPr>
              <a:t>x. x x) x) (</a:t>
            </a:r>
            <a:r>
              <a:rPr lang="el-GR" altLang="zh-CN">
                <a:ea typeface="SimSun" panose="02010600030101010101" pitchFamily="2" charset="-122"/>
              </a:rPr>
              <a:t>λ</a:t>
            </a:r>
            <a:r>
              <a:rPr lang="en-US" altLang="zh-CN">
                <a:ea typeface="SimSun" panose="02010600030101010101" pitchFamily="2" charset="-122"/>
              </a:rPr>
              <a:t>x. x x)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F6027A6-5C9F-9D9F-C3B2-AA08083A1DCD}"/>
              </a:ext>
            </a:extLst>
          </p:cNvPr>
          <p:cNvSpPr txBox="1"/>
          <p:nvPr/>
        </p:nvSpPr>
        <p:spPr>
          <a:xfrm>
            <a:off x="2299767" y="1961183"/>
            <a:ext cx="7358063" cy="28713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US" sz="1266" i="1" dirty="0">
                <a:solidFill>
                  <a:schemeClr val="bg1">
                    <a:lumMod val="65000"/>
                  </a:schemeClr>
                </a:solidFill>
              </a:rPr>
              <a:t>Call-by-name</a:t>
            </a:r>
            <a:r>
              <a:rPr lang="en-US" sz="1266" dirty="0">
                <a:solidFill>
                  <a:schemeClr val="bg1">
                    <a:lumMod val="65000"/>
                  </a:schemeClr>
                </a:solidFill>
              </a:rPr>
              <a:t>: leftmost, outermost </a:t>
            </a:r>
            <a:r>
              <a:rPr lang="en-US" sz="1266" dirty="0" err="1">
                <a:solidFill>
                  <a:schemeClr val="bg1">
                    <a:lumMod val="65000"/>
                  </a:schemeClr>
                </a:solidFill>
              </a:rPr>
              <a:t>redex</a:t>
            </a:r>
            <a:r>
              <a:rPr lang="en-US" sz="1266" dirty="0">
                <a:solidFill>
                  <a:schemeClr val="bg1">
                    <a:lumMod val="65000"/>
                  </a:schemeClr>
                </a:solidFill>
              </a:rPr>
              <a:t> first, NO reduction inside lambda abstractions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1">
            <a:extLst>
              <a:ext uri="{FF2B5EF4-FFF2-40B4-BE49-F238E27FC236}">
                <a16:creationId xmlns:a16="http://schemas.microsoft.com/office/drawing/2014/main" id="{02609F36-8D92-18FA-1D53-987B406785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48421" y="650751"/>
            <a:ext cx="7358063" cy="1714500"/>
          </a:xfrm>
        </p:spPr>
        <p:txBody>
          <a:bodyPr>
            <a:normAutofit fontScale="90000"/>
          </a:bodyPr>
          <a:lstStyle/>
          <a:p>
            <a:pPr algn="l" eaLnBrk="1" hangingPunct="1"/>
            <a:r>
              <a:rPr lang="en-US" altLang="zh-CN" sz="3375" dirty="0">
                <a:ea typeface="SimSun" panose="02010600030101010101" pitchFamily="2" charset="-122"/>
              </a:rPr>
              <a:t>4. What’s the result of the following lambda expression, under </a:t>
            </a:r>
            <a:r>
              <a:rPr lang="en-US" altLang="zh-CN" sz="3375" dirty="0">
                <a:solidFill>
                  <a:srgbClr val="FF0000"/>
                </a:solidFill>
                <a:ea typeface="SimSun" panose="02010600030101010101" pitchFamily="2" charset="-122"/>
              </a:rPr>
              <a:t>full beta-reduction?</a:t>
            </a:r>
            <a:br>
              <a:rPr lang="en-US" altLang="zh-CN" sz="3375" dirty="0">
                <a:ea typeface="SimSun" panose="02010600030101010101" pitchFamily="2" charset="-122"/>
              </a:rPr>
            </a:br>
            <a:r>
              <a:rPr lang="en-US" altLang="zh-CN" sz="3375" dirty="0">
                <a:ea typeface="SimSun" panose="02010600030101010101" pitchFamily="2" charset="-122"/>
              </a:rPr>
              <a:t> 	</a:t>
            </a:r>
            <a:r>
              <a:rPr lang="en-US" altLang="zh-CN" sz="3375" i="1" dirty="0">
                <a:ea typeface="SimSun" panose="02010600030101010101" pitchFamily="2" charset="-122"/>
              </a:rPr>
              <a:t>(</a:t>
            </a:r>
            <a:r>
              <a:rPr lang="en-US" altLang="zh-CN" sz="3375" i="1" dirty="0" err="1">
                <a:ea typeface="SimSun" panose="02010600030101010101" pitchFamily="2" charset="-122"/>
              </a:rPr>
              <a:t>λx</a:t>
            </a:r>
            <a:r>
              <a:rPr lang="en-US" altLang="zh-CN" sz="3375" i="1" dirty="0">
                <a:ea typeface="SimSun" panose="02010600030101010101" pitchFamily="2" charset="-122"/>
              </a:rPr>
              <a:t> · x)((</a:t>
            </a:r>
            <a:r>
              <a:rPr lang="en-US" altLang="zh-CN" sz="3375" i="1" dirty="0" err="1">
                <a:ea typeface="SimSun" panose="02010600030101010101" pitchFamily="2" charset="-122"/>
              </a:rPr>
              <a:t>λx</a:t>
            </a:r>
            <a:r>
              <a:rPr lang="en-US" altLang="zh-CN" sz="3375" i="1" dirty="0">
                <a:ea typeface="SimSun" panose="02010600030101010101" pitchFamily="2" charset="-122"/>
              </a:rPr>
              <a:t> · x)(</a:t>
            </a:r>
            <a:r>
              <a:rPr lang="en-US" altLang="zh-CN" sz="3375" i="1" dirty="0" err="1">
                <a:ea typeface="SimSun" panose="02010600030101010101" pitchFamily="2" charset="-122"/>
              </a:rPr>
              <a:t>λz</a:t>
            </a:r>
            <a:r>
              <a:rPr lang="en-US" altLang="zh-CN" sz="3375" i="1" dirty="0">
                <a:ea typeface="SimSun" panose="02010600030101010101" pitchFamily="2" charset="-122"/>
              </a:rPr>
              <a:t> · (</a:t>
            </a:r>
            <a:r>
              <a:rPr lang="en-US" altLang="zh-CN" sz="3375" i="1" dirty="0" err="1">
                <a:ea typeface="SimSun" panose="02010600030101010101" pitchFamily="2" charset="-122"/>
              </a:rPr>
              <a:t>λx</a:t>
            </a:r>
            <a:r>
              <a:rPr lang="en-US" altLang="zh-CN" sz="3375" i="1" dirty="0">
                <a:ea typeface="SimSun" panose="02010600030101010101" pitchFamily="2" charset="-122"/>
              </a:rPr>
              <a:t> · x)z))</a:t>
            </a:r>
            <a:endParaRPr lang="en-US" altLang="zh-CN" sz="3375" dirty="0">
              <a:ea typeface="SimSun" panose="02010600030101010101" pitchFamily="2" charset="-122"/>
            </a:endParaRPr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EF3F63DF-53D7-87A8-8E2D-16FF603696F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96617" y="3732610"/>
            <a:ext cx="8150572" cy="2531566"/>
          </a:xfrm>
        </p:spPr>
        <p:txBody>
          <a:bodyPr/>
          <a:lstStyle/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pl-PL" altLang="zh-CN">
                <a:ea typeface="SimSun" panose="02010600030101010101" pitchFamily="2" charset="-122"/>
              </a:rPr>
              <a:t>λ z · z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>
                <a:ea typeface="SimSun" panose="02010600030101010101" pitchFamily="2" charset="-122"/>
              </a:rPr>
              <a:t> </a:t>
            </a:r>
            <a:r>
              <a:rPr lang="pl-PL" altLang="zh-CN">
                <a:ea typeface="SimSun" panose="02010600030101010101" pitchFamily="2" charset="-122"/>
              </a:rPr>
              <a:t>x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>
                <a:ea typeface="SimSun" panose="02010600030101010101" pitchFamily="2" charset="-122"/>
              </a:rPr>
              <a:t> </a:t>
            </a:r>
            <a:r>
              <a:rPr lang="pl-PL" altLang="zh-CN">
                <a:ea typeface="SimSun" panose="02010600030101010101" pitchFamily="2" charset="-122"/>
              </a:rPr>
              <a:t>z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>
                <a:ea typeface="SimSun" panose="02010600030101010101" pitchFamily="2" charset="-122"/>
              </a:rPr>
              <a:t> </a:t>
            </a:r>
            <a:r>
              <a:rPr lang="pl-PL" altLang="zh-CN">
                <a:ea typeface="SimSun" panose="02010600030101010101" pitchFamily="2" charset="-122"/>
              </a:rPr>
              <a:t>λ z · λz · z z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1BEF49-89DF-C287-CB65-04133BB17D9A}"/>
              </a:ext>
            </a:extLst>
          </p:cNvPr>
          <p:cNvSpPr txBox="1"/>
          <p:nvPr/>
        </p:nvSpPr>
        <p:spPr>
          <a:xfrm>
            <a:off x="2248421" y="2740298"/>
            <a:ext cx="7358063" cy="28713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US" sz="1266" i="1" dirty="0">
                <a:solidFill>
                  <a:schemeClr val="bg1">
                    <a:lumMod val="65000"/>
                  </a:schemeClr>
                </a:solidFill>
              </a:rPr>
              <a:t>Full beta-reduction: any </a:t>
            </a:r>
            <a:r>
              <a:rPr lang="en-US" sz="1266" i="1" dirty="0" err="1">
                <a:solidFill>
                  <a:schemeClr val="bg1">
                    <a:lumMod val="65000"/>
                  </a:schemeClr>
                </a:solidFill>
              </a:rPr>
              <a:t>redex</a:t>
            </a:r>
            <a:endParaRPr lang="en-US" sz="1266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1">
            <a:extLst>
              <a:ext uri="{FF2B5EF4-FFF2-40B4-BE49-F238E27FC236}">
                <a16:creationId xmlns:a16="http://schemas.microsoft.com/office/drawing/2014/main" id="{7C7A5D1D-B1C2-A924-648C-33D9F6C784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48421" y="650751"/>
            <a:ext cx="7358063" cy="1714500"/>
          </a:xfrm>
        </p:spPr>
        <p:txBody>
          <a:bodyPr>
            <a:normAutofit fontScale="90000"/>
          </a:bodyPr>
          <a:lstStyle/>
          <a:p>
            <a:pPr algn="l" eaLnBrk="1" hangingPunct="1"/>
            <a:r>
              <a:rPr lang="en-US" altLang="zh-CN" sz="3375" dirty="0">
                <a:ea typeface="SimSun" panose="02010600030101010101" pitchFamily="2" charset="-122"/>
              </a:rPr>
              <a:t>5. What is the </a:t>
            </a:r>
            <a:r>
              <a:rPr lang="en-US" altLang="zh-CN" sz="3375" dirty="0">
                <a:solidFill>
                  <a:srgbClr val="FF0000"/>
                </a:solidFill>
                <a:ea typeface="SimSun" panose="02010600030101010101" pitchFamily="2" charset="-122"/>
              </a:rPr>
              <a:t>first step </a:t>
            </a:r>
            <a:r>
              <a:rPr lang="en-US" altLang="zh-CN" sz="3375" dirty="0">
                <a:ea typeface="SimSun" panose="02010600030101010101" pitchFamily="2" charset="-122"/>
              </a:rPr>
              <a:t>of </a:t>
            </a:r>
            <a:br>
              <a:rPr lang="en-US" altLang="zh-CN" sz="3375" dirty="0">
                <a:ea typeface="SimSun" panose="02010600030101010101" pitchFamily="2" charset="-122"/>
              </a:rPr>
            </a:br>
            <a:r>
              <a:rPr lang="en-US" altLang="zh-CN" sz="3375" dirty="0">
                <a:ea typeface="SimSun" panose="02010600030101010101" pitchFamily="2" charset="-122"/>
              </a:rPr>
              <a:t>	</a:t>
            </a:r>
            <a:r>
              <a:rPr lang="el-GR" altLang="en-US" sz="3375" dirty="0"/>
              <a:t>(λy. (λx. x) y) ((λu. u) (λv. v))</a:t>
            </a:r>
            <a:br>
              <a:rPr lang="en-US" altLang="en-US" sz="3375" dirty="0"/>
            </a:br>
            <a:r>
              <a:rPr lang="en-US" altLang="en-US" sz="3375" dirty="0"/>
              <a:t>    under call-by-</a:t>
            </a:r>
            <a:r>
              <a:rPr lang="en-US" altLang="en-US" sz="3375" dirty="0">
                <a:solidFill>
                  <a:srgbClr val="FF0000"/>
                </a:solidFill>
              </a:rPr>
              <a:t>name</a:t>
            </a:r>
            <a:r>
              <a:rPr lang="en-US" altLang="en-US" sz="3375" dirty="0"/>
              <a:t> evaluation?</a:t>
            </a:r>
            <a:r>
              <a:rPr lang="en-US" altLang="zh-CN" sz="3375" dirty="0">
                <a:ea typeface="SimSun" panose="02010600030101010101" pitchFamily="2" charset="-122"/>
              </a:rPr>
              <a:t> 	</a:t>
            </a:r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6B880630-73BA-B885-1ED5-BA5ABE09E42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96617" y="3530576"/>
            <a:ext cx="8150572" cy="2733600"/>
          </a:xfrm>
        </p:spPr>
        <p:txBody>
          <a:bodyPr/>
          <a:lstStyle/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en-US"/>
              <a:t>(λy. </a:t>
            </a:r>
            <a:r>
              <a:rPr lang="en-US" altLang="en-US"/>
              <a:t>y</a:t>
            </a:r>
            <a:r>
              <a:rPr lang="el-GR" altLang="en-US"/>
              <a:t>) ((λu. u) (λv. v)) </a:t>
            </a:r>
            <a:endParaRPr lang="en-US" altLang="en-US"/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en-US"/>
              <a:t>(λx. x) ((λu. u) (λv. v)) </a:t>
            </a:r>
            <a:endParaRPr lang="en-US" altLang="en-US"/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en-US" sz="3094"/>
              <a:t>(λy. (λx. x) y) (λv. v) </a:t>
            </a:r>
            <a:endParaRPr lang="en-US" altLang="en-US" sz="3094"/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en-US" sz="3094"/>
              <a:t>(λy. (λx. x) y) (λ</a:t>
            </a:r>
            <a:r>
              <a:rPr lang="en-US" altLang="en-US" sz="3094"/>
              <a:t>u</a:t>
            </a:r>
            <a:r>
              <a:rPr lang="el-GR" altLang="en-US" sz="3094"/>
              <a:t>. </a:t>
            </a:r>
            <a:r>
              <a:rPr lang="en-US" altLang="en-US" sz="3094"/>
              <a:t>u</a:t>
            </a:r>
            <a:r>
              <a:rPr lang="el-GR" altLang="en-US" sz="3094"/>
              <a:t>) </a:t>
            </a:r>
            <a:endParaRPr lang="en-US" altLang="en-US" sz="3094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4837244-3EEC-42FC-27A4-9A30B1B82CC4}"/>
              </a:ext>
            </a:extLst>
          </p:cNvPr>
          <p:cNvSpPr txBox="1"/>
          <p:nvPr/>
        </p:nvSpPr>
        <p:spPr>
          <a:xfrm>
            <a:off x="2248421" y="2365251"/>
            <a:ext cx="7358063" cy="28713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US" sz="1266" i="1" dirty="0">
                <a:solidFill>
                  <a:schemeClr val="bg1">
                    <a:lumMod val="65000"/>
                  </a:schemeClr>
                </a:solidFill>
              </a:rPr>
              <a:t>Call-by-name</a:t>
            </a:r>
            <a:r>
              <a:rPr lang="en-US" sz="1266" dirty="0">
                <a:solidFill>
                  <a:schemeClr val="bg1">
                    <a:lumMod val="65000"/>
                  </a:schemeClr>
                </a:solidFill>
              </a:rPr>
              <a:t>: leftmost, outermost </a:t>
            </a:r>
            <a:r>
              <a:rPr lang="en-US" sz="1266" dirty="0" err="1">
                <a:solidFill>
                  <a:schemeClr val="bg1">
                    <a:lumMod val="65000"/>
                  </a:schemeClr>
                </a:solidFill>
              </a:rPr>
              <a:t>redex</a:t>
            </a:r>
            <a:r>
              <a:rPr lang="en-US" sz="1266" dirty="0">
                <a:solidFill>
                  <a:schemeClr val="bg1">
                    <a:lumMod val="65000"/>
                  </a:schemeClr>
                </a:solidFill>
              </a:rPr>
              <a:t> first, NO reduction inside lambda abstractions</a:t>
            </a: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1">
            <a:extLst>
              <a:ext uri="{FF2B5EF4-FFF2-40B4-BE49-F238E27FC236}">
                <a16:creationId xmlns:a16="http://schemas.microsoft.com/office/drawing/2014/main" id="{93C17F82-9657-062C-CFBE-C4ABDD5A2D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48421" y="650751"/>
            <a:ext cx="7543354" cy="1714500"/>
          </a:xfrm>
        </p:spPr>
        <p:txBody>
          <a:bodyPr/>
          <a:lstStyle/>
          <a:p>
            <a:pPr algn="l" eaLnBrk="1" hangingPunct="1"/>
            <a:r>
              <a:rPr lang="en-US" altLang="zh-CN" sz="3375" dirty="0">
                <a:ea typeface="SimSun" panose="02010600030101010101" pitchFamily="2" charset="-122"/>
              </a:rPr>
              <a:t>6. What is the </a:t>
            </a:r>
            <a:r>
              <a:rPr lang="en-US" altLang="zh-CN" sz="3375" dirty="0">
                <a:solidFill>
                  <a:srgbClr val="FF0000"/>
                </a:solidFill>
                <a:ea typeface="SimSun" panose="02010600030101010101" pitchFamily="2" charset="-122"/>
              </a:rPr>
              <a:t>first step </a:t>
            </a:r>
            <a:r>
              <a:rPr lang="en-US" altLang="zh-CN" sz="3375" dirty="0">
                <a:ea typeface="SimSun" panose="02010600030101010101" pitchFamily="2" charset="-122"/>
              </a:rPr>
              <a:t>of </a:t>
            </a:r>
            <a:br>
              <a:rPr lang="en-US" altLang="zh-CN" sz="3375" dirty="0">
                <a:ea typeface="SimSun" panose="02010600030101010101" pitchFamily="2" charset="-122"/>
              </a:rPr>
            </a:br>
            <a:r>
              <a:rPr lang="en-US" altLang="zh-CN" sz="3375" dirty="0">
                <a:ea typeface="SimSun" panose="02010600030101010101" pitchFamily="2" charset="-122"/>
              </a:rPr>
              <a:t>	</a:t>
            </a:r>
            <a:r>
              <a:rPr lang="el-GR" altLang="en-US" sz="3375" dirty="0"/>
              <a:t>(λy. (λx. x) y) ((λu. u) (λv. v))</a:t>
            </a:r>
            <a:br>
              <a:rPr lang="en-US" altLang="en-US" sz="3375" dirty="0"/>
            </a:br>
            <a:r>
              <a:rPr lang="en-US" altLang="en-US" sz="3375" dirty="0"/>
              <a:t>    under </a:t>
            </a:r>
            <a:r>
              <a:rPr lang="en-US" altLang="en-US" sz="3375" dirty="0">
                <a:solidFill>
                  <a:srgbClr val="FF0000"/>
                </a:solidFill>
              </a:rPr>
              <a:t>call-by-value</a:t>
            </a:r>
            <a:r>
              <a:rPr lang="en-US" altLang="en-US" sz="3375" dirty="0"/>
              <a:t> evaluation? </a:t>
            </a:r>
            <a:endParaRPr lang="en-US" altLang="zh-CN" sz="3375" dirty="0">
              <a:ea typeface="SimSun" panose="02010600030101010101" pitchFamily="2" charset="-122"/>
            </a:endParaRPr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446ACAF3-C271-1BD9-EE5E-217C50A690F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96617" y="3783955"/>
            <a:ext cx="8150572" cy="2835176"/>
          </a:xfrm>
        </p:spPr>
        <p:txBody>
          <a:bodyPr/>
          <a:lstStyle/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en-US"/>
              <a:t>(λy. </a:t>
            </a:r>
            <a:r>
              <a:rPr lang="en-US" altLang="en-US"/>
              <a:t>y</a:t>
            </a:r>
            <a:r>
              <a:rPr lang="el-GR" altLang="en-US"/>
              <a:t>) ((λu. u) (λv. v)) </a:t>
            </a:r>
            <a:endParaRPr lang="en-US" altLang="en-US"/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en-US"/>
              <a:t>(λx. x) ((λu. u) (λv. v)) </a:t>
            </a:r>
            <a:endParaRPr lang="en-US" altLang="en-US"/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en-US" sz="3094"/>
              <a:t>(λy. (λx. x) y) (λv. v) </a:t>
            </a:r>
            <a:endParaRPr lang="en-US" altLang="en-US" sz="3094"/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en-US" sz="3094"/>
              <a:t>(λy. (λx. x) y) (λ</a:t>
            </a:r>
            <a:r>
              <a:rPr lang="en-US" altLang="en-US" sz="3094"/>
              <a:t>u</a:t>
            </a:r>
            <a:r>
              <a:rPr lang="el-GR" altLang="en-US" sz="3094"/>
              <a:t>. </a:t>
            </a:r>
            <a:r>
              <a:rPr lang="en-US" altLang="en-US" sz="3094"/>
              <a:t>u</a:t>
            </a:r>
            <a:r>
              <a:rPr lang="el-GR" altLang="en-US" sz="3094"/>
              <a:t>) </a:t>
            </a:r>
            <a:endParaRPr lang="en-US" altLang="en-US" sz="3094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FC4614-0E41-E86A-5815-17F1B082A7AF}"/>
              </a:ext>
            </a:extLst>
          </p:cNvPr>
          <p:cNvSpPr txBox="1"/>
          <p:nvPr/>
        </p:nvSpPr>
        <p:spPr>
          <a:xfrm>
            <a:off x="2341067" y="2466826"/>
            <a:ext cx="7754318" cy="1455591"/>
          </a:xfrm>
          <a:prstGeom prst="rect">
            <a:avLst/>
          </a:prstGeom>
          <a:noFill/>
        </p:spPr>
        <p:txBody>
          <a:bodyPr>
            <a:spAutoFit/>
          </a:bodyPr>
          <a:lstStyle>
            <a:lvl1pPr>
              <a:defRPr sz="4200">
                <a:solidFill>
                  <a:srgbClr val="000000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1pPr>
            <a:lvl2pPr marL="742950" indent="-285750">
              <a:defRPr sz="4200">
                <a:solidFill>
                  <a:srgbClr val="000000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marL="1143000" indent="-228600">
              <a:defRPr sz="4200">
                <a:solidFill>
                  <a:srgbClr val="000000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marL="1600200" indent="-228600">
              <a:defRPr sz="4200">
                <a:solidFill>
                  <a:srgbClr val="000000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marL="2057400" indent="-228600">
              <a:defRPr sz="4200">
                <a:solidFill>
                  <a:srgbClr val="000000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r>
              <a:rPr lang="en-US" altLang="en-US" sz="2953" i="1">
                <a:solidFill>
                  <a:srgbClr val="A6A6A6"/>
                </a:solidFill>
              </a:rPr>
              <a:t>call-by-value: only outermost redex, whose RHS  must be a value(</a:t>
            </a:r>
            <a:r>
              <a:rPr lang="el-GR" altLang="en-US" sz="2953" i="1">
                <a:solidFill>
                  <a:srgbClr val="A6A6A6"/>
                </a:solidFill>
              </a:rPr>
              <a:t>λ</a:t>
            </a:r>
            <a:r>
              <a:rPr lang="fr-CA" altLang="en-US" sz="2953" i="1">
                <a:solidFill>
                  <a:srgbClr val="A6A6A6"/>
                </a:solidFill>
              </a:rPr>
              <a:t> abstraction</a:t>
            </a:r>
            <a:r>
              <a:rPr lang="en-US" altLang="en-US" sz="2953" i="1">
                <a:solidFill>
                  <a:srgbClr val="A6A6A6"/>
                </a:solidFill>
              </a:rPr>
              <a:t>), no reduction inside abstraction</a:t>
            </a: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1">
            <a:extLst>
              <a:ext uri="{FF2B5EF4-FFF2-40B4-BE49-F238E27FC236}">
                <a16:creationId xmlns:a16="http://schemas.microsoft.com/office/drawing/2014/main" id="{ECF269B3-9D7B-055E-2A0D-C2B958170B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48421" y="650751"/>
            <a:ext cx="7358063" cy="1714500"/>
          </a:xfrm>
        </p:spPr>
        <p:txBody>
          <a:bodyPr/>
          <a:lstStyle/>
          <a:p>
            <a:pPr algn="l" eaLnBrk="1" hangingPunct="1"/>
            <a:r>
              <a:rPr lang="en-US" altLang="zh-CN" sz="3375" dirty="0">
                <a:ea typeface="SimSun" panose="02010600030101010101" pitchFamily="2" charset="-122"/>
              </a:rPr>
              <a:t>7. Application associate to the _____?</a:t>
            </a: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DA9115B3-8D0C-3D27-B46B-FFBF47A71AE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96617" y="2245817"/>
            <a:ext cx="8150572" cy="4018359"/>
          </a:xfrm>
        </p:spPr>
        <p:txBody>
          <a:bodyPr/>
          <a:lstStyle/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 dirty="0">
                <a:ea typeface="SimSun" panose="02010600030101010101" pitchFamily="2" charset="-122"/>
              </a:rPr>
              <a:t>Left</a:t>
            </a:r>
            <a:endParaRPr lang="pl-PL" altLang="zh-CN" dirty="0">
              <a:ea typeface="SimSun" panose="02010600030101010101" pitchFamily="2" charset="-122"/>
            </a:endParaRP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 dirty="0">
                <a:ea typeface="SimSun" panose="02010600030101010101" pitchFamily="2" charset="-122"/>
              </a:rPr>
              <a:t>Right</a:t>
            </a:r>
            <a:endParaRPr lang="pl-PL" altLang="zh-CN" dirty="0">
              <a:ea typeface="SimSun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1E828C-5570-0877-AD90-39EBE6D72335}"/>
              </a:ext>
            </a:extLst>
          </p:cNvPr>
          <p:cNvSpPr txBox="1"/>
          <p:nvPr/>
        </p:nvSpPr>
        <p:spPr>
          <a:xfrm>
            <a:off x="3985569" y="1727251"/>
            <a:ext cx="7754318" cy="48192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US" sz="1266" i="1" dirty="0">
                <a:solidFill>
                  <a:schemeClr val="bg1">
                    <a:lumMod val="65000"/>
                  </a:schemeClr>
                </a:solidFill>
              </a:rPr>
              <a:t>e.g. M N L = (M N) L – associate to the left </a:t>
            </a:r>
          </a:p>
          <a:p>
            <a:pPr>
              <a:defRPr/>
            </a:pPr>
            <a:r>
              <a:rPr lang="en-US" sz="1266" i="1" dirty="0">
                <a:solidFill>
                  <a:schemeClr val="bg1">
                    <a:lumMod val="65000"/>
                  </a:schemeClr>
                </a:solidFill>
              </a:rPr>
              <a:t>		   or M(N L) – associate to the right</a:t>
            </a: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1">
            <a:extLst>
              <a:ext uri="{FF2B5EF4-FFF2-40B4-BE49-F238E27FC236}">
                <a16:creationId xmlns:a16="http://schemas.microsoft.com/office/drawing/2014/main" id="{FB4BCFFD-A0FB-7001-4CDB-D606D49A48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48421" y="650751"/>
            <a:ext cx="7358063" cy="1714500"/>
          </a:xfrm>
        </p:spPr>
        <p:txBody>
          <a:bodyPr/>
          <a:lstStyle/>
          <a:p>
            <a:pPr algn="l" eaLnBrk="1" hangingPunct="1"/>
            <a:r>
              <a:rPr lang="en-US" altLang="zh-CN" sz="3375" dirty="0">
                <a:ea typeface="SimSun" panose="02010600030101010101" pitchFamily="2" charset="-122"/>
              </a:rPr>
              <a:t>8. What’s equivalent to </a:t>
            </a:r>
            <a:r>
              <a:rPr lang="el-GR" altLang="zh-CN" sz="3375" dirty="0">
                <a:ea typeface="SimSun" panose="02010600030101010101" pitchFamily="2" charset="-122"/>
              </a:rPr>
              <a:t>λ</a:t>
            </a:r>
            <a:r>
              <a:rPr lang="pl-PL" altLang="zh-CN" sz="3375" dirty="0">
                <a:ea typeface="SimSun" panose="02010600030101010101" pitchFamily="2" charset="-122"/>
              </a:rPr>
              <a:t>y.y z </a:t>
            </a:r>
            <a:r>
              <a:rPr lang="fr-CA" altLang="zh-CN" sz="3375" dirty="0">
                <a:ea typeface="SimSun" panose="02010600030101010101" pitchFamily="2" charset="-122"/>
              </a:rPr>
              <a:t> </a:t>
            </a:r>
            <a:r>
              <a:rPr lang="el-GR" altLang="zh-CN" sz="3375" dirty="0">
                <a:ea typeface="SimSun" panose="02010600030101010101" pitchFamily="2" charset="-122"/>
              </a:rPr>
              <a:t>λ</a:t>
            </a:r>
            <a:r>
              <a:rPr lang="pl-PL" altLang="zh-CN" sz="3375" dirty="0">
                <a:ea typeface="SimSun" panose="02010600030101010101" pitchFamily="2" charset="-122"/>
              </a:rPr>
              <a:t>x.x y z</a:t>
            </a:r>
            <a:r>
              <a:rPr lang="en-US" altLang="zh-CN" sz="3375" dirty="0">
                <a:ea typeface="SimSun" panose="02010600030101010101" pitchFamily="2" charset="-122"/>
              </a:rPr>
              <a:t>?</a:t>
            </a:r>
          </a:p>
        </p:txBody>
      </p:sp>
      <p:sp>
        <p:nvSpPr>
          <p:cNvPr id="24579" name="Rectangle 2">
            <a:extLst>
              <a:ext uri="{FF2B5EF4-FFF2-40B4-BE49-F238E27FC236}">
                <a16:creationId xmlns:a16="http://schemas.microsoft.com/office/drawing/2014/main" id="{8B9067A5-5E0B-2B47-1417-28350556BC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96617" y="2245817"/>
            <a:ext cx="8150572" cy="4018359"/>
          </a:xfrm>
        </p:spPr>
        <p:txBody>
          <a:bodyPr/>
          <a:lstStyle/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zh-CN">
                <a:ea typeface="SimSun" panose="02010600030101010101" pitchFamily="2" charset="-122"/>
              </a:rPr>
              <a:t>λ</a:t>
            </a:r>
            <a:r>
              <a:rPr lang="pl-PL" altLang="zh-CN">
                <a:ea typeface="SimSun" panose="02010600030101010101" pitchFamily="2" charset="-122"/>
              </a:rPr>
              <a:t>y.</a:t>
            </a:r>
            <a:r>
              <a:rPr lang="en-US" altLang="zh-CN">
                <a:ea typeface="SimSun" panose="02010600030101010101" pitchFamily="2" charset="-122"/>
              </a:rPr>
              <a:t>(</a:t>
            </a:r>
            <a:r>
              <a:rPr lang="pl-PL" altLang="zh-CN">
                <a:ea typeface="SimSun" panose="02010600030101010101" pitchFamily="2" charset="-122"/>
              </a:rPr>
              <a:t>y z</a:t>
            </a:r>
            <a:r>
              <a:rPr lang="en-US" altLang="zh-CN">
                <a:ea typeface="SimSun" panose="02010600030101010101" pitchFamily="2" charset="-122"/>
              </a:rPr>
              <a:t>)</a:t>
            </a:r>
            <a:r>
              <a:rPr lang="pl-PL" altLang="zh-CN">
                <a:ea typeface="SimSun" panose="02010600030101010101" pitchFamily="2" charset="-122"/>
              </a:rPr>
              <a:t> </a:t>
            </a:r>
            <a:r>
              <a:rPr lang="el-GR" altLang="zh-CN">
                <a:ea typeface="SimSun" panose="02010600030101010101" pitchFamily="2" charset="-122"/>
              </a:rPr>
              <a:t>λ</a:t>
            </a:r>
            <a:r>
              <a:rPr lang="pl-PL" altLang="zh-CN">
                <a:ea typeface="SimSun" panose="02010600030101010101" pitchFamily="2" charset="-122"/>
              </a:rPr>
              <a:t>x.</a:t>
            </a:r>
            <a:r>
              <a:rPr lang="en-US" altLang="zh-CN">
                <a:ea typeface="SimSun" panose="02010600030101010101" pitchFamily="2" charset="-122"/>
              </a:rPr>
              <a:t>((</a:t>
            </a:r>
            <a:r>
              <a:rPr lang="pl-PL" altLang="zh-CN">
                <a:ea typeface="SimSun" panose="02010600030101010101" pitchFamily="2" charset="-122"/>
              </a:rPr>
              <a:t>x y</a:t>
            </a:r>
            <a:r>
              <a:rPr lang="en-US" altLang="zh-CN">
                <a:ea typeface="SimSun" panose="02010600030101010101" pitchFamily="2" charset="-122"/>
              </a:rPr>
              <a:t>)</a:t>
            </a:r>
            <a:r>
              <a:rPr lang="pl-PL" altLang="zh-CN">
                <a:ea typeface="SimSun" panose="02010600030101010101" pitchFamily="2" charset="-122"/>
              </a:rPr>
              <a:t> z</a:t>
            </a:r>
            <a:r>
              <a:rPr lang="en-US" altLang="zh-CN">
                <a:ea typeface="SimSun" panose="02010600030101010101" pitchFamily="2" charset="-122"/>
              </a:rPr>
              <a:t>) 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zh-CN">
                <a:ea typeface="SimSun" panose="02010600030101010101" pitchFamily="2" charset="-122"/>
              </a:rPr>
              <a:t>λ</a:t>
            </a:r>
            <a:r>
              <a:rPr lang="pl-PL" altLang="zh-CN">
                <a:ea typeface="SimSun" panose="02010600030101010101" pitchFamily="2" charset="-122"/>
              </a:rPr>
              <a:t>y.</a:t>
            </a:r>
            <a:r>
              <a:rPr lang="en-US" altLang="zh-CN">
                <a:ea typeface="SimSun" panose="02010600030101010101" pitchFamily="2" charset="-122"/>
              </a:rPr>
              <a:t>(</a:t>
            </a:r>
            <a:r>
              <a:rPr lang="pl-PL" altLang="zh-CN">
                <a:ea typeface="SimSun" panose="02010600030101010101" pitchFamily="2" charset="-122"/>
              </a:rPr>
              <a:t>y </a:t>
            </a:r>
            <a:r>
              <a:rPr lang="en-US" altLang="zh-CN">
                <a:ea typeface="SimSun" panose="02010600030101010101" pitchFamily="2" charset="-122"/>
              </a:rPr>
              <a:t>(</a:t>
            </a:r>
            <a:r>
              <a:rPr lang="pl-PL" altLang="zh-CN">
                <a:ea typeface="SimSun" panose="02010600030101010101" pitchFamily="2" charset="-122"/>
              </a:rPr>
              <a:t>z </a:t>
            </a:r>
            <a:r>
              <a:rPr lang="el-GR" altLang="zh-CN">
                <a:ea typeface="SimSun" panose="02010600030101010101" pitchFamily="2" charset="-122"/>
              </a:rPr>
              <a:t>λ</a:t>
            </a:r>
            <a:r>
              <a:rPr lang="pl-PL" altLang="zh-CN">
                <a:ea typeface="SimSun" panose="02010600030101010101" pitchFamily="2" charset="-122"/>
              </a:rPr>
              <a:t>x.</a:t>
            </a:r>
            <a:r>
              <a:rPr lang="en-US" altLang="zh-CN">
                <a:ea typeface="SimSun" panose="02010600030101010101" pitchFamily="2" charset="-122"/>
              </a:rPr>
              <a:t>(</a:t>
            </a:r>
            <a:r>
              <a:rPr lang="pl-PL" altLang="zh-CN">
                <a:ea typeface="SimSun" panose="02010600030101010101" pitchFamily="2" charset="-122"/>
              </a:rPr>
              <a:t>x </a:t>
            </a:r>
            <a:r>
              <a:rPr lang="en-US" altLang="zh-CN">
                <a:ea typeface="SimSun" panose="02010600030101010101" pitchFamily="2" charset="-122"/>
              </a:rPr>
              <a:t>(</a:t>
            </a:r>
            <a:r>
              <a:rPr lang="pl-PL" altLang="zh-CN">
                <a:ea typeface="SimSun" panose="02010600030101010101" pitchFamily="2" charset="-122"/>
              </a:rPr>
              <a:t>y z</a:t>
            </a:r>
            <a:r>
              <a:rPr lang="en-US" altLang="zh-CN">
                <a:ea typeface="SimSun" panose="02010600030101010101" pitchFamily="2" charset="-122"/>
              </a:rPr>
              <a:t>))))</a:t>
            </a:r>
            <a:endParaRPr lang="pl-PL" altLang="zh-CN">
              <a:ea typeface="SimSun" panose="02010600030101010101" pitchFamily="2" charset="-122"/>
            </a:endParaRP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n-US" altLang="zh-CN">
                <a:ea typeface="SimSun" panose="02010600030101010101" pitchFamily="2" charset="-122"/>
              </a:rPr>
              <a:t>(</a:t>
            </a:r>
            <a:r>
              <a:rPr lang="el-GR" altLang="zh-CN">
                <a:ea typeface="SimSun" panose="02010600030101010101" pitchFamily="2" charset="-122"/>
              </a:rPr>
              <a:t>λ</a:t>
            </a:r>
            <a:r>
              <a:rPr lang="pl-PL" altLang="zh-CN">
                <a:ea typeface="SimSun" panose="02010600030101010101" pitchFamily="2" charset="-122"/>
              </a:rPr>
              <a:t>y.</a:t>
            </a:r>
            <a:r>
              <a:rPr lang="en-US" altLang="zh-CN">
                <a:ea typeface="SimSun" panose="02010600030101010101" pitchFamily="2" charset="-122"/>
              </a:rPr>
              <a:t>(</a:t>
            </a:r>
            <a:r>
              <a:rPr lang="pl-PL" altLang="zh-CN">
                <a:ea typeface="SimSun" panose="02010600030101010101" pitchFamily="2" charset="-122"/>
              </a:rPr>
              <a:t>y z</a:t>
            </a:r>
            <a:r>
              <a:rPr lang="en-US" altLang="zh-CN">
                <a:ea typeface="SimSun" panose="02010600030101010101" pitchFamily="2" charset="-122"/>
              </a:rPr>
              <a:t>))</a:t>
            </a:r>
            <a:r>
              <a:rPr lang="pl-PL" altLang="zh-CN">
                <a:ea typeface="SimSun" panose="02010600030101010101" pitchFamily="2" charset="-122"/>
              </a:rPr>
              <a:t> </a:t>
            </a:r>
            <a:r>
              <a:rPr lang="el-GR" altLang="zh-CN">
                <a:ea typeface="SimSun" panose="02010600030101010101" pitchFamily="2" charset="-122"/>
              </a:rPr>
              <a:t>λ</a:t>
            </a:r>
            <a:r>
              <a:rPr lang="pl-PL" altLang="zh-CN">
                <a:ea typeface="SimSun" panose="02010600030101010101" pitchFamily="2" charset="-122"/>
              </a:rPr>
              <a:t>x.</a:t>
            </a:r>
            <a:r>
              <a:rPr lang="en-US" altLang="zh-CN">
                <a:ea typeface="SimSun" panose="02010600030101010101" pitchFamily="2" charset="-122"/>
              </a:rPr>
              <a:t>((</a:t>
            </a:r>
            <a:r>
              <a:rPr lang="pl-PL" altLang="zh-CN">
                <a:ea typeface="SimSun" panose="02010600030101010101" pitchFamily="2" charset="-122"/>
              </a:rPr>
              <a:t>x y</a:t>
            </a:r>
            <a:r>
              <a:rPr lang="en-US" altLang="zh-CN">
                <a:ea typeface="SimSun" panose="02010600030101010101" pitchFamily="2" charset="-122"/>
              </a:rPr>
              <a:t>)</a:t>
            </a:r>
            <a:r>
              <a:rPr lang="pl-PL" altLang="zh-CN">
                <a:ea typeface="SimSun" panose="02010600030101010101" pitchFamily="2" charset="-122"/>
              </a:rPr>
              <a:t> z</a:t>
            </a:r>
            <a:r>
              <a:rPr lang="en-US" altLang="zh-CN">
                <a:ea typeface="SimSun" panose="02010600030101010101" pitchFamily="2" charset="-122"/>
              </a:rPr>
              <a:t>)</a:t>
            </a:r>
          </a:p>
          <a:p>
            <a:pPr marL="709885" indent="-522368">
              <a:buSzPct val="100000"/>
              <a:buFont typeface="Gill Sans" charset="0"/>
              <a:buAutoNum type="alphaLcPeriod"/>
            </a:pPr>
            <a:r>
              <a:rPr lang="el-GR" altLang="zh-CN">
                <a:ea typeface="SimSun" panose="02010600030101010101" pitchFamily="2" charset="-122"/>
              </a:rPr>
              <a:t>λ</a:t>
            </a:r>
            <a:r>
              <a:rPr lang="pl-PL" altLang="zh-CN">
                <a:ea typeface="SimSun" panose="02010600030101010101" pitchFamily="2" charset="-122"/>
              </a:rPr>
              <a:t>y.</a:t>
            </a:r>
            <a:r>
              <a:rPr lang="en-US" altLang="zh-CN">
                <a:ea typeface="SimSun" panose="02010600030101010101" pitchFamily="2" charset="-122"/>
              </a:rPr>
              <a:t>((</a:t>
            </a:r>
            <a:r>
              <a:rPr lang="pl-PL" altLang="zh-CN">
                <a:ea typeface="SimSun" panose="02010600030101010101" pitchFamily="2" charset="-122"/>
              </a:rPr>
              <a:t>y z</a:t>
            </a:r>
            <a:r>
              <a:rPr lang="en-US" altLang="zh-CN">
                <a:ea typeface="SimSun" panose="02010600030101010101" pitchFamily="2" charset="-122"/>
              </a:rPr>
              <a:t>)</a:t>
            </a:r>
            <a:r>
              <a:rPr lang="pl-PL" altLang="zh-CN">
                <a:ea typeface="SimSun" panose="02010600030101010101" pitchFamily="2" charset="-122"/>
              </a:rPr>
              <a:t> </a:t>
            </a:r>
            <a:r>
              <a:rPr lang="el-GR" altLang="zh-CN">
                <a:ea typeface="SimSun" panose="02010600030101010101" pitchFamily="2" charset="-122"/>
              </a:rPr>
              <a:t>λ</a:t>
            </a:r>
            <a:r>
              <a:rPr lang="pl-PL" altLang="zh-CN">
                <a:ea typeface="SimSun" panose="02010600030101010101" pitchFamily="2" charset="-122"/>
              </a:rPr>
              <a:t>x.</a:t>
            </a:r>
            <a:r>
              <a:rPr lang="en-US" altLang="zh-CN">
                <a:ea typeface="SimSun" panose="02010600030101010101" pitchFamily="2" charset="-122"/>
              </a:rPr>
              <a:t>((</a:t>
            </a:r>
            <a:r>
              <a:rPr lang="pl-PL" altLang="zh-CN">
                <a:ea typeface="SimSun" panose="02010600030101010101" pitchFamily="2" charset="-122"/>
              </a:rPr>
              <a:t>x y</a:t>
            </a:r>
            <a:r>
              <a:rPr lang="en-US" altLang="zh-CN">
                <a:ea typeface="SimSun" panose="02010600030101010101" pitchFamily="2" charset="-122"/>
              </a:rPr>
              <a:t>)</a:t>
            </a:r>
            <a:r>
              <a:rPr lang="pl-PL" altLang="zh-CN">
                <a:ea typeface="SimSun" panose="02010600030101010101" pitchFamily="2" charset="-122"/>
              </a:rPr>
              <a:t> z</a:t>
            </a:r>
            <a:r>
              <a:rPr lang="en-US" altLang="zh-CN">
                <a:ea typeface="SimSun" panose="02010600030101010101" pitchFamily="2" charset="-122"/>
              </a:rPr>
              <a:t>))</a:t>
            </a:r>
            <a:endParaRPr lang="pl-PL" altLang="zh-CN">
              <a:ea typeface="SimSun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33502" y="1291591"/>
            <a:ext cx="4870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Quiz: Evaluate test </a:t>
            </a:r>
            <a:r>
              <a:rPr lang="en-US" sz="2400" dirty="0" err="1">
                <a:solidFill>
                  <a:schemeClr val="accent1"/>
                </a:solidFill>
              </a:rPr>
              <a:t>fls</a:t>
            </a:r>
            <a:r>
              <a:rPr lang="en-US" sz="2400" dirty="0">
                <a:solidFill>
                  <a:schemeClr val="accent1"/>
                </a:solidFill>
              </a:rPr>
              <a:t> a b?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EB4CC5F-1C3C-43F1-A372-DCB9788C203D}"/>
              </a:ext>
            </a:extLst>
          </p:cNvPr>
          <p:cNvSpPr txBox="1"/>
          <p:nvPr/>
        </p:nvSpPr>
        <p:spPr>
          <a:xfrm>
            <a:off x="7051745" y="1383582"/>
            <a:ext cx="31612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tru</a:t>
            </a:r>
            <a:r>
              <a:rPr lang="en-US" dirty="0">
                <a:solidFill>
                  <a:srgbClr val="FF0000"/>
                </a:solidFill>
              </a:rPr>
              <a:t> = \t.\f. t             </a:t>
            </a:r>
            <a:r>
              <a:rPr lang="en-US" dirty="0" err="1">
                <a:solidFill>
                  <a:srgbClr val="FF0000"/>
                </a:solidFill>
              </a:rPr>
              <a:t>fls</a:t>
            </a:r>
            <a:r>
              <a:rPr lang="en-US" dirty="0">
                <a:solidFill>
                  <a:srgbClr val="FF0000"/>
                </a:solidFill>
              </a:rPr>
              <a:t> = \t.\f. f</a:t>
            </a:r>
          </a:p>
          <a:p>
            <a:r>
              <a:rPr lang="en-US" dirty="0">
                <a:solidFill>
                  <a:srgbClr val="FF0000"/>
                </a:solidFill>
              </a:rPr>
              <a:t>test = \x.\then.\else. x then else</a:t>
            </a:r>
          </a:p>
        </p:txBody>
      </p:sp>
    </p:spTree>
    <p:extLst>
      <p:ext uri="{BB962C8B-B14F-4D97-AF65-F5344CB8AC3E}">
        <p14:creationId xmlns:p14="http://schemas.microsoft.com/office/powerpoint/2010/main" val="42409519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49CCE-ED76-8FB5-A257-6CCDE2B0D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ADF500-6292-F3BD-B2A0-FC7ACB98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/>
          </a:bodyPr>
          <a:lstStyle/>
          <a:p>
            <a:r>
              <a:rPr lang="en-US" sz="4400" dirty="0"/>
              <a:t>Quiz 6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5008B3-9238-1F72-6E93-2F2111087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5079"/>
            <a:ext cx="7703947" cy="4221523"/>
          </a:xfrm>
          <a:prstGeom prst="rect">
            <a:avLst/>
          </a:prstGeom>
        </p:spPr>
      </p:pic>
      <p:pic>
        <p:nvPicPr>
          <p:cNvPr id="2" name="Picture 1" descr="A screenshot of a white background&#10;&#10;Description automatically generated">
            <a:extLst>
              <a:ext uri="{FF2B5EF4-FFF2-40B4-BE49-F238E27FC236}">
                <a16:creationId xmlns:a16="http://schemas.microsoft.com/office/drawing/2014/main" id="{B845A00D-DEC5-DB08-4803-EBCDCE48D5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5813" y="1064352"/>
            <a:ext cx="3560660" cy="4507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99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FA7C9-6F09-1F6A-65D0-5556C046C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CE36D0-6A87-D2D6-A38C-2E3351F35AE3}"/>
              </a:ext>
            </a:extLst>
          </p:cNvPr>
          <p:cNvSpPr txBox="1"/>
          <p:nvPr/>
        </p:nvSpPr>
        <p:spPr>
          <a:xfrm>
            <a:off x="474906" y="2370822"/>
            <a:ext cx="115277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or </a:t>
            </a:r>
            <a:r>
              <a:rPr lang="en-US" sz="3200" dirty="0" err="1"/>
              <a:t>tru</a:t>
            </a:r>
            <a:r>
              <a:rPr lang="en-US" sz="3200" dirty="0"/>
              <a:t> </a:t>
            </a:r>
            <a:r>
              <a:rPr lang="en-US" sz="3200" dirty="0" err="1"/>
              <a:t>fls</a:t>
            </a:r>
            <a:r>
              <a:rPr lang="en-US" sz="3200" dirty="0"/>
              <a:t> = (\b.\c. b </a:t>
            </a:r>
            <a:r>
              <a:rPr lang="en-US" sz="3200" dirty="0" err="1"/>
              <a:t>tru</a:t>
            </a:r>
            <a:r>
              <a:rPr lang="en-US" sz="3200" dirty="0"/>
              <a:t> c) </a:t>
            </a:r>
            <a:r>
              <a:rPr lang="en-US" sz="3200" dirty="0" err="1"/>
              <a:t>tru</a:t>
            </a:r>
            <a:r>
              <a:rPr lang="en-US" sz="3200" dirty="0"/>
              <a:t> </a:t>
            </a:r>
            <a:r>
              <a:rPr lang="en-US" sz="3200" dirty="0" err="1"/>
              <a:t>fls</a:t>
            </a:r>
            <a:r>
              <a:rPr lang="en-US" sz="3200" dirty="0"/>
              <a:t> </a:t>
            </a:r>
          </a:p>
          <a:p>
            <a:r>
              <a:rPr lang="en-US" sz="3200" dirty="0"/>
              <a:t>-&gt;(\c. </a:t>
            </a:r>
            <a:r>
              <a:rPr lang="en-US" sz="3200" dirty="0" err="1"/>
              <a:t>tru</a:t>
            </a:r>
            <a:r>
              <a:rPr lang="en-US" sz="3200" dirty="0"/>
              <a:t> </a:t>
            </a:r>
            <a:r>
              <a:rPr lang="en-US" sz="3200" dirty="0" err="1"/>
              <a:t>tru</a:t>
            </a:r>
            <a:r>
              <a:rPr lang="en-US" sz="3200" dirty="0"/>
              <a:t> c) </a:t>
            </a:r>
            <a:r>
              <a:rPr lang="en-US" sz="3200" dirty="0" err="1"/>
              <a:t>fls</a:t>
            </a:r>
            <a:r>
              <a:rPr lang="en-US" sz="3200" dirty="0"/>
              <a:t> -&gt; </a:t>
            </a:r>
            <a:r>
              <a:rPr lang="en-US" sz="3200" dirty="0" err="1"/>
              <a:t>tru</a:t>
            </a:r>
            <a:r>
              <a:rPr lang="en-US" sz="3200" dirty="0"/>
              <a:t> </a:t>
            </a:r>
            <a:r>
              <a:rPr lang="en-US" sz="3200" dirty="0" err="1"/>
              <a:t>tru</a:t>
            </a:r>
            <a:r>
              <a:rPr lang="en-US" sz="3200" dirty="0"/>
              <a:t> </a:t>
            </a:r>
            <a:r>
              <a:rPr lang="en-US" sz="3200" dirty="0" err="1"/>
              <a:t>fls</a:t>
            </a:r>
            <a:r>
              <a:rPr lang="en-US" sz="3200" dirty="0"/>
              <a:t> = (\t.\f. t) </a:t>
            </a:r>
            <a:r>
              <a:rPr lang="en-US" sz="3200" dirty="0" err="1"/>
              <a:t>tru</a:t>
            </a:r>
            <a:r>
              <a:rPr lang="en-US" sz="3200" dirty="0"/>
              <a:t> </a:t>
            </a:r>
            <a:r>
              <a:rPr lang="en-US" sz="3200" dirty="0" err="1"/>
              <a:t>fls</a:t>
            </a:r>
            <a:r>
              <a:rPr lang="en-US" sz="3200" dirty="0"/>
              <a:t> -&gt; (\f. </a:t>
            </a:r>
            <a:r>
              <a:rPr lang="en-US" sz="3200" dirty="0" err="1"/>
              <a:t>tru</a:t>
            </a:r>
            <a:r>
              <a:rPr lang="en-US" sz="3200" dirty="0"/>
              <a:t>) </a:t>
            </a:r>
            <a:r>
              <a:rPr lang="en-US" sz="3200" dirty="0" err="1"/>
              <a:t>fls</a:t>
            </a:r>
            <a:endParaRPr lang="en-US" sz="3200" dirty="0"/>
          </a:p>
          <a:p>
            <a:r>
              <a:rPr lang="en-US" sz="3200" dirty="0"/>
              <a:t>-&gt;</a:t>
            </a:r>
            <a:r>
              <a:rPr lang="en-US" sz="3200" dirty="0" err="1"/>
              <a:t>tru</a:t>
            </a:r>
            <a:endParaRPr lang="en-US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5635FE-D943-A2A1-E3F4-E9A907AD6808}"/>
              </a:ext>
            </a:extLst>
          </p:cNvPr>
          <p:cNvSpPr txBox="1"/>
          <p:nvPr/>
        </p:nvSpPr>
        <p:spPr>
          <a:xfrm>
            <a:off x="474906" y="310794"/>
            <a:ext cx="98498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Step-by-step, evaluate </a:t>
            </a:r>
            <a:r>
              <a:rPr lang="en-US" sz="3200" b="1" dirty="0"/>
              <a:t>or </a:t>
            </a:r>
            <a:r>
              <a:rPr lang="en-US" sz="3200" b="1" dirty="0" err="1"/>
              <a:t>tru</a:t>
            </a:r>
            <a:r>
              <a:rPr lang="en-US" sz="3200" b="1" dirty="0"/>
              <a:t> </a:t>
            </a:r>
            <a:r>
              <a:rPr lang="en-US" sz="3200" b="1" dirty="0" err="1"/>
              <a:t>fls</a:t>
            </a:r>
            <a:r>
              <a:rPr lang="en-US" sz="3200" dirty="0"/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05C0D-8524-760C-F8D2-4CDE760500A0}"/>
              </a:ext>
            </a:extLst>
          </p:cNvPr>
          <p:cNvSpPr txBox="1"/>
          <p:nvPr/>
        </p:nvSpPr>
        <p:spPr>
          <a:xfrm>
            <a:off x="474906" y="1279253"/>
            <a:ext cx="103846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Tx/>
              <a:buNone/>
            </a:pPr>
            <a:r>
              <a:rPr lang="en-US" sz="3200" dirty="0" err="1">
                <a:solidFill>
                  <a:srgbClr val="FF0000"/>
                </a:solidFill>
              </a:rPr>
              <a:t>tru</a:t>
            </a:r>
            <a:r>
              <a:rPr lang="en-US" sz="3200" dirty="0">
                <a:solidFill>
                  <a:srgbClr val="FF0000"/>
                </a:solidFill>
              </a:rPr>
              <a:t> = \t.\f. t       </a:t>
            </a:r>
            <a:r>
              <a:rPr lang="en-US" sz="3200" dirty="0" err="1">
                <a:solidFill>
                  <a:srgbClr val="FF0000"/>
                </a:solidFill>
              </a:rPr>
              <a:t>fls</a:t>
            </a:r>
            <a:r>
              <a:rPr lang="en-US" sz="3200" dirty="0">
                <a:solidFill>
                  <a:srgbClr val="FF0000"/>
                </a:solidFill>
              </a:rPr>
              <a:t> = \t.\f. f          or = \b.\c. b </a:t>
            </a:r>
            <a:r>
              <a:rPr lang="en-US" sz="3200" dirty="0" err="1">
                <a:solidFill>
                  <a:srgbClr val="FF0000"/>
                </a:solidFill>
              </a:rPr>
              <a:t>tru</a:t>
            </a:r>
            <a:r>
              <a:rPr lang="en-US" sz="3200" dirty="0">
                <a:solidFill>
                  <a:srgbClr val="FF0000"/>
                </a:solidFill>
              </a:rPr>
              <a:t> c</a:t>
            </a:r>
          </a:p>
        </p:txBody>
      </p:sp>
    </p:spTree>
    <p:extLst>
      <p:ext uri="{BB962C8B-B14F-4D97-AF65-F5344CB8AC3E}">
        <p14:creationId xmlns:p14="http://schemas.microsoft.com/office/powerpoint/2010/main" val="2762116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2C2F8-97E6-7C18-E223-11FA6A6CC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5A43570-2C45-D85D-9BC4-00DEF16BC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123441" cy="5097227"/>
          </a:xfrm>
          <a:prstGeom prst="rect">
            <a:avLst/>
          </a:prstGeom>
        </p:spPr>
      </p:pic>
      <p:pic>
        <p:nvPicPr>
          <p:cNvPr id="2" name="图片 5">
            <a:extLst>
              <a:ext uri="{FF2B5EF4-FFF2-40B4-BE49-F238E27FC236}">
                <a16:creationId xmlns:a16="http://schemas.microsoft.com/office/drawing/2014/main" id="{9C4ED8CD-CBE3-9B55-A28B-5110205945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2061" y="467713"/>
            <a:ext cx="3307566" cy="2961287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C5B7709C-12D6-BDCE-93D5-E0BA6E39B884}"/>
              </a:ext>
            </a:extLst>
          </p:cNvPr>
          <p:cNvSpPr txBox="1"/>
          <p:nvPr/>
        </p:nvSpPr>
        <p:spPr>
          <a:xfrm>
            <a:off x="3554701" y="4149136"/>
            <a:ext cx="4511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altLang="zh-CN" sz="3200" dirty="0"/>
              <a:t>succ = \n.\f.\x. f (n f x)</a:t>
            </a:r>
            <a:endParaRPr lang="zh-CN" altLang="en-US" sz="32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BDFC948-1C2F-45AD-19DB-178CA7947D86}"/>
              </a:ext>
            </a:extLst>
          </p:cNvPr>
          <p:cNvSpPr txBox="1"/>
          <p:nvPr/>
        </p:nvSpPr>
        <p:spPr>
          <a:xfrm>
            <a:off x="3554701" y="5146267"/>
            <a:ext cx="4511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altLang="zh-CN" sz="3200" dirty="0"/>
              <a:t>succ = \n.\f.\x. n f (f x)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4212435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B2F28-C31C-4C11-ADFE-E829D583D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CAB798-9EAE-B5F1-97A3-9BDFE1E27C2B}"/>
              </a:ext>
            </a:extLst>
          </p:cNvPr>
          <p:cNvSpPr txBox="1"/>
          <p:nvPr/>
        </p:nvSpPr>
        <p:spPr>
          <a:xfrm>
            <a:off x="0" y="0"/>
            <a:ext cx="9541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HW 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ED8383-09D4-97DD-F7BF-CDF879FD3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1665"/>
            <a:ext cx="8152381" cy="1257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410B98-6343-4DAB-75EF-8F3722BD80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18808"/>
            <a:ext cx="7772400" cy="37810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9BB2295-11EB-350D-E12C-5AE213D7ED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8450" y="1960879"/>
            <a:ext cx="3960456" cy="392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0302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8480-2E33-8335-AC01-6D3015DE0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495CE8-63D2-C115-BBCE-7C88BD397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39646"/>
            <a:ext cx="7772400" cy="36861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ED0752-7358-4713-2F13-85CC8956A8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25843"/>
            <a:ext cx="7772400" cy="19321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E9EC17-C058-8B0C-C9DD-B608A3C13F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5033"/>
            <a:ext cx="8152381" cy="125714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5160558-B808-E7D3-3D75-AFC5260957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4434" y="1830557"/>
            <a:ext cx="3987566" cy="3949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0941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97358-BA80-066B-FE63-41A974535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08E194-8CD3-0BC1-9DC8-184124D91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57143"/>
            <a:ext cx="7772400" cy="298295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4F61277-460A-A886-3CDE-1FDB3C3F4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8152381" cy="1257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40DB6D-A2FA-66BA-30CF-1B10461196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383" y="2285999"/>
            <a:ext cx="4317617" cy="427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166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BE436-7D36-CE7B-7DB2-650B5AAE5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EEA8F2-A425-3C0A-049B-BE00B88E5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933333" cy="11047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466A3E-53E2-459E-3D3F-9EEDCB63DA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485900"/>
            <a:ext cx="7772400" cy="38862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BA097F8-46CE-94F3-A124-55BD25184A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383" y="1485900"/>
            <a:ext cx="4317617" cy="427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9096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0E37C-E397-9833-2845-58301E84B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246E0FA-B87D-E0E7-DCCC-3FA5EB7F2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23943"/>
            <a:ext cx="7772400" cy="28718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5B5A411-C3D7-7CE1-B04D-563FBB9DD3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7933333" cy="110476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46DFA35-11C1-EF66-97B4-01787AC3D0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383" y="1503679"/>
            <a:ext cx="4317617" cy="427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853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41921-D0DF-F823-DCBE-CE5E09804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1973DC-B635-59B9-02C3-DCFFFD212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71392"/>
            <a:ext cx="7772400" cy="451521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DFAB2B-BC3D-ED28-EEF2-C700422F83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7933333" cy="110476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37243F-B87D-C3E8-E4CC-66C319A5B6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383" y="1635759"/>
            <a:ext cx="4317617" cy="427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1797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67873-54B0-65D3-A263-B414992AE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34A37E-BAD0-5AE3-4D51-59E3327F9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504762" cy="9904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08053E-6498-E7E8-6D54-92C709F3D6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30778"/>
            <a:ext cx="7772400" cy="449917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9E56E75-B3AF-DF67-26DE-59BF229D12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383" y="1798319"/>
            <a:ext cx="4317617" cy="427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989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B0E0B-53F0-7CF0-C867-F24A14D0A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B7BC0CE-9004-FF44-DF55-16F2C9ED0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92055"/>
            <a:ext cx="7772400" cy="21273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6711D5C-6CF8-2277-2A1F-EFE12BB6C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00731"/>
            <a:ext cx="7772400" cy="30572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E8C8F6-9F40-2121-C645-F0147A59F3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7504762" cy="99047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373B84-A564-A988-4C64-D03BDB0F09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383" y="1592055"/>
            <a:ext cx="4317617" cy="427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16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55A43-8602-2864-3DF7-6E329948A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C4D3A9-7B18-D927-A10D-2382606F2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39320"/>
            <a:ext cx="7772400" cy="26985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208A680-2AFB-ED01-D698-33F4B26BCC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02777"/>
            <a:ext cx="7772400" cy="25552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73A97D5-9CDD-6ACE-E527-0CEC089E97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7504762" cy="9904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EC5CA79-F156-45BE-BB27-5B3CE2DE6019}"/>
              </a:ext>
            </a:extLst>
          </p:cNvPr>
          <p:cNvSpPr txBox="1"/>
          <p:nvPr/>
        </p:nvSpPr>
        <p:spPr>
          <a:xfrm>
            <a:off x="5770880" y="3353903"/>
            <a:ext cx="4363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(4)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F0C1F7-BE5F-F352-9583-E40C6D4D2B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383" y="1554406"/>
            <a:ext cx="4317617" cy="427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045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1854878"/>
      </p:ext>
    </p:extLst>
  </p:cSld>
  <p:clrMapOvr>
    <a:masterClrMapping/>
  </p:clrMapOvr>
</p:sld>
</file>

<file path=ppt/theme/theme1.xml><?xml version="1.0" encoding="utf-8"?>
<a:theme xmlns:a="http://schemas.openxmlformats.org/drawingml/2006/main" name="UTA Accessible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ccessible-PPT.pptx" id="{DC14534C-1046-F040-970C-D4B656BEDF73}" vid="{22719C90-FD2E-C343-B61D-D3EE9148FC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2317</TotalTime>
  <Words>785</Words>
  <Application>Microsoft Office PowerPoint</Application>
  <PresentationFormat>Widescreen</PresentationFormat>
  <Paragraphs>76</Paragraphs>
  <Slides>23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Gill Sans</vt:lpstr>
      <vt:lpstr>黑体</vt:lpstr>
      <vt:lpstr>SimSun</vt:lpstr>
      <vt:lpstr>Aptos</vt:lpstr>
      <vt:lpstr>Arial</vt:lpstr>
      <vt:lpstr>Calibri</vt:lpstr>
      <vt:lpstr>Helvetica</vt:lpstr>
      <vt:lpstr>Wingdings</vt:lpstr>
      <vt:lpstr>UTA Accessible Template</vt:lpstr>
      <vt:lpstr>Tutorial 5</vt:lpstr>
      <vt:lpstr>1. Which one of the following statements is correct?</vt:lpstr>
      <vt:lpstr>2. What are the free variables in the following lambda expression?  x (λy · y z x) (λm · λn · l m n)</vt:lpstr>
      <vt:lpstr>3. Which one of the following is different from the other three after call by name evaluation?</vt:lpstr>
      <vt:lpstr>4. What’s the result of the following lambda expression, under full beta-reduction?   (λx · x)((λx · x)(λz · (λx · x)z))</vt:lpstr>
      <vt:lpstr>5. What is the first step of   (λy. (λx. x) y) ((λu. u) (λv. v))     under call-by-name evaluation?  </vt:lpstr>
      <vt:lpstr>6. What is the first step of   (λy. (λx. x) y) ((λu. u) (λv. v))     under call-by-value evaluation? </vt:lpstr>
      <vt:lpstr>7. Application associate to the _____?</vt:lpstr>
      <vt:lpstr>8. What’s equivalent to λy.y z  λx.x y z?</vt:lpstr>
      <vt:lpstr>PowerPoint Presentation</vt:lpstr>
      <vt:lpstr>Quiz 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Zhang, Weiran</dc:creator>
  <cp:lastModifiedBy>Zhang, Weiran</cp:lastModifiedBy>
  <cp:revision>46</cp:revision>
  <dcterms:created xsi:type="dcterms:W3CDTF">2026-01-19T23:51:43Z</dcterms:created>
  <dcterms:modified xsi:type="dcterms:W3CDTF">2026-02-19T02:01:50Z</dcterms:modified>
</cp:coreProperties>
</file>