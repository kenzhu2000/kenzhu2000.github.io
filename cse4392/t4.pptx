
<file path=[Content_Types].xml><?xml version="1.0" encoding="utf-8"?>
<Types xmlns="http://schemas.openxmlformats.org/package/2006/content-types">
  <Default Extension="jpeg" ContentType="image/jpeg"/>
  <Default Extension="mp3" ContentType="audio/m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21"/>
  </p:notesMasterIdLst>
  <p:handoutMasterIdLst>
    <p:handoutMasterId r:id="rId22"/>
  </p:handoutMasterIdLst>
  <p:sldIdLst>
    <p:sldId id="343" r:id="rId5"/>
    <p:sldId id="372" r:id="rId6"/>
    <p:sldId id="375" r:id="rId7"/>
    <p:sldId id="376" r:id="rId8"/>
    <p:sldId id="296" r:id="rId9"/>
    <p:sldId id="297" r:id="rId10"/>
    <p:sldId id="305" r:id="rId11"/>
    <p:sldId id="307" r:id="rId12"/>
    <p:sldId id="308" r:id="rId13"/>
    <p:sldId id="336" r:id="rId14"/>
    <p:sldId id="381" r:id="rId15"/>
    <p:sldId id="377" r:id="rId16"/>
    <p:sldId id="380" r:id="rId17"/>
    <p:sldId id="378" r:id="rId18"/>
    <p:sldId id="379" r:id="rId19"/>
    <p:sldId id="287" r:id="rId20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9B570E1-CFFA-F280-BAED-DB325FDF417B}" name="Bridges, Jessica L" initials="BL" userId="S::bridges@uta.edu::7543e851-fc57-4885-b57d-2df771cc28b0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C2184"/>
    <a:srgbClr val="00599B"/>
    <a:srgbClr val="80F571"/>
    <a:srgbClr val="13409F"/>
    <a:srgbClr val="CAB447"/>
    <a:srgbClr val="FFE15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240"/>
    <p:restoredTop sz="78087" autoAdjust="0"/>
  </p:normalViewPr>
  <p:slideViewPr>
    <p:cSldViewPr snapToGrid="0" snapToObjects="1">
      <p:cViewPr varScale="1">
        <p:scale>
          <a:sx n="164" d="100"/>
          <a:sy n="164" d="100"/>
        </p:scale>
        <p:origin x="4488" y="132"/>
      </p:cViewPr>
      <p:guideLst/>
    </p:cSldViewPr>
  </p:slideViewPr>
  <p:outlineViewPr>
    <p:cViewPr>
      <p:scale>
        <a:sx n="33" d="100"/>
        <a:sy n="33" d="100"/>
      </p:scale>
      <p:origin x="0" y="-1870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 snapToObjects="1">
      <p:cViewPr varScale="1">
        <p:scale>
          <a:sx n="97" d="100"/>
          <a:sy n="97" d="100"/>
        </p:scale>
        <p:origin x="3120" y="20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tableStyles" Target="tableStyles.xml"/><Relationship Id="rId3" Type="http://schemas.openxmlformats.org/officeDocument/2006/relationships/customXml" Target="../customXml/item3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viewProps" Target="viewProp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handoutMaster" Target="handoutMasters/handoutMaster1.xml"/><Relationship Id="rId27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DF0ABC6-AE81-214D-B04B-F13CE22270E9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2823795-EAAB-8C4B-B865-8464BECAB52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01FE638-083F-2742-8710-EF25AB6A16C1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7BECA2D-985E-8D44-A4FB-51751C64F4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640B2F-FCD1-B940-AFB1-3C0582F356C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0670D12-813D-3D40-A841-271861A2D04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715712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15A097-495F-854B-A9AD-402D045A3296}" type="datetimeFigureOut">
              <a:rPr lang="en-US" smtClean="0"/>
              <a:t>2/11/2026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80C5E2-78CD-F746-9BAF-2B89BCAF7E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9629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680C5E2-78CD-F746-9BAF-2B89BCAF7EBF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77443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827256-8A04-AC9D-308C-886AB2B999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4E9E33-6F24-22CC-C6CC-263AEFEF1E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1E560D-F659-62B8-58B9-B944C7043F5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85302-0AD3-1526-6DD1-8C37607998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84913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D65BAF-7124-CCD5-40D0-ECFB3D03F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EB9E915-726B-1EE5-ECB6-A261A9C39F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B78A14-F274-FD81-F793-0B0BBDAA971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A63A38-06C9-396E-E669-4DAE089C72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075064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F5D90D-730C-586A-1FF4-E7A07E2958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21B722-0F98-3E9C-F46A-666A0C6EC8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5237C9E-D972-F045-2E97-A0181514200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18E4C8-DD33-4F90-0BA1-8571D7C783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3803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10036C-B239-7F49-800F-BE8CBE07A66D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741963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10036C-B239-7F49-800F-BE8CBE07A66D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9967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10036C-B239-7F49-800F-BE8CBE07A66D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4087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10036C-B239-7F49-800F-BE8CBE07A66D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489276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910036C-B239-7F49-800F-BE8CBE07A66D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709478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E5A386-54E6-27BF-F37B-93ABC366B3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10D5B54-DA0D-79D3-CC9A-C70B0178C0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938A66-7D7F-328A-2D99-66856D39832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EF504F-AB30-6CA1-0B50-D0982376FC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832251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9457EA-49E1-63C3-606A-602F878C8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D47634-72FA-4F99-C9B8-D31EDB4CB2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915F6D4-360A-9719-E13C-A374B1B130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3F5C16A-9E01-C32B-ED13-6D6F3653DC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725837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9E92FB-A2D8-1F0D-DE3A-42917F033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C776DF-853A-9FF6-6B15-A1FE3FD947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849DA9E-6413-55C2-F2E3-4B75FE42C6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1F2D66-9605-84E9-E7C8-30D51D473C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161827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EAFEF-67B2-28BB-BF8C-8B0990AF1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86CEB6-9D0D-8F8C-14AE-9327117DED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1A726D-B027-A974-4C89-38200156DCA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FC2BC8-3C5D-43BB-2183-A1FF69F6E1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03720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26BB64-B962-B3BD-7256-33DF47EBE7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2113E0-8DE9-0270-ADB4-607EC2330D0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0B924C8-40EF-BBD4-622F-18C9105509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C523C6A-6D6E-AF0F-8B9A-54EB4D59D67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25464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FB5BB-3D48-D167-E0F1-5299ED79FF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1C6BE04-5C3B-D76E-1B88-1D12906B129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1BF0BC5-B516-C98B-F90E-C331FC4DB1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800" b="1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21718E-90A5-AF7E-50B7-BBE9A0C017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864633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680C5E2-78CD-F746-9BAF-2B89BCAF7EBF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38522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TA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pic>
        <p:nvPicPr>
          <p:cNvPr id="5" name="Picture 4" descr="Text&#10;&#10;Description automatically generated">
            <a:extLst>
              <a:ext uri="{FF2B5EF4-FFF2-40B4-BE49-F238E27FC236}">
                <a16:creationId xmlns:a16="http://schemas.microsoft.com/office/drawing/2014/main" id="{031E7C7E-200A-F626-0A3D-92CC978B8DA3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978871" y="3562708"/>
            <a:ext cx="5226218" cy="14557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09573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</p:spTree>
    <p:extLst>
      <p:ext uri="{BB962C8B-B14F-4D97-AF65-F5344CB8AC3E}">
        <p14:creationId xmlns:p14="http://schemas.microsoft.com/office/powerpoint/2010/main" val="17502419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42520" y="3884341"/>
            <a:ext cx="4581525" cy="1058862"/>
          </a:xfr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37593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Alt Signature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33034725-7AAD-B746-AE51-C7D78423B9D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11585" y="1466849"/>
            <a:ext cx="8229600" cy="857251"/>
          </a:xfrm>
          <a:noFill/>
        </p:spPr>
        <p:txBody>
          <a:bodyPr>
            <a:normAutofit/>
          </a:bodyPr>
          <a:lstStyle>
            <a:lvl1pPr algn="l">
              <a:defRPr sz="4000" b="1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C330FAE0-5504-8A44-8C81-7D40C5EF2194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1585" y="2151475"/>
            <a:ext cx="8229599" cy="430888"/>
          </a:xfrm>
        </p:spPr>
        <p:txBody>
          <a:bodyPr/>
          <a:lstStyle>
            <a:lvl1pPr marL="0" indent="0">
              <a:buNone/>
              <a:defRPr sz="20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cxnSp>
        <p:nvCxnSpPr>
          <p:cNvPr id="9" name="Line">
            <a:extLst>
              <a:ext uri="{FF2B5EF4-FFF2-40B4-BE49-F238E27FC236}">
                <a16:creationId xmlns:a16="http://schemas.microsoft.com/office/drawing/2014/main" id="{F961A44D-63B2-3547-B671-D76FD4AAA4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/>
          <p:nvPr userDrawn="1"/>
        </p:nvCxnSpPr>
        <p:spPr>
          <a:xfrm>
            <a:off x="690413" y="2633032"/>
            <a:ext cx="4886964" cy="0"/>
          </a:xfrm>
          <a:prstGeom prst="line">
            <a:avLst/>
          </a:prstGeom>
          <a:ln>
            <a:solidFill>
              <a:schemeClr val="accent6">
                <a:lumMod val="75000"/>
              </a:schemeClr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H3">
            <a:extLst>
              <a:ext uri="{FF2B5EF4-FFF2-40B4-BE49-F238E27FC236}">
                <a16:creationId xmlns:a16="http://schemas.microsoft.com/office/drawing/2014/main" id="{F0663673-BC83-3044-9EF4-B601B50B6DDB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11585" y="2741663"/>
            <a:ext cx="4114800" cy="291886"/>
          </a:xfrm>
        </p:spPr>
        <p:txBody>
          <a:bodyPr>
            <a:normAutofit/>
          </a:bodyPr>
          <a:lstStyle>
            <a:lvl1pPr marL="0" indent="0">
              <a:buNone/>
              <a:defRPr sz="1800" b="1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My Name</a:t>
            </a:r>
          </a:p>
        </p:txBody>
      </p:sp>
      <p:sp>
        <p:nvSpPr>
          <p:cNvPr id="13" name="H4">
            <a:extLst>
              <a:ext uri="{FF2B5EF4-FFF2-40B4-BE49-F238E27FC236}">
                <a16:creationId xmlns:a16="http://schemas.microsoft.com/office/drawing/2014/main" id="{4EEBD0D7-6519-B842-ACAE-C6ABB040932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11585" y="3033762"/>
            <a:ext cx="2333625" cy="290997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pPr lvl="0"/>
            <a:r>
              <a:rPr lang="en-US" dirty="0"/>
              <a:t>My Title</a:t>
            </a:r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8516F1EA-8163-2F90-809C-BB51A31AB50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742520" y="3884341"/>
            <a:ext cx="4581525" cy="1058862"/>
          </a:xfrm>
        </p:spPr>
        <p:txBody>
          <a:bodyPr/>
          <a:lstStyle/>
          <a:p>
            <a:endParaRPr lang="en-US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3255C03-226B-5FC2-208E-578716830E57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181600" y="2741663"/>
            <a:ext cx="3659188" cy="89847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662378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457200" y="1785462"/>
            <a:ext cx="8229600" cy="857253"/>
          </a:xfrm>
        </p:spPr>
        <p:txBody>
          <a:bodyPr>
            <a:normAutofit/>
          </a:bodyPr>
          <a:lstStyle>
            <a:lvl1pPr>
              <a:defRPr sz="4400" b="1" i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H2 Subtitle">
            <a:extLst>
              <a:ext uri="{FF2B5EF4-FFF2-40B4-BE49-F238E27FC236}">
                <a16:creationId xmlns:a16="http://schemas.microsoft.com/office/drawing/2014/main" id="{DB257BD6-4D9A-CD45-BCE2-728C5AB620C6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2529642"/>
            <a:ext cx="8229600" cy="679450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bg1"/>
                </a:solidFill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</p:spTree>
    <p:extLst>
      <p:ext uri="{BB962C8B-B14F-4D97-AF65-F5344CB8AC3E}">
        <p14:creationId xmlns:p14="http://schemas.microsoft.com/office/powerpoint/2010/main" val="245287790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>
            <a:extLst>
              <a:ext uri="{FF2B5EF4-FFF2-40B4-BE49-F238E27FC236}">
                <a16:creationId xmlns:a16="http://schemas.microsoft.com/office/drawing/2014/main" id="{88B4A6B9-381D-5D40-84AC-41D60C0A03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238999"/>
            <a:ext cx="8229600" cy="857250"/>
          </a:xfrm>
        </p:spPr>
        <p:txBody>
          <a:bodyPr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H2 Subtitle">
            <a:extLst>
              <a:ext uri="{FF2B5EF4-FFF2-40B4-BE49-F238E27FC236}">
                <a16:creationId xmlns:a16="http://schemas.microsoft.com/office/drawing/2014/main" id="{5B196C90-74A6-5E42-A204-A1E0DBCB6799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837565"/>
            <a:ext cx="8229600" cy="338456"/>
          </a:xfr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rgbClr val="00599B"/>
                </a:solidFill>
              </a:defRPr>
            </a:lvl1pPr>
            <a:lvl2pPr marL="457200" indent="0">
              <a:buNone/>
              <a:defRPr sz="2400">
                <a:solidFill>
                  <a:srgbClr val="00599B"/>
                </a:solidFill>
              </a:defRPr>
            </a:lvl2pPr>
            <a:lvl3pPr marL="914400" indent="0">
              <a:buNone/>
              <a:defRPr sz="2400">
                <a:solidFill>
                  <a:srgbClr val="00599B"/>
                </a:solidFill>
              </a:defRPr>
            </a:lvl3pPr>
            <a:lvl4pPr marL="1371600" indent="0">
              <a:buNone/>
              <a:defRPr sz="2400">
                <a:solidFill>
                  <a:srgbClr val="00599B"/>
                </a:solidFill>
              </a:defRPr>
            </a:lvl4pPr>
            <a:lvl5pPr marL="1828800" indent="0">
              <a:buNone/>
              <a:defRPr sz="24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6" name="Body Content">
            <a:extLst>
              <a:ext uri="{FF2B5EF4-FFF2-40B4-BE49-F238E27FC236}">
                <a16:creationId xmlns:a16="http://schemas.microsoft.com/office/drawing/2014/main" id="{4F275BD8-ECF8-F54B-B4E2-A66F7AB27D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200" y="1310641"/>
            <a:ext cx="8229600" cy="3098800"/>
          </a:xfrm>
        </p:spPr>
        <p:txBody>
          <a:bodyPr>
            <a:normAutofit/>
          </a:bodyPr>
          <a:lstStyle>
            <a:lvl1pPr marL="342900" indent="-342900">
              <a:buFont typeface="Wingdings" pitchFamily="2" charset="2"/>
              <a:buChar char="§"/>
              <a:defRPr sz="1600"/>
            </a:lvl1pPr>
            <a:lvl2pPr marL="742950" indent="-285750">
              <a:buFont typeface="Wingdings" pitchFamily="2" charset="2"/>
              <a:buChar char="§"/>
              <a:defRPr sz="1600"/>
            </a:lvl2pPr>
            <a:lvl3pPr marL="1143000" indent="-228600">
              <a:buFont typeface="Wingdings" pitchFamily="2" charset="2"/>
              <a:buChar char="§"/>
              <a:defRPr sz="1600"/>
            </a:lvl3pPr>
            <a:lvl4pPr marL="1600200" indent="-228600">
              <a:buFont typeface="Wingdings" pitchFamily="2" charset="2"/>
              <a:buChar char="§"/>
              <a:defRPr sz="1600"/>
            </a:lvl4pPr>
            <a:lvl5pPr marL="2057400" indent="-228600">
              <a:buFont typeface="Wingdings" pitchFamily="2" charset="2"/>
              <a:buChar char="§"/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426696025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H2 Subtitle">
            <a:extLst>
              <a:ext uri="{FF2B5EF4-FFF2-40B4-BE49-F238E27FC236}">
                <a16:creationId xmlns:a16="http://schemas.microsoft.com/office/drawing/2014/main" id="{7E449A25-5BA8-A049-892B-A920427B81B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457200" y="799465"/>
            <a:ext cx="8229600" cy="338456"/>
          </a:xfrm>
        </p:spPr>
        <p:txBody>
          <a:bodyPr>
            <a:noAutofit/>
          </a:bodyPr>
          <a:lstStyle>
            <a:lvl1pPr marL="0" indent="0" algn="ctr">
              <a:buNone/>
              <a:defRPr sz="2000">
                <a:solidFill>
                  <a:srgbClr val="00599B"/>
                </a:solidFill>
              </a:defRPr>
            </a:lvl1pPr>
            <a:lvl2pPr marL="457200" indent="0">
              <a:buNone/>
              <a:defRPr sz="2400">
                <a:solidFill>
                  <a:srgbClr val="00599B"/>
                </a:solidFill>
              </a:defRPr>
            </a:lvl2pPr>
            <a:lvl3pPr marL="914400" indent="0">
              <a:buNone/>
              <a:defRPr sz="2400">
                <a:solidFill>
                  <a:srgbClr val="00599B"/>
                </a:solidFill>
              </a:defRPr>
            </a:lvl3pPr>
            <a:lvl4pPr marL="1371600" indent="0">
              <a:buNone/>
              <a:defRPr sz="2400">
                <a:solidFill>
                  <a:srgbClr val="00599B"/>
                </a:solidFill>
              </a:defRPr>
            </a:lvl4pPr>
            <a:lvl5pPr marL="1828800" indent="0">
              <a:buNone/>
              <a:defRPr sz="2400">
                <a:solidFill>
                  <a:srgbClr val="00599B"/>
                </a:solidFill>
              </a:defRPr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Body Content 1"/>
          <p:cNvSpPr>
            <a:spLocks noGrp="1"/>
          </p:cNvSpPr>
          <p:nvPr>
            <p:ph sz="half" idx="1"/>
          </p:nvPr>
        </p:nvSpPr>
        <p:spPr>
          <a:xfrm>
            <a:off x="457200" y="1310641"/>
            <a:ext cx="4038600" cy="3098800"/>
          </a:xfrm>
        </p:spPr>
        <p:txBody>
          <a:bodyPr>
            <a:normAutofit/>
          </a:bodyPr>
          <a:lstStyle>
            <a:lvl1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4648200" y="1310641"/>
            <a:ext cx="4038600" cy="3098800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1146778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H1 Title">
            <a:extLst>
              <a:ext uri="{FF2B5EF4-FFF2-40B4-BE49-F238E27FC236}">
                <a16:creationId xmlns:a16="http://schemas.microsoft.com/office/drawing/2014/main" id="{32D9C8E5-1CF3-6F45-9C03-04506B4E54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124699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Body Content 2"/>
          <p:cNvSpPr>
            <a:spLocks noGrp="1"/>
          </p:cNvSpPr>
          <p:nvPr>
            <p:ph sz="half" idx="2"/>
          </p:nvPr>
        </p:nvSpPr>
        <p:spPr>
          <a:xfrm>
            <a:off x="47501" y="1111158"/>
            <a:ext cx="2721430" cy="1668483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" name="Body Content 2">
            <a:extLst>
              <a:ext uri="{FF2B5EF4-FFF2-40B4-BE49-F238E27FC236}">
                <a16:creationId xmlns:a16="http://schemas.microsoft.com/office/drawing/2014/main" id="{AF760239-E1E4-98A8-BC2A-AD64F71B7E0D}"/>
              </a:ext>
            </a:extLst>
          </p:cNvPr>
          <p:cNvSpPr>
            <a:spLocks noGrp="1"/>
          </p:cNvSpPr>
          <p:nvPr>
            <p:ph sz="half" idx="10"/>
          </p:nvPr>
        </p:nvSpPr>
        <p:spPr>
          <a:xfrm>
            <a:off x="47499" y="2856015"/>
            <a:ext cx="2721431" cy="1668483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Body Content 2">
            <a:extLst>
              <a:ext uri="{FF2B5EF4-FFF2-40B4-BE49-F238E27FC236}">
                <a16:creationId xmlns:a16="http://schemas.microsoft.com/office/drawing/2014/main" id="{52458702-0A0A-743A-4663-E0EA4FBC4EB5}"/>
              </a:ext>
            </a:extLst>
          </p:cNvPr>
          <p:cNvSpPr>
            <a:spLocks noGrp="1"/>
          </p:cNvSpPr>
          <p:nvPr>
            <p:ph sz="half" idx="11"/>
          </p:nvPr>
        </p:nvSpPr>
        <p:spPr>
          <a:xfrm>
            <a:off x="2919350" y="1111158"/>
            <a:ext cx="2644240" cy="1744857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Body Content 2">
            <a:extLst>
              <a:ext uri="{FF2B5EF4-FFF2-40B4-BE49-F238E27FC236}">
                <a16:creationId xmlns:a16="http://schemas.microsoft.com/office/drawing/2014/main" id="{E7DCE5C4-5A12-8BD9-2E79-6B094F4C1FDC}"/>
              </a:ext>
            </a:extLst>
          </p:cNvPr>
          <p:cNvSpPr>
            <a:spLocks noGrp="1"/>
          </p:cNvSpPr>
          <p:nvPr>
            <p:ph sz="half" idx="12"/>
          </p:nvPr>
        </p:nvSpPr>
        <p:spPr>
          <a:xfrm>
            <a:off x="2909453" y="2985224"/>
            <a:ext cx="2721431" cy="1971304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9" name="Body Content 2">
            <a:extLst>
              <a:ext uri="{FF2B5EF4-FFF2-40B4-BE49-F238E27FC236}">
                <a16:creationId xmlns:a16="http://schemas.microsoft.com/office/drawing/2014/main" id="{3180402C-B205-3B02-80EC-1389CEFE02F8}"/>
              </a:ext>
            </a:extLst>
          </p:cNvPr>
          <p:cNvSpPr>
            <a:spLocks noGrp="1"/>
          </p:cNvSpPr>
          <p:nvPr>
            <p:ph sz="half" idx="13"/>
          </p:nvPr>
        </p:nvSpPr>
        <p:spPr>
          <a:xfrm>
            <a:off x="6008916" y="1117911"/>
            <a:ext cx="2933203" cy="1661730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Body Content 2">
            <a:extLst>
              <a:ext uri="{FF2B5EF4-FFF2-40B4-BE49-F238E27FC236}">
                <a16:creationId xmlns:a16="http://schemas.microsoft.com/office/drawing/2014/main" id="{1D0698A4-F993-1339-EDDC-E122275B26EE}"/>
              </a:ext>
            </a:extLst>
          </p:cNvPr>
          <p:cNvSpPr>
            <a:spLocks noGrp="1"/>
          </p:cNvSpPr>
          <p:nvPr>
            <p:ph sz="half" idx="14"/>
          </p:nvPr>
        </p:nvSpPr>
        <p:spPr>
          <a:xfrm>
            <a:off x="5975267" y="2985224"/>
            <a:ext cx="2952999" cy="1959926"/>
          </a:xfrm>
        </p:spPr>
        <p:txBody>
          <a:bodyPr>
            <a:normAutofit/>
          </a:bodyPr>
          <a:lstStyle>
            <a:lvl1pPr marL="2857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742950" indent="-28575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2pPr>
            <a:lvl3pPr marL="1143000" indent="-228600">
              <a:buFont typeface="Wingdings" pitchFamily="2" charset="2"/>
              <a:buChar char="§"/>
              <a:defRPr sz="1600">
                <a:latin typeface="Arial" panose="020B0604020202020204" pitchFamily="34" charset="0"/>
                <a:cs typeface="Arial" panose="020B0604020202020204" pitchFamily="34" charset="0"/>
              </a:defRPr>
            </a:lvl3pPr>
            <a:lvl4pPr>
              <a:defRPr sz="16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33806215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Tab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/>
          <a:lstStyle>
            <a:lvl1pPr>
              <a:defRPr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Wide Table">
            <a:extLst>
              <a:ext uri="{FF2B5EF4-FFF2-40B4-BE49-F238E27FC236}">
                <a16:creationId xmlns:a16="http://schemas.microsoft.com/office/drawing/2014/main" id="{A31F2DD0-A818-C246-A801-671F4BC29942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228600" y="285750"/>
            <a:ext cx="8686800" cy="4572000"/>
          </a:xfrm>
        </p:spPr>
        <p:txBody>
          <a:bodyPr/>
          <a:lstStyle/>
          <a:p>
            <a:r>
              <a:rPr lang="en-US"/>
              <a:t>Click icon to add table</a:t>
            </a:r>
          </a:p>
        </p:txBody>
      </p:sp>
    </p:spTree>
    <p:extLst>
      <p:ext uri="{BB962C8B-B14F-4D97-AF65-F5344CB8AC3E}">
        <p14:creationId xmlns:p14="http://schemas.microsoft.com/office/powerpoint/2010/main" val="31814646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ide Char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Wide Chart">
            <a:extLst>
              <a:ext uri="{FF2B5EF4-FFF2-40B4-BE49-F238E27FC236}">
                <a16:creationId xmlns:a16="http://schemas.microsoft.com/office/drawing/2014/main" id="{21B7D27F-640B-514B-9B11-9D1645F3F49A}"/>
              </a:ext>
            </a:extLst>
          </p:cNvPr>
          <p:cNvSpPr>
            <a:spLocks noGrp="1" noChangeAspect="1"/>
          </p:cNvSpPr>
          <p:nvPr>
            <p:ph type="chart" sz="quarter" idx="11"/>
          </p:nvPr>
        </p:nvSpPr>
        <p:spPr>
          <a:xfrm>
            <a:off x="228600" y="285750"/>
            <a:ext cx="8686800" cy="4572000"/>
          </a:xfrm>
        </p:spPr>
        <p:txBody>
          <a:bodyPr/>
          <a:lstStyle/>
          <a:p>
            <a:r>
              <a:rPr lang="en-US"/>
              <a:t>Click icon to add chart</a:t>
            </a:r>
          </a:p>
        </p:txBody>
      </p:sp>
    </p:spTree>
    <p:extLst>
      <p:ext uri="{BB962C8B-B14F-4D97-AF65-F5344CB8AC3E}">
        <p14:creationId xmlns:p14="http://schemas.microsoft.com/office/powerpoint/2010/main" val="9332534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Full Bleed Photo">
            <a:extLst>
              <a:ext uri="{FF2B5EF4-FFF2-40B4-BE49-F238E27FC236}">
                <a16:creationId xmlns:a16="http://schemas.microsoft.com/office/drawing/2014/main" id="{3D0D2707-18C2-FA48-9C1E-B114D1A3869D}"/>
              </a:ext>
            </a:extLst>
          </p:cNvPr>
          <p:cNvSpPr>
            <a:spLocks noGrp="1" noChangeAspect="1"/>
          </p:cNvSpPr>
          <p:nvPr>
            <p:ph type="pic" sz="quarter" idx="10"/>
          </p:nvPr>
        </p:nvSpPr>
        <p:spPr>
          <a:xfrm>
            <a:off x="-45720" y="-34290"/>
            <a:ext cx="9235440" cy="5212080"/>
          </a:xfrm>
        </p:spPr>
        <p:txBody>
          <a:bodyPr/>
          <a:lstStyle/>
          <a:p>
            <a:r>
              <a:rPr lang="en-US"/>
              <a:t>Click icon to add picture</a:t>
            </a:r>
          </a:p>
        </p:txBody>
      </p:sp>
    </p:spTree>
    <p:extLst>
      <p:ext uri="{BB962C8B-B14F-4D97-AF65-F5344CB8AC3E}">
        <p14:creationId xmlns:p14="http://schemas.microsoft.com/office/powerpoint/2010/main" val="378095352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ull Bleed Vide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visible H1 Title">
            <a:extLst>
              <a:ext uri="{FF2B5EF4-FFF2-40B4-BE49-F238E27FC236}">
                <a16:creationId xmlns:a16="http://schemas.microsoft.com/office/drawing/2014/main" id="{D197014B-C43D-B34F-A577-29627A8119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7200" y="-963602"/>
            <a:ext cx="8229600" cy="857250"/>
          </a:xfrm>
        </p:spPr>
        <p:txBody>
          <a:bodyPr>
            <a:normAutofit/>
          </a:bodyPr>
          <a:lstStyle>
            <a:lvl1pPr>
              <a:defRPr sz="3200">
                <a:solidFill>
                  <a:srgbClr val="FF0000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ull Bleed Video">
            <a:extLst>
              <a:ext uri="{FF2B5EF4-FFF2-40B4-BE49-F238E27FC236}">
                <a16:creationId xmlns:a16="http://schemas.microsoft.com/office/drawing/2014/main" id="{E64AE5ED-FB71-2940-A0AA-8B776317FAB2}"/>
              </a:ext>
            </a:extLst>
          </p:cNvPr>
          <p:cNvSpPr>
            <a:spLocks noGrp="1"/>
          </p:cNvSpPr>
          <p:nvPr>
            <p:ph type="media" sz="quarter" idx="10"/>
          </p:nvPr>
        </p:nvSpPr>
        <p:spPr>
          <a:xfrm>
            <a:off x="-45720" y="-34290"/>
            <a:ext cx="9235440" cy="5212080"/>
          </a:xfrm>
        </p:spPr>
        <p:txBody>
          <a:bodyPr/>
          <a:lstStyle/>
          <a:p>
            <a:r>
              <a:rPr lang="en-US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32385978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16BD0C-F047-BB8D-334E-26DB6BB149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77D15C-E712-D640-924E-1CE94175A6F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CCAC72-B759-F098-9066-040D04CB43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499CD0-1312-E046-A25A-EF67E8F26F22}" type="datetime1">
              <a:rPr lang="en-US" smtClean="0"/>
              <a:t>2/11/2026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9D4A3A-2D59-9F87-DE64-5E4BC79A0A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© Brought you by Essam Abdelghany Under Supervision of Dr. Kenny Zhu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76B2F00-2684-2A1E-63A1-0A47D2CF2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7A70E1-0AAC-7046-B7E8-37E752E913E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4712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1.pn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5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1 Title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Body Content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484154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3" r:id="rId2"/>
    <p:sldLayoutId id="2147483665" r:id="rId3"/>
    <p:sldLayoutId id="2147483666" r:id="rId4"/>
    <p:sldLayoutId id="2147483654" r:id="rId5"/>
    <p:sldLayoutId id="2147483650" r:id="rId6"/>
    <p:sldLayoutId id="2147483652" r:id="rId7"/>
    <p:sldLayoutId id="2147483664" r:id="rId8"/>
    <p:sldLayoutId id="2147483659" r:id="rId9"/>
    <p:sldLayoutId id="2147483662" r:id="rId10"/>
    <p:sldLayoutId id="2147483660" r:id="rId11"/>
    <p:sldLayoutId id="2147483661" r:id="rId12"/>
    <p:sldLayoutId id="2147483667" r:id="rId13"/>
  </p:sldLayoutIdLst>
  <p:txStyles>
    <p:titleStyle>
      <a:lvl1pPr algn="ctr" defTabSz="457200" rtl="0" eaLnBrk="1" latinLnBrk="0" hangingPunct="1">
        <a:spcBef>
          <a:spcPct val="0"/>
        </a:spcBef>
        <a:buNone/>
        <a:defRPr sz="3500" b="1" i="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742950" indent="-28575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457200" rtl="0" eaLnBrk="1" latinLnBrk="0" hangingPunct="1">
        <a:spcBef>
          <a:spcPct val="20000"/>
        </a:spcBef>
        <a:buFont typeface="Wingdings" pitchFamily="2" charset="2"/>
        <a:buChar char="§"/>
        <a:defRPr sz="1800" b="0" i="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Helvetica" pitchFamily="2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3.xml"/><Relationship Id="rId2" Type="http://schemas.openxmlformats.org/officeDocument/2006/relationships/audio" Target="../media/media1.mp3"/><Relationship Id="rId1" Type="http://schemas.microsoft.com/office/2007/relationships/media" Target="../media/media1.mp3"/><Relationship Id="rId5" Type="http://schemas.openxmlformats.org/officeDocument/2006/relationships/image" Target="../media/image8.png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2333063-774E-D64F-A41A-85AA488BD5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577" y="422304"/>
            <a:ext cx="8229600" cy="1758197"/>
          </a:xfrm>
        </p:spPr>
        <p:txBody>
          <a:bodyPr>
            <a:noAutofit/>
          </a:bodyPr>
          <a:lstStyle/>
          <a:p>
            <a:r>
              <a:rPr lang="en-US" sz="3600" dirty="0"/>
              <a:t>Tutorial 4</a:t>
            </a:r>
            <a:endParaRPr lang="en-US" altLang="zh-CN" sz="4000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846EDE5-6FC5-824E-9F44-F022997BFE4C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457200" y="3679700"/>
            <a:ext cx="8229600" cy="933225"/>
          </a:xfrm>
        </p:spPr>
        <p:txBody>
          <a:bodyPr>
            <a:normAutofit/>
          </a:bodyPr>
          <a:lstStyle/>
          <a:p>
            <a:pPr fontAlgn="base"/>
            <a:r>
              <a:rPr lang="en-US" altLang="zh-CN" dirty="0"/>
              <a:t>Presenter: Peter​ Zhang</a:t>
            </a:r>
          </a:p>
          <a:p>
            <a:pPr fontAlgn="base"/>
            <a:r>
              <a:rPr lang="en-US" altLang="zh-CN" dirty="0"/>
              <a:t>2/11/2026</a:t>
            </a:r>
          </a:p>
          <a:p>
            <a:endParaRPr lang="en-US" dirty="0"/>
          </a:p>
        </p:txBody>
      </p:sp>
      <p:sp>
        <p:nvSpPr>
          <p:cNvPr id="4" name="Content Placeholder 1">
            <a:extLst>
              <a:ext uri="{FF2B5EF4-FFF2-40B4-BE49-F238E27FC236}">
                <a16:creationId xmlns:a16="http://schemas.microsoft.com/office/drawing/2014/main" id="{7C796814-B4C7-06C2-94D6-3F9ED29CF958}"/>
              </a:ext>
            </a:extLst>
          </p:cNvPr>
          <p:cNvSpPr txBox="1">
            <a:spLocks/>
          </p:cNvSpPr>
          <p:nvPr/>
        </p:nvSpPr>
        <p:spPr>
          <a:xfrm>
            <a:off x="361577" y="2463488"/>
            <a:ext cx="8229600" cy="93322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2400" b="0" i="0" kern="1200">
                <a:solidFill>
                  <a:schemeClr val="bg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buFont typeface="Wingdings" pitchFamily="2" charset="2"/>
              <a:buNone/>
              <a:defRPr sz="1800" b="0" i="0" kern="120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buFont typeface="Arial"/>
              <a:buNone/>
              <a:defRPr sz="2000" kern="1200">
                <a:solidFill>
                  <a:schemeClr val="tx1"/>
                </a:solidFill>
                <a:latin typeface="Helvetica" pitchFamily="2" charset="0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ct val="20000"/>
              </a:spcBef>
              <a:buFont typeface="Arial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defTabSz="457189" fontAlgn="base"/>
            <a:r>
              <a:rPr lang="fr-FR" altLang="zh-CN" sz="2800" b="1" i="1" dirty="0">
                <a:solidFill>
                  <a:prstClr val="white"/>
                </a:solidFill>
                <a:ea typeface="黑体" panose="02010609060101010101" pitchFamily="49" charset="-122"/>
              </a:rPr>
              <a:t>Quiz 5-6 &amp; HW 3</a:t>
            </a:r>
            <a:endParaRPr lang="en-US" altLang="zh-CN" sz="2800" b="1" i="1" dirty="0">
              <a:solidFill>
                <a:prstClr val="white"/>
              </a:solidFill>
              <a:ea typeface="黑体" panose="02010609060101010101" pitchFamily="49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2522090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255361-0282-E0C0-2C49-331372358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50A1C1-0690-0FCE-E29B-EE4FA85E65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6045" y="681432"/>
            <a:ext cx="6323533" cy="264020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079AF7A-3965-B7E2-AE96-E9B8F0B358E3}"/>
              </a:ext>
            </a:extLst>
          </p:cNvPr>
          <p:cNvSpPr txBox="1"/>
          <p:nvPr/>
        </p:nvSpPr>
        <p:spPr>
          <a:xfrm>
            <a:off x="75715" y="75921"/>
            <a:ext cx="10743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Quiz 5</a:t>
            </a:r>
          </a:p>
        </p:txBody>
      </p:sp>
    </p:spTree>
    <p:extLst>
      <p:ext uri="{BB962C8B-B14F-4D97-AF65-F5344CB8AC3E}">
        <p14:creationId xmlns:p14="http://schemas.microsoft.com/office/powerpoint/2010/main" val="37919646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79ADE1-B6A8-E003-F943-8EE914530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825C50A-0552-B495-4A17-AFD811D5F7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957" y="83298"/>
            <a:ext cx="6546405" cy="31700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56119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F6DA52-E9C8-8AE6-F20D-A1EFABDAD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D4FE34C-2A97-49D6-6AAA-22A4D075BE0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5081" t="4346" r="3609" b="6161"/>
          <a:stretch>
            <a:fillRect/>
          </a:stretch>
        </p:blipFill>
        <p:spPr>
          <a:xfrm>
            <a:off x="0" y="0"/>
            <a:ext cx="5880682" cy="261539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1489A3D8-8023-FB61-5DFC-6EE9D1986F84}"/>
              </a:ext>
            </a:extLst>
          </p:cNvPr>
          <p:cNvSpPr txBox="1"/>
          <p:nvPr/>
        </p:nvSpPr>
        <p:spPr>
          <a:xfrm>
            <a:off x="-67112" y="2615390"/>
            <a:ext cx="4222457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|V| =7, Priors: P(c)=3/4   P(j)=1/4</a:t>
            </a:r>
          </a:p>
          <a:p>
            <a:r>
              <a:rPr lang="en-US" sz="1600" b="1" dirty="0"/>
              <a:t>P(</a:t>
            </a:r>
            <a:r>
              <a:rPr lang="en-US" sz="1600" b="1" dirty="0" err="1"/>
              <a:t>Chinese∣c</a:t>
            </a:r>
            <a:r>
              <a:rPr lang="en-US" sz="1600" b="1" dirty="0"/>
              <a:t>)=(5+1)/(8+7)=2/5</a:t>
            </a:r>
          </a:p>
          <a:p>
            <a:r>
              <a:rPr lang="en-US" sz="1600" b="1" dirty="0"/>
              <a:t>P(</a:t>
            </a:r>
            <a:r>
              <a:rPr lang="en-US" sz="1600" b="1" dirty="0" err="1"/>
              <a:t>Beijing∣c</a:t>
            </a:r>
            <a:r>
              <a:rPr lang="en-US" sz="1600" b="1" dirty="0"/>
              <a:t>)=(1+1)/(8+7)=2/15</a:t>
            </a:r>
          </a:p>
          <a:p>
            <a:r>
              <a:rPr lang="en-US" sz="1600" b="1" dirty="0"/>
              <a:t>P(</a:t>
            </a:r>
            <a:r>
              <a:rPr lang="en-US" sz="1600" b="1" dirty="0" err="1"/>
              <a:t>Shanghai∣c</a:t>
            </a:r>
            <a:r>
              <a:rPr lang="en-US" sz="1600" b="1" dirty="0"/>
              <a:t>)=(1+1)/(8+7)=2/15</a:t>
            </a:r>
          </a:p>
          <a:p>
            <a:r>
              <a:rPr lang="en-US" sz="1600" b="1" dirty="0"/>
              <a:t>P(</a:t>
            </a:r>
            <a:r>
              <a:rPr lang="en-US" sz="1600" b="1" dirty="0" err="1"/>
              <a:t>Macao∣c</a:t>
            </a:r>
            <a:r>
              <a:rPr lang="en-US" sz="1600" b="1" dirty="0"/>
              <a:t>)=(1+1)/(8+7)=2/15</a:t>
            </a:r>
          </a:p>
          <a:p>
            <a:r>
              <a:rPr lang="en-US" sz="1600" b="1" dirty="0"/>
              <a:t>P(</a:t>
            </a:r>
            <a:r>
              <a:rPr lang="en-US" sz="1600" b="1" dirty="0" err="1"/>
              <a:t>Tokyo∣c</a:t>
            </a:r>
            <a:r>
              <a:rPr lang="en-US" sz="1600" b="1" dirty="0"/>
              <a:t>)=(0+1)/(8+7)=1/15</a:t>
            </a:r>
          </a:p>
          <a:p>
            <a:r>
              <a:rPr lang="en-US" sz="1600" b="1" dirty="0"/>
              <a:t>P(</a:t>
            </a:r>
            <a:r>
              <a:rPr lang="en-US" sz="1600" b="1" dirty="0" err="1"/>
              <a:t>Japan∣c</a:t>
            </a:r>
            <a:r>
              <a:rPr lang="en-US" sz="1600" b="1" dirty="0"/>
              <a:t>)=(0+1)/(8+7)=1/15</a:t>
            </a:r>
          </a:p>
          <a:p>
            <a:r>
              <a:rPr lang="en-US" altLang="zh-CN" sz="1600" b="1" dirty="0"/>
              <a:t>P(</a:t>
            </a:r>
            <a:r>
              <a:rPr lang="en-US" altLang="zh-CN" sz="1600" b="1" dirty="0" err="1"/>
              <a:t>Visit|c</a:t>
            </a:r>
            <a:r>
              <a:rPr lang="en-US" altLang="zh-CN" sz="1600" b="1" dirty="0"/>
              <a:t>)=(0+1)/(8+7)=1/15</a:t>
            </a:r>
            <a:endParaRPr lang="en-US" sz="1600" b="1" dirty="0"/>
          </a:p>
        </p:txBody>
      </p:sp>
      <p:sp>
        <p:nvSpPr>
          <p:cNvPr id="5" name="object 18">
            <a:extLst>
              <a:ext uri="{FF2B5EF4-FFF2-40B4-BE49-F238E27FC236}">
                <a16:creationId xmlns:a16="http://schemas.microsoft.com/office/drawing/2014/main" id="{65E28644-A033-A177-511B-D78185829FC8}"/>
              </a:ext>
            </a:extLst>
          </p:cNvPr>
          <p:cNvSpPr txBox="1"/>
          <p:nvPr/>
        </p:nvSpPr>
        <p:spPr>
          <a:xfrm>
            <a:off x="6295776" y="1442974"/>
            <a:ext cx="2460575" cy="707902"/>
          </a:xfrm>
          <a:prstGeom prst="rect">
            <a:avLst/>
          </a:prstGeom>
        </p:spPr>
        <p:txBody>
          <a:bodyPr vert="horz" wrap="square" lIns="0" tIns="60722" rIns="0" bIns="0" rtlCol="0">
            <a:spAutoFit/>
          </a:bodyPr>
          <a:lstStyle/>
          <a:p>
            <a:pPr marL="26788">
              <a:spcBef>
                <a:spcPts val="478"/>
              </a:spcBef>
            </a:pPr>
            <a:r>
              <a:rPr sz="2900" i="1" spc="-1086" baseline="-33333" dirty="0">
                <a:latin typeface="Times New Roman"/>
                <a:cs typeface="Times New Roman"/>
              </a:rPr>
              <a:t>P</a:t>
            </a:r>
            <a:r>
              <a:rPr sz="2900" spc="211" baseline="-18181" dirty="0">
                <a:latin typeface="Times New Roman"/>
                <a:cs typeface="Times New Roman"/>
              </a:rPr>
              <a:t>ˆ</a:t>
            </a:r>
            <a:r>
              <a:rPr sz="2900" spc="73" baseline="-33333" dirty="0">
                <a:latin typeface="Times New Roman"/>
                <a:cs typeface="Times New Roman"/>
              </a:rPr>
              <a:t>(</a:t>
            </a:r>
            <a:r>
              <a:rPr sz="2900" i="1" spc="5" baseline="-33333" dirty="0">
                <a:latin typeface="Times New Roman"/>
                <a:cs typeface="Times New Roman"/>
              </a:rPr>
              <a:t>w</a:t>
            </a:r>
            <a:r>
              <a:rPr sz="2900" i="1" spc="-153" baseline="-33333" dirty="0">
                <a:latin typeface="Times New Roman"/>
                <a:cs typeface="Times New Roman"/>
              </a:rPr>
              <a:t> </a:t>
            </a:r>
            <a:r>
              <a:rPr sz="2900" baseline="-33333" dirty="0">
                <a:latin typeface="Times New Roman"/>
                <a:cs typeface="Times New Roman"/>
              </a:rPr>
              <a:t>|</a:t>
            </a:r>
            <a:r>
              <a:rPr sz="2900" spc="-226" baseline="-33333" dirty="0">
                <a:latin typeface="Times New Roman"/>
                <a:cs typeface="Times New Roman"/>
              </a:rPr>
              <a:t> </a:t>
            </a:r>
            <a:r>
              <a:rPr sz="2900" i="1" spc="53" baseline="-33333" dirty="0">
                <a:latin typeface="Times New Roman"/>
                <a:cs typeface="Times New Roman"/>
              </a:rPr>
              <a:t>c</a:t>
            </a:r>
            <a:r>
              <a:rPr sz="2900" spc="53" baseline="-33333" dirty="0">
                <a:latin typeface="Times New Roman"/>
                <a:cs typeface="Times New Roman"/>
              </a:rPr>
              <a:t>)</a:t>
            </a:r>
            <a:r>
              <a:rPr sz="2900" spc="-190" baseline="-33333" dirty="0">
                <a:latin typeface="Times New Roman"/>
                <a:cs typeface="Times New Roman"/>
              </a:rPr>
              <a:t> </a:t>
            </a:r>
            <a:r>
              <a:rPr sz="2900" baseline="-33333" dirty="0">
                <a:latin typeface="Symbol"/>
                <a:cs typeface="Symbol"/>
              </a:rPr>
              <a:t></a:t>
            </a:r>
            <a:r>
              <a:rPr sz="2900" spc="142" baseline="-33333" dirty="0">
                <a:latin typeface="Times New Roman"/>
                <a:cs typeface="Times New Roman"/>
              </a:rPr>
              <a:t> </a:t>
            </a:r>
            <a:r>
              <a:rPr sz="1934" i="1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count</a:t>
            </a:r>
            <a:r>
              <a:rPr sz="1934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(</a:t>
            </a:r>
            <a:r>
              <a:rPr sz="1934" i="1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w</a:t>
            </a:r>
            <a:r>
              <a:rPr sz="1934" u="sng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,</a:t>
            </a:r>
            <a:r>
              <a:rPr sz="1934" u="sng" spc="-225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934" i="1" u="sng" spc="35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c</a:t>
            </a:r>
            <a:r>
              <a:rPr sz="1934" u="sng" spc="35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)</a:t>
            </a:r>
            <a:r>
              <a:rPr sz="1934" u="sng" spc="-246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 </a:t>
            </a:r>
            <a:r>
              <a:rPr sz="1934" u="sng" spc="46" dirty="0">
                <a:uFill>
                  <a:solidFill>
                    <a:srgbClr val="000000"/>
                  </a:solidFill>
                </a:uFill>
                <a:latin typeface="Symbol"/>
                <a:cs typeface="Symbol"/>
              </a:rPr>
              <a:t></a:t>
            </a:r>
            <a:r>
              <a:rPr sz="1934" u="sng" spc="46" dirty="0">
                <a:uFill>
                  <a:solidFill>
                    <a:srgbClr val="000000"/>
                  </a:solidFill>
                </a:uFill>
                <a:latin typeface="Times New Roman"/>
                <a:cs typeface="Times New Roman"/>
              </a:rPr>
              <a:t>1</a:t>
            </a:r>
            <a:endParaRPr sz="1934" dirty="0">
              <a:latin typeface="Times New Roman"/>
              <a:cs typeface="Times New Roman"/>
            </a:endParaRPr>
          </a:p>
          <a:p>
            <a:pPr marL="1041165">
              <a:spcBef>
                <a:spcPts val="411"/>
              </a:spcBef>
            </a:pPr>
            <a:r>
              <a:rPr sz="1934" i="1" dirty="0">
                <a:latin typeface="Times New Roman"/>
                <a:cs typeface="Times New Roman"/>
              </a:rPr>
              <a:t>count</a:t>
            </a:r>
            <a:r>
              <a:rPr sz="1934" dirty="0">
                <a:latin typeface="Times New Roman"/>
                <a:cs typeface="Times New Roman"/>
              </a:rPr>
              <a:t>(</a:t>
            </a:r>
            <a:r>
              <a:rPr sz="1934" i="1" dirty="0">
                <a:latin typeface="Times New Roman"/>
                <a:cs typeface="Times New Roman"/>
              </a:rPr>
              <a:t>c</a:t>
            </a:r>
            <a:r>
              <a:rPr sz="1934" dirty="0">
                <a:latin typeface="Times New Roman"/>
                <a:cs typeface="Times New Roman"/>
              </a:rPr>
              <a:t>)</a:t>
            </a:r>
            <a:r>
              <a:rPr sz="1934" dirty="0">
                <a:latin typeface="Symbol"/>
                <a:cs typeface="Symbol"/>
              </a:rPr>
              <a:t></a:t>
            </a:r>
            <a:r>
              <a:rPr sz="1934" spc="-116" dirty="0">
                <a:latin typeface="Times New Roman"/>
                <a:cs typeface="Times New Roman"/>
              </a:rPr>
              <a:t> </a:t>
            </a:r>
            <a:r>
              <a:rPr sz="1934" dirty="0">
                <a:latin typeface="Times New Roman"/>
                <a:cs typeface="Times New Roman"/>
              </a:rPr>
              <a:t>|</a:t>
            </a:r>
            <a:r>
              <a:rPr sz="1934" spc="-232" dirty="0">
                <a:latin typeface="Times New Roman"/>
                <a:cs typeface="Times New Roman"/>
              </a:rPr>
              <a:t> </a:t>
            </a:r>
            <a:r>
              <a:rPr sz="1934" i="1" dirty="0">
                <a:latin typeface="Times New Roman"/>
                <a:cs typeface="Times New Roman"/>
              </a:rPr>
              <a:t>V</a:t>
            </a:r>
            <a:r>
              <a:rPr sz="1934" i="1" spc="176" dirty="0">
                <a:latin typeface="Times New Roman"/>
                <a:cs typeface="Times New Roman"/>
              </a:rPr>
              <a:t> </a:t>
            </a:r>
            <a:r>
              <a:rPr sz="1934" spc="-35" dirty="0">
                <a:latin typeface="Times New Roman"/>
                <a:cs typeface="Times New Roman"/>
              </a:rPr>
              <a:t>|</a:t>
            </a:r>
            <a:endParaRPr sz="1934" dirty="0">
              <a:latin typeface="Times New Roman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2D578C8-06B2-7EF7-E8B0-5F306243FAE0}"/>
              </a:ext>
            </a:extLst>
          </p:cNvPr>
          <p:cNvSpPr txBox="1"/>
          <p:nvPr/>
        </p:nvSpPr>
        <p:spPr>
          <a:xfrm>
            <a:off x="3579759" y="2992625"/>
            <a:ext cx="5765577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b="1" dirty="0"/>
              <a:t>P(c∣d6)=P(c)*P(</a:t>
            </a:r>
            <a:r>
              <a:rPr lang="en-US" sz="1600" b="1" dirty="0" err="1"/>
              <a:t>Macao∣c</a:t>
            </a:r>
            <a:r>
              <a:rPr lang="en-US" sz="1600" b="1" dirty="0"/>
              <a:t>)*P(</a:t>
            </a:r>
            <a:r>
              <a:rPr lang="en-US" sz="1600" b="1" dirty="0" err="1"/>
              <a:t>Chinese∣c</a:t>
            </a:r>
            <a:r>
              <a:rPr lang="en-US" sz="1600" b="1" dirty="0"/>
              <a:t>) *P(</a:t>
            </a:r>
            <a:r>
              <a:rPr lang="en-US" sz="1600" b="1" dirty="0" err="1"/>
              <a:t>Chinese∣c</a:t>
            </a:r>
            <a:r>
              <a:rPr lang="en-US" sz="1600" b="1" dirty="0"/>
              <a:t>)*P(</a:t>
            </a:r>
            <a:r>
              <a:rPr lang="en-US" sz="1600" b="1" dirty="0" err="1"/>
              <a:t>Tokyo∣c</a:t>
            </a:r>
            <a:r>
              <a:rPr lang="en-US" sz="1600" b="1" dirty="0"/>
              <a:t>)*P(</a:t>
            </a:r>
            <a:r>
              <a:rPr lang="en-US" sz="1600" b="1" dirty="0" err="1"/>
              <a:t>Visit|c</a:t>
            </a:r>
            <a:r>
              <a:rPr lang="en-US" sz="1600" b="1" dirty="0"/>
              <a:t>)= 3/4 * 2/15 * 2/5 * 2/5 * 1/15 * 1/15 </a:t>
            </a:r>
          </a:p>
          <a:p>
            <a:pPr>
              <a:buNone/>
            </a:pPr>
            <a:r>
              <a:rPr lang="en-US" sz="1600" b="1" dirty="0"/>
              <a:t> </a:t>
            </a:r>
            <a:endParaRPr lang="ar-AE" sz="1600" b="1" dirty="0"/>
          </a:p>
        </p:txBody>
      </p:sp>
    </p:spTree>
    <p:extLst>
      <p:ext uri="{BB962C8B-B14F-4D97-AF65-F5344CB8AC3E}">
        <p14:creationId xmlns:p14="http://schemas.microsoft.com/office/powerpoint/2010/main" val="8576050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9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BAC55-8A1F-944B-026F-DBD820A55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46173"/>
            <a:ext cx="8295431" cy="246862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b="1" dirty="0"/>
              <a:t>1) Differences between language modeling and text classification………..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a) For language modelling, training only requires sentences/documents</a:t>
            </a:r>
          </a:p>
          <a:p>
            <a:pPr marL="0" indent="0">
              <a:buNone/>
            </a:pPr>
            <a:r>
              <a:rPr lang="en-US" dirty="0"/>
              <a:t>b) For text classification, training must also include classes (labels)</a:t>
            </a:r>
          </a:p>
          <a:p>
            <a:pPr marL="0" indent="0">
              <a:buNone/>
            </a:pPr>
            <a:r>
              <a:rPr lang="en-US" dirty="0"/>
              <a:t>c) a and b </a:t>
            </a:r>
          </a:p>
          <a:p>
            <a:pPr marL="0" indent="0">
              <a:buNone/>
            </a:pPr>
            <a:r>
              <a:rPr lang="en-US" dirty="0"/>
              <a:t>d) None of the above</a:t>
            </a:r>
          </a:p>
          <a:p>
            <a:pPr marL="342900" lvl="1" indent="0">
              <a:lnSpc>
                <a:spcPct val="150000"/>
              </a:lnSpc>
              <a:buNone/>
            </a:pPr>
            <a:endParaRPr lang="en-US" sz="1275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CED9CF-C888-D5EA-D719-656311CF7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CBC4AC-C75C-19D0-A472-FF5E25BE28B2}"/>
              </a:ext>
            </a:extLst>
          </p:cNvPr>
          <p:cNvSpPr txBox="1"/>
          <p:nvPr/>
        </p:nvSpPr>
        <p:spPr>
          <a:xfrm>
            <a:off x="145605" y="122309"/>
            <a:ext cx="10743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Quiz 6</a:t>
            </a:r>
          </a:p>
        </p:txBody>
      </p:sp>
    </p:spTree>
    <p:extLst>
      <p:ext uri="{BB962C8B-B14F-4D97-AF65-F5344CB8AC3E}">
        <p14:creationId xmlns:p14="http://schemas.microsoft.com/office/powerpoint/2010/main" val="2983026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BAC55-8A1F-944B-026F-DBD820A55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46173"/>
            <a:ext cx="8295431" cy="246862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b="1" dirty="0"/>
              <a:t>2) In Bayes rule computation of P(</a:t>
            </a:r>
            <a:r>
              <a:rPr lang="en-US" b="1" dirty="0" err="1"/>
              <a:t>c|d</a:t>
            </a:r>
            <a:r>
              <a:rPr lang="en-US" b="1" dirty="0"/>
              <a:t>), we do not compute P(d) because…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a) It doesn’t affect the probability value</a:t>
            </a:r>
          </a:p>
          <a:p>
            <a:pPr marL="0" indent="0">
              <a:buNone/>
            </a:pPr>
            <a:r>
              <a:rPr lang="en-US" dirty="0"/>
              <a:t>b) It’s the same across different points</a:t>
            </a:r>
          </a:p>
          <a:p>
            <a:pPr marL="0" indent="0">
              <a:buNone/>
            </a:pPr>
            <a:r>
              <a:rPr lang="en-US" dirty="0"/>
              <a:t>c) It’s the same across different classes</a:t>
            </a:r>
          </a:p>
          <a:p>
            <a:pPr marL="0" indent="0">
              <a:buNone/>
            </a:pPr>
            <a:r>
              <a:rPr lang="en-US" dirty="0"/>
              <a:t>e) As an approximation</a:t>
            </a:r>
          </a:p>
          <a:p>
            <a:pPr marL="0" indent="0">
              <a:buNone/>
            </a:pPr>
            <a:endParaRPr lang="en-US" dirty="0"/>
          </a:p>
          <a:p>
            <a:pPr marL="342900" lvl="1" indent="0">
              <a:lnSpc>
                <a:spcPct val="150000"/>
              </a:lnSpc>
              <a:buNone/>
            </a:pPr>
            <a:endParaRPr lang="en-US" sz="1275" dirty="0">
              <a:latin typeface="Poppins" pitchFamily="2" charset="77"/>
              <a:cs typeface="Poppins" pitchFamily="2" charset="77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42ABBDB-B25E-1052-25C3-A4D02C3BF3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61190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BAC55-8A1F-944B-026F-DBD820A55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46173"/>
            <a:ext cx="8295431" cy="246862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b="1" dirty="0"/>
              <a:t>3) Among the assumptions of Naïve Bayes in text classification………..</a:t>
            </a:r>
          </a:p>
          <a:p>
            <a:pPr marL="0" indent="0">
              <a:buNone/>
            </a:pPr>
            <a:r>
              <a:rPr lang="en-US" dirty="0"/>
              <a:t>a) Word only depends on the word before it</a:t>
            </a:r>
          </a:p>
          <a:p>
            <a:pPr marL="0" indent="0">
              <a:buNone/>
            </a:pPr>
            <a:r>
              <a:rPr lang="en-US" dirty="0"/>
              <a:t>b) All words are conditionally independent given the class</a:t>
            </a:r>
          </a:p>
          <a:p>
            <a:pPr marL="0" indent="0">
              <a:buNone/>
            </a:pPr>
            <a:r>
              <a:rPr lang="en-US" dirty="0"/>
              <a:t>c) Word order does not matter</a:t>
            </a:r>
          </a:p>
          <a:p>
            <a:pPr marL="0" indent="0">
              <a:buNone/>
            </a:pPr>
            <a:r>
              <a:rPr lang="en-US" dirty="0"/>
              <a:t>d) All words/features are </a:t>
            </a:r>
            <a:r>
              <a:rPr lang="en-US" dirty="0" err="1"/>
              <a:t>independeny</a:t>
            </a:r>
            <a:endParaRPr lang="en-US" dirty="0"/>
          </a:p>
          <a:p>
            <a:pPr marL="342900" lvl="1" indent="0">
              <a:lnSpc>
                <a:spcPct val="150000"/>
              </a:lnSpc>
              <a:buNone/>
            </a:pPr>
            <a:endParaRPr lang="en-US" sz="1275" dirty="0">
              <a:latin typeface="Poppins" pitchFamily="2" charset="77"/>
              <a:cs typeface="Poppins" pitchFamily="2" charset="77"/>
            </a:endParaRPr>
          </a:p>
        </p:txBody>
      </p:sp>
      <p:pic>
        <p:nvPicPr>
          <p:cNvPr id="5" name="Who Wants to be a Millionaire Suspense - Sound Effect (HD)">
            <a:hlinkClick r:id="" action="ppaction://media"/>
            <a:extLst>
              <a:ext uri="{FF2B5EF4-FFF2-40B4-BE49-F238E27FC236}">
                <a16:creationId xmlns:a16="http://schemas.microsoft.com/office/drawing/2014/main" id="{B019B001-9414-694A-466E-C80115B5437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3202" y="857114"/>
            <a:ext cx="244424" cy="24442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CED9CF-C888-D5EA-D719-656311CF7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055C0FD6-D5AC-9AD3-FC4A-1F7D2E0A2C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898986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BAC55-8A1F-944B-026F-DBD820A55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46173"/>
            <a:ext cx="8295431" cy="246862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b="1" dirty="0"/>
              <a:t>4) Given a vocabulary of |V| tokens and |C| classes, a Naïve Bayes model………..</a:t>
            </a:r>
          </a:p>
          <a:p>
            <a:pPr marL="0" indent="0">
              <a:buNone/>
            </a:pPr>
            <a:r>
              <a:rPr lang="en-US" dirty="0"/>
              <a:t>a) Has |V|*|C| parameters</a:t>
            </a:r>
          </a:p>
          <a:p>
            <a:pPr marL="0" indent="0">
              <a:buNone/>
            </a:pPr>
            <a:r>
              <a:rPr lang="en-US" dirty="0"/>
              <a:t>b) Has |V|*(|C|+1) parameters</a:t>
            </a:r>
          </a:p>
          <a:p>
            <a:pPr marL="0" indent="0">
              <a:buNone/>
            </a:pPr>
            <a:r>
              <a:rPr lang="en-US" dirty="0"/>
              <a:t>c) Has |C|*(|V|+1) parameters</a:t>
            </a:r>
          </a:p>
          <a:p>
            <a:pPr marL="0" indent="0">
              <a:buNone/>
            </a:pPr>
            <a:r>
              <a:rPr lang="en-US" dirty="0"/>
              <a:t>d) Has 175B parameters like the original ChatGPT</a:t>
            </a:r>
          </a:p>
          <a:p>
            <a:pPr marL="342900" lvl="1" indent="0">
              <a:lnSpc>
                <a:spcPct val="150000"/>
              </a:lnSpc>
              <a:buNone/>
            </a:pPr>
            <a:endParaRPr lang="en-US" sz="1275" dirty="0">
              <a:latin typeface="Poppins" pitchFamily="2" charset="77"/>
              <a:cs typeface="Poppins" pitchFamily="2" charset="77"/>
            </a:endParaRPr>
          </a:p>
        </p:txBody>
      </p:sp>
      <p:pic>
        <p:nvPicPr>
          <p:cNvPr id="5" name="Who Wants to be a Millionaire Suspense - Sound Effect (HD)">
            <a:hlinkClick r:id="" action="ppaction://media"/>
            <a:extLst>
              <a:ext uri="{FF2B5EF4-FFF2-40B4-BE49-F238E27FC236}">
                <a16:creationId xmlns:a16="http://schemas.microsoft.com/office/drawing/2014/main" id="{B019B001-9414-694A-466E-C80115B5437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3202" y="857114"/>
            <a:ext cx="244424" cy="24442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CED9CF-C888-D5EA-D719-656311CF7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1D681C2F-1368-7339-A071-3009687D54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D78C715-8EB8-F6AF-28BB-08FF2BFB38E2}"/>
              </a:ext>
            </a:extLst>
          </p:cNvPr>
          <p:cNvSpPr txBox="1"/>
          <p:nvPr/>
        </p:nvSpPr>
        <p:spPr>
          <a:xfrm>
            <a:off x="6598823" y="2864722"/>
            <a:ext cx="12105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∣V∣∣C∣+∣C∣</a:t>
            </a:r>
          </a:p>
        </p:txBody>
      </p:sp>
    </p:spTree>
    <p:extLst>
      <p:ext uri="{BB962C8B-B14F-4D97-AF65-F5344CB8AC3E}">
        <p14:creationId xmlns:p14="http://schemas.microsoft.com/office/powerpoint/2010/main" val="15106114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11" dur="indefinite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12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  <p:bldLst>
      <p:bldP spid="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BAC55-8A1F-944B-026F-DBD820A55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50" y="1646173"/>
            <a:ext cx="8295431" cy="2468627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b="1" dirty="0"/>
              <a:t>5) A false negative means………..</a:t>
            </a:r>
          </a:p>
          <a:p>
            <a:pPr marL="0" indent="0">
              <a:buNone/>
            </a:pPr>
            <a:r>
              <a:rPr lang="en-US" dirty="0"/>
              <a:t>a) The model predicted it as positive but it was negative</a:t>
            </a:r>
          </a:p>
          <a:p>
            <a:pPr marL="0" indent="0">
              <a:buNone/>
            </a:pPr>
            <a:r>
              <a:rPr lang="en-US" dirty="0"/>
              <a:t>b) The model predicted it as negative but it was positive</a:t>
            </a:r>
          </a:p>
          <a:p>
            <a:pPr marL="0" indent="0">
              <a:buNone/>
            </a:pPr>
            <a:r>
              <a:rPr lang="en-US" dirty="0"/>
              <a:t>c) The real label is negative but it is wrong</a:t>
            </a:r>
          </a:p>
          <a:p>
            <a:pPr marL="0" indent="0">
              <a:buNone/>
            </a:pPr>
            <a:r>
              <a:rPr lang="en-US" dirty="0"/>
              <a:t>d) The model predicted it as false but it was wrong (negative)</a:t>
            </a:r>
          </a:p>
          <a:p>
            <a:pPr marL="342900" lvl="1" indent="0">
              <a:lnSpc>
                <a:spcPct val="150000"/>
              </a:lnSpc>
              <a:buNone/>
            </a:pPr>
            <a:endParaRPr lang="en-US" sz="1275" dirty="0">
              <a:latin typeface="Poppins" pitchFamily="2" charset="77"/>
              <a:cs typeface="Poppins" pitchFamily="2" charset="77"/>
            </a:endParaRPr>
          </a:p>
        </p:txBody>
      </p:sp>
      <p:pic>
        <p:nvPicPr>
          <p:cNvPr id="5" name="Who Wants to be a Millionaire Suspense - Sound Effect (HD)">
            <a:hlinkClick r:id="" action="ppaction://media"/>
            <a:extLst>
              <a:ext uri="{FF2B5EF4-FFF2-40B4-BE49-F238E27FC236}">
                <a16:creationId xmlns:a16="http://schemas.microsoft.com/office/drawing/2014/main" id="{B019B001-9414-694A-466E-C80115B5437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683202" y="857114"/>
            <a:ext cx="244424" cy="244424"/>
          </a:xfrm>
          <a:prstGeom prst="rect">
            <a:avLst/>
          </a:pr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CED9CF-C888-D5EA-D719-656311CF7E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58B6DFE-3DF1-25A5-3220-B005D8FCC1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61758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300">
        <p:fade/>
      </p:transition>
    </mc:Choice>
    <mc:Fallback xmlns="">
      <p:transition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3" presetClass="emph" presetSubtype="1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 override="childStyle">
                                        <p:cTn id="6" dur="indefinite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style.color</p:attrName>
                                        </p:attrNameLst>
                                      </p:cBhvr>
                                      <p:to>
                                        <p:clrVal>
                                          <a:schemeClr val="accent2"/>
                                        </p:clrVal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5"/>
                </p:tgtEl>
              </p:cMediaNode>
            </p:audio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81E09-725E-A3E7-1716-CE5DCAF477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56C84DA8-BF95-341F-F3FE-BFBB445ABC5B}"/>
              </a:ext>
            </a:extLst>
          </p:cNvPr>
          <p:cNvSpPr txBox="1"/>
          <p:nvPr/>
        </p:nvSpPr>
        <p:spPr>
          <a:xfrm>
            <a:off x="0" y="0"/>
            <a:ext cx="95410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HW 3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F16469-D505-5A82-F7C1-6FCF6177042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461665"/>
            <a:ext cx="6965748" cy="2699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5533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0B86B4-D7E5-3E87-BCFB-223B4AADC3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8D7A9F2-82E2-1CBF-EF2C-943322B441C6}"/>
              </a:ext>
            </a:extLst>
          </p:cNvPr>
          <p:cNvSpPr txBox="1"/>
          <p:nvPr/>
        </p:nvSpPr>
        <p:spPr>
          <a:xfrm>
            <a:off x="0" y="1387907"/>
            <a:ext cx="5943600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P(</a:t>
            </a:r>
            <a:r>
              <a:rPr lang="en-US" dirty="0" err="1"/>
              <a:t>so|P</a:t>
            </a:r>
            <a:r>
              <a:rPr lang="en-US" dirty="0"/>
              <a:t>)   = (1+1)/14 = 2/14</a:t>
            </a:r>
          </a:p>
          <a:p>
            <a:r>
              <a:rPr lang="en-US" dirty="0"/>
              <a:t>P(</a:t>
            </a:r>
            <a:r>
              <a:rPr lang="en-US" dirty="0" err="1"/>
              <a:t>good|P</a:t>
            </a:r>
            <a:r>
              <a:rPr lang="en-US" dirty="0"/>
              <a:t>) = (2+1)/14 = 3/14</a:t>
            </a:r>
          </a:p>
          <a:p>
            <a:r>
              <a:rPr lang="en-US" dirty="0"/>
              <a:t>P(</a:t>
            </a:r>
            <a:r>
              <a:rPr lang="en-US" dirty="0" err="1"/>
              <a:t>so|N</a:t>
            </a:r>
            <a:r>
              <a:rPr lang="en-US" dirty="0"/>
              <a:t>)   = (2+1)/13 = 3/13</a:t>
            </a:r>
          </a:p>
          <a:p>
            <a:r>
              <a:rPr lang="en-US" dirty="0"/>
              <a:t>P(</a:t>
            </a:r>
            <a:r>
              <a:rPr lang="en-US" dirty="0" err="1"/>
              <a:t>good|N</a:t>
            </a:r>
            <a:r>
              <a:rPr lang="en-US" dirty="0"/>
              <a:t>) = (1+1)/13 = 2/13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4F71C0A-0615-9B6D-312A-41C8A987BD8B}"/>
              </a:ext>
            </a:extLst>
          </p:cNvPr>
          <p:cNvSpPr txBox="1"/>
          <p:nvPr/>
        </p:nvSpPr>
        <p:spPr>
          <a:xfrm>
            <a:off x="4443369" y="464577"/>
            <a:ext cx="42644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P(</a:t>
            </a:r>
            <a:r>
              <a:rPr lang="en-US" dirty="0" err="1"/>
              <a:t>P|so</a:t>
            </a:r>
            <a:r>
              <a:rPr lang="en-US" dirty="0"/>
              <a:t> so good) = P(P) * P(</a:t>
            </a:r>
            <a:r>
              <a:rPr lang="en-US" dirty="0" err="1"/>
              <a:t>so|P</a:t>
            </a:r>
            <a:r>
              <a:rPr lang="en-US" dirty="0"/>
              <a:t>) * P(</a:t>
            </a:r>
            <a:r>
              <a:rPr lang="en-US" dirty="0" err="1"/>
              <a:t>so|P</a:t>
            </a:r>
            <a:r>
              <a:rPr lang="en-US" dirty="0"/>
              <a:t>) * P(</a:t>
            </a:r>
            <a:r>
              <a:rPr lang="en-US" dirty="0" err="1"/>
              <a:t>good|P</a:t>
            </a:r>
            <a:r>
              <a:rPr lang="en-US" dirty="0"/>
              <a:t>) = 3/5 * 1/7 * 1/7 * 3/14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6BE054B-06FB-9768-B3FE-4931070717BC}"/>
              </a:ext>
            </a:extLst>
          </p:cNvPr>
          <p:cNvSpPr txBox="1"/>
          <p:nvPr/>
        </p:nvSpPr>
        <p:spPr>
          <a:xfrm>
            <a:off x="4443369" y="2279988"/>
            <a:ext cx="4264403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P(</a:t>
            </a:r>
            <a:r>
              <a:rPr lang="en-US" dirty="0" err="1"/>
              <a:t>N|so</a:t>
            </a:r>
            <a:r>
              <a:rPr lang="en-US" dirty="0"/>
              <a:t> so good) = P(N) * P(</a:t>
            </a:r>
            <a:r>
              <a:rPr lang="en-US" dirty="0" err="1"/>
              <a:t>so|N</a:t>
            </a:r>
            <a:r>
              <a:rPr lang="en-US" dirty="0"/>
              <a:t>) * P(</a:t>
            </a:r>
            <a:r>
              <a:rPr lang="en-US" dirty="0" err="1"/>
              <a:t>so|N</a:t>
            </a:r>
            <a:r>
              <a:rPr lang="en-US" dirty="0"/>
              <a:t>) * P(</a:t>
            </a:r>
            <a:r>
              <a:rPr lang="en-US" dirty="0" err="1"/>
              <a:t>good|N</a:t>
            </a:r>
            <a:r>
              <a:rPr lang="en-US" dirty="0"/>
              <a:t>) = 2/5 * 3/13 * 3/13 * 2/13 </a:t>
            </a:r>
          </a:p>
        </p:txBody>
      </p:sp>
    </p:spTree>
    <p:extLst>
      <p:ext uri="{BB962C8B-B14F-4D97-AF65-F5344CB8AC3E}">
        <p14:creationId xmlns:p14="http://schemas.microsoft.com/office/powerpoint/2010/main" val="40748537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5998E-7444-5903-B669-1F04BD48E2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21472EE-A592-CA49-235D-91F4CFC47F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42" y="0"/>
            <a:ext cx="7449156" cy="28716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5415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27C300-EEB9-71CD-9EBC-1832057EE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9293C4D-E395-B5F4-EB1A-F51A64CCD443}"/>
              </a:ext>
            </a:extLst>
          </p:cNvPr>
          <p:cNvSpPr txBox="1"/>
          <p:nvPr/>
        </p:nvSpPr>
        <p:spPr>
          <a:xfrm>
            <a:off x="541090" y="549370"/>
            <a:ext cx="4572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|V| = 21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5DA6265-3785-E15D-174B-913DAE0EFAAB}"/>
              </a:ext>
            </a:extLst>
          </p:cNvPr>
          <p:cNvSpPr txBox="1"/>
          <p:nvPr/>
        </p:nvSpPr>
        <p:spPr>
          <a:xfrm>
            <a:off x="3636627" y="337861"/>
            <a:ext cx="4572000" cy="4339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| w               		| P(</a:t>
            </a:r>
            <a:r>
              <a:rPr lang="en-US" sz="1200" dirty="0" err="1"/>
              <a:t>w|Spam</a:t>
            </a:r>
            <a:r>
              <a:rPr lang="en-US" sz="1200" dirty="0"/>
              <a:t>) | P(</a:t>
            </a:r>
            <a:r>
              <a:rPr lang="en-US" sz="1200" dirty="0" err="1"/>
              <a:t>w|Ham</a:t>
            </a:r>
            <a:r>
              <a:rPr lang="en-US" sz="1200" dirty="0"/>
              <a:t>) |</a:t>
            </a:r>
          </a:p>
          <a:p>
            <a:r>
              <a:rPr lang="en-US" sz="1200" dirty="0"/>
              <a:t>|-------------------------	|----------------|----------|</a:t>
            </a:r>
          </a:p>
          <a:p>
            <a:r>
              <a:rPr lang="en-US" sz="1200" dirty="0"/>
              <a:t>| a               		| 2/35      | 1/30     |</a:t>
            </a:r>
          </a:p>
          <a:p>
            <a:r>
              <a:rPr lang="en-US" sz="1200" dirty="0"/>
              <a:t>| apply          		| 2/35      | 1/30     |</a:t>
            </a:r>
          </a:p>
          <a:p>
            <a:r>
              <a:rPr lang="en-US" sz="1200" dirty="0"/>
              <a:t>| can             		| 1/35      | 2/30     |</a:t>
            </a:r>
          </a:p>
          <a:p>
            <a:r>
              <a:rPr lang="en-US" sz="1200" dirty="0"/>
              <a:t>| congratulations	| 2/35      | 1/30     |</a:t>
            </a:r>
          </a:p>
          <a:p>
            <a:r>
              <a:rPr lang="en-US" sz="1200" dirty="0"/>
              <a:t>| expires        	| 2/35      | 1/30     |</a:t>
            </a:r>
          </a:p>
          <a:p>
            <a:r>
              <a:rPr lang="en-US" sz="1200" dirty="0"/>
              <a:t>| for               		| 1/35      | 2/30     |</a:t>
            </a:r>
          </a:p>
          <a:p>
            <a:r>
              <a:rPr lang="en-US" sz="1200" dirty="0"/>
              <a:t>| limited        		| 2/35      | 1/30     |</a:t>
            </a:r>
          </a:p>
          <a:p>
            <a:r>
              <a:rPr lang="en-US" sz="1200" dirty="0"/>
              <a:t>| meeting        	| 1/35      | 3/30     |</a:t>
            </a:r>
          </a:p>
          <a:p>
            <a:r>
              <a:rPr lang="en-US" sz="1200" dirty="0"/>
              <a:t>| now            		| 2/35      | 1/30     |</a:t>
            </a:r>
          </a:p>
          <a:p>
            <a:r>
              <a:rPr lang="en-US" sz="1200" dirty="0"/>
              <a:t>| offer          		| 3/35      | 1/30     |</a:t>
            </a:r>
          </a:p>
          <a:p>
            <a:r>
              <a:rPr lang="en-US" sz="1200" dirty="0"/>
              <a:t>| prize          		| 2/35      | 1/30     |</a:t>
            </a:r>
          </a:p>
          <a:p>
            <a:r>
              <a:rPr lang="en-US" sz="1200" dirty="0"/>
              <a:t>| reschedule     	| 1/35      | 2/30     |</a:t>
            </a:r>
          </a:p>
          <a:p>
            <a:r>
              <a:rPr lang="en-US" sz="1200" dirty="0"/>
              <a:t>| scheduled      	| 1/35      | 2/30     |</a:t>
            </a:r>
          </a:p>
          <a:p>
            <a:r>
              <a:rPr lang="en-US" sz="1200" dirty="0"/>
              <a:t>| soon           		| 2/35      | 1/30     |</a:t>
            </a:r>
          </a:p>
          <a:p>
            <a:r>
              <a:rPr lang="en-US" sz="1200" dirty="0"/>
              <a:t>| subscription   	| 2/35      | 1/30     |</a:t>
            </a:r>
          </a:p>
          <a:p>
            <a:r>
              <a:rPr lang="en-US" sz="1200" dirty="0"/>
              <a:t>| the            		| 1/35      | 2/30     |</a:t>
            </a:r>
          </a:p>
          <a:p>
            <a:r>
              <a:rPr lang="en-US" sz="1200" dirty="0"/>
              <a:t>| tomorrow       	| 1/35      | 2/30     |</a:t>
            </a:r>
          </a:p>
          <a:p>
            <a:r>
              <a:rPr lang="en-US" sz="1200" dirty="0"/>
              <a:t>| we             		| 1/35      | 2/30     |</a:t>
            </a:r>
          </a:p>
          <a:p>
            <a:r>
              <a:rPr lang="en-US" sz="1200" dirty="0"/>
              <a:t>| won            		| 2/35      | 1/30     |</a:t>
            </a:r>
          </a:p>
          <a:p>
            <a:r>
              <a:rPr lang="en-US" sz="1200" dirty="0"/>
              <a:t>| you            		| 2/35      | 1/30     |</a:t>
            </a:r>
          </a:p>
          <a:p>
            <a:r>
              <a:rPr lang="en-US" sz="1200" dirty="0"/>
              <a:t>| your           		| 2/35      | 1/30     |</a:t>
            </a:r>
          </a:p>
        </p:txBody>
      </p:sp>
    </p:spTree>
    <p:extLst>
      <p:ext uri="{BB962C8B-B14F-4D97-AF65-F5344CB8AC3E}">
        <p14:creationId xmlns:p14="http://schemas.microsoft.com/office/powerpoint/2010/main" val="130480336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1F7D831-6BDF-E801-EE15-E19070F58D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917CFB-61FB-1B5E-805E-1B9E1C6742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6514706" cy="38310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40642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8593B4-271B-99B4-9220-8A5F65F446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38ADD96-E44C-3A1D-E97E-E906D02E6366}"/>
              </a:ext>
            </a:extLst>
          </p:cNvPr>
          <p:cNvSpPr txBox="1"/>
          <p:nvPr/>
        </p:nvSpPr>
        <p:spPr>
          <a:xfrm>
            <a:off x="425450" y="0"/>
            <a:ext cx="7899400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V: 14, P(1) = 5/9, P(0) = 4/9</a:t>
            </a:r>
          </a:p>
          <a:p>
            <a:r>
              <a:rPr lang="en-US" dirty="0"/>
              <a:t>P(1|gently, embraces, blue, ripples)</a:t>
            </a:r>
          </a:p>
          <a:p>
            <a:r>
              <a:rPr lang="en-US" dirty="0"/>
              <a:t> = P(gently|1) * P(embraces|1) * P(blue|1) * P(ripples|1) * P(1)</a:t>
            </a:r>
          </a:p>
          <a:p>
            <a:r>
              <a:rPr lang="en-US" dirty="0"/>
              <a:t>= (1+1)/(14+20) * (1+1)/(14+20) * (1+1)/(14+20) * (2+1)/(14+20) * 5/9 = 9.98e-6</a:t>
            </a:r>
          </a:p>
          <a:p>
            <a:r>
              <a:rPr lang="en-US" dirty="0"/>
              <a:t>P(0|gently, embraces, blue, ripples)</a:t>
            </a:r>
          </a:p>
          <a:p>
            <a:r>
              <a:rPr lang="en-US" dirty="0"/>
              <a:t>= P(gently|0) * P(embraces|0) * P(blue|0) * P(ripples|0) * P(0)</a:t>
            </a:r>
          </a:p>
          <a:p>
            <a:r>
              <a:rPr lang="en-US" dirty="0"/>
              <a:t>= (1+1)/(14+16) * (0+1)/(14+16) * (1+1)/(14+16) * (0+1)/(14+16) * 4/9 = 2.19e-6</a:t>
            </a:r>
          </a:p>
          <a:p>
            <a:endParaRPr lang="en-US" dirty="0"/>
          </a:p>
          <a:p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C8B40D1-3854-EFF5-23D0-5D4666B7A1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19388056"/>
              </p:ext>
            </p:extLst>
          </p:nvPr>
        </p:nvGraphicFramePr>
        <p:xfrm>
          <a:off x="5943524" y="2641244"/>
          <a:ext cx="3174124" cy="25159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87062">
                  <a:extLst>
                    <a:ext uri="{9D8B030D-6E8A-4147-A177-3AD203B41FA5}">
                      <a16:colId xmlns:a16="http://schemas.microsoft.com/office/drawing/2014/main" val="3157287515"/>
                    </a:ext>
                  </a:extLst>
                </a:gridCol>
                <a:gridCol w="1587062">
                  <a:extLst>
                    <a:ext uri="{9D8B030D-6E8A-4147-A177-3AD203B41FA5}">
                      <a16:colId xmlns:a16="http://schemas.microsoft.com/office/drawing/2014/main" val="2851766270"/>
                    </a:ext>
                  </a:extLst>
                </a:gridCol>
              </a:tblGrid>
              <a:tr h="125799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85427218"/>
                  </a:ext>
                </a:extLst>
              </a:tr>
              <a:tr h="1257994"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19594379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95A5340-6634-AFED-F9A7-6F033CFDEC34}"/>
              </a:ext>
            </a:extLst>
          </p:cNvPr>
          <p:cNvSpPr txBox="1"/>
          <p:nvPr/>
        </p:nvSpPr>
        <p:spPr>
          <a:xfrm>
            <a:off x="6384634" y="2119868"/>
            <a:ext cx="30197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Truth</a:t>
            </a:r>
          </a:p>
          <a:p>
            <a:r>
              <a:rPr lang="en-US" dirty="0">
                <a:solidFill>
                  <a:srgbClr val="FF0000"/>
                </a:solidFill>
              </a:rPr>
              <a:t>0                         1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35EBDAD-E689-0AB6-D82C-E6970351C75B}"/>
              </a:ext>
            </a:extLst>
          </p:cNvPr>
          <p:cNvSpPr txBox="1"/>
          <p:nvPr/>
        </p:nvSpPr>
        <p:spPr>
          <a:xfrm>
            <a:off x="4889171" y="2755920"/>
            <a:ext cx="1274908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FF0000"/>
                </a:solidFill>
              </a:rPr>
              <a:t>predicted</a:t>
            </a:r>
          </a:p>
          <a:p>
            <a:r>
              <a:rPr lang="en-US" dirty="0">
                <a:solidFill>
                  <a:srgbClr val="FF0000"/>
                </a:solidFill>
              </a:rPr>
              <a:t>0                        </a:t>
            </a: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endParaRPr lang="en-US" dirty="0">
              <a:solidFill>
                <a:srgbClr val="FF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157681025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2333063-774E-D64F-A41A-85AA488BD5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1311854878"/>
      </p:ext>
    </p:extLst>
  </p:cSld>
  <p:clrMapOvr>
    <a:masterClrMapping/>
  </p:clrMapOvr>
</p:sld>
</file>

<file path=ppt/theme/theme1.xml><?xml version="1.0" encoding="utf-8"?>
<a:theme xmlns:a="http://schemas.openxmlformats.org/drawingml/2006/main" name="UTA Accessible Templat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Classic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Accessible-PPT.pptx" id="{DC14534C-1046-F040-970C-D4B656BEDF73}" vid="{22719C90-FD2E-C343-B61D-D3EE9148FC78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AE8C2F9B7856C4FB1B45376C9CA1279" ma:contentTypeVersion="12" ma:contentTypeDescription="Create a new document." ma:contentTypeScope="" ma:versionID="47b510a268ab94799d39988294a018bf">
  <xsd:schema xmlns:xsd="http://www.w3.org/2001/XMLSchema" xmlns:xs="http://www.w3.org/2001/XMLSchema" xmlns:p="http://schemas.microsoft.com/office/2006/metadata/properties" xmlns:ns2="56169281-d10e-4687-8d86-e0ae9795bb4c" xmlns:ns3="d98033a5-711e-4d41-9a92-34dc22feb152" targetNamespace="http://schemas.microsoft.com/office/2006/metadata/properties" ma:root="true" ma:fieldsID="430f78a0ddeb4ad93cb2cb32c7d65c5c" ns2:_="" ns3:_="">
    <xsd:import namespace="56169281-d10e-4687-8d86-e0ae9795bb4c"/>
    <xsd:import namespace="d98033a5-711e-4d41-9a92-34dc22feb152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MediaLengthInSeconds" minOccurs="0"/>
                <xsd:element ref="ns3:SharedWithUsers" minOccurs="0"/>
                <xsd:element ref="ns3:SharedWithDetail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6169281-d10e-4687-8d86-e0ae9795bb4c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4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5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DateTaken" ma:index="16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7" nillable="true" ma:displayName="Length (seconds)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98033a5-711e-4d41-9a92-34dc22feb152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DAF4F739-B76C-4907-A1E7-133652B3E27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6169281-d10e-4687-8d86-e0ae9795bb4c"/>
    <ds:schemaRef ds:uri="d98033a5-711e-4d41-9a92-34dc22feb15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987676A-099B-4B53-B66D-C60F83A7142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8499CAED-701D-44BF-B45E-0631AD0D07E6}">
  <ds:schemaRefs>
    <ds:schemaRef ds:uri="56169281-d10e-4687-8d86-e0ae9795bb4c"/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http://purl.org/dc/terms/"/>
    <ds:schemaRef ds:uri="http://www.w3.org/XML/1998/namespace"/>
    <ds:schemaRef ds:uri="http://purl.org/dc/dcmitype/"/>
    <ds:schemaRef ds:uri="http://schemas.openxmlformats.org/package/2006/metadata/core-properties"/>
    <ds:schemaRef ds:uri="d98033a5-711e-4d41-9a92-34dc22feb152"/>
    <ds:schemaRef ds:uri="http://purl.org/dc/elements/1.1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UTA Accessible Template</Template>
  <TotalTime>5277</TotalTime>
  <Words>1001</Words>
  <Application>Microsoft Office PowerPoint</Application>
  <PresentationFormat>On-screen Show (16:9)</PresentationFormat>
  <Paragraphs>112</Paragraphs>
  <Slides>16</Slides>
  <Notes>16</Notes>
  <HiddenSlides>0</HiddenSlides>
  <MMClips>3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5" baseType="lpstr">
      <vt:lpstr>黑体</vt:lpstr>
      <vt:lpstr>Arial</vt:lpstr>
      <vt:lpstr>Calibri</vt:lpstr>
      <vt:lpstr>Helvetica</vt:lpstr>
      <vt:lpstr>Poppins</vt:lpstr>
      <vt:lpstr>Symbol</vt:lpstr>
      <vt:lpstr>Times New Roman</vt:lpstr>
      <vt:lpstr>Wingdings</vt:lpstr>
      <vt:lpstr>UTA Accessible Template</vt:lpstr>
      <vt:lpstr>Tutorial 4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George, Melissa J</dc:creator>
  <cp:lastModifiedBy>Zhang, Weiran</cp:lastModifiedBy>
  <cp:revision>112</cp:revision>
  <dcterms:created xsi:type="dcterms:W3CDTF">2021-08-31T19:16:02Z</dcterms:created>
  <dcterms:modified xsi:type="dcterms:W3CDTF">2026-02-11T23:51:16Z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0x0101006AE8C2F9B7856C4FB1B45376C9CA1279</vt:lpwstr>
  </property>
</Properties>
</file>