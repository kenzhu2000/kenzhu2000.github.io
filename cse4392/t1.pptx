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75" r:id="rId5"/>
    <p:sldId id="336" r:id="rId6"/>
    <p:sldId id="322" r:id="rId7"/>
    <p:sldId id="326" r:id="rId8"/>
    <p:sldId id="337" r:id="rId9"/>
    <p:sldId id="338" r:id="rId10"/>
    <p:sldId id="339" r:id="rId11"/>
    <p:sldId id="342" r:id="rId12"/>
    <p:sldId id="340" r:id="rId13"/>
    <p:sldId id="341" r:id="rId14"/>
    <p:sldId id="287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B570E1-CFFA-F280-BAED-DB325FDF417B}" name="Bridges, Jessica L" initials="BL" userId="S::bridges@uta.edu::7543e851-fc57-4885-b57d-2df771cc28b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2184"/>
    <a:srgbClr val="00599B"/>
    <a:srgbClr val="80F571"/>
    <a:srgbClr val="13409F"/>
    <a:srgbClr val="CAB447"/>
    <a:srgbClr val="FFE1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40"/>
    <p:restoredTop sz="78087" autoAdjust="0"/>
  </p:normalViewPr>
  <p:slideViewPr>
    <p:cSldViewPr snapToGrid="0" snapToObjects="1">
      <p:cViewPr varScale="1">
        <p:scale>
          <a:sx n="99" d="100"/>
          <a:sy n="99" d="100"/>
        </p:scale>
        <p:origin x="1692" y="60"/>
      </p:cViewPr>
      <p:guideLst/>
    </p:cSldViewPr>
  </p:slideViewPr>
  <p:outlineViewPr>
    <p:cViewPr>
      <p:scale>
        <a:sx n="33" d="100"/>
        <a:sy n="33" d="100"/>
      </p:scale>
      <p:origin x="0" y="-1870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3120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ng, Weiran" userId="S::wxz9630@mavs.uta.edu::647f5b6a-3f7d-4b03-bdb2-5e95800f4c7b" providerId="AD" clId="Web-{039A63CE-AC6E-5343-2385-21C0274B76D7}"/>
    <pc:docChg chg="modSld">
      <pc:chgData name="Zhang, Weiran" userId="S::wxz9630@mavs.uta.edu::647f5b6a-3f7d-4b03-bdb2-5e95800f4c7b" providerId="AD" clId="Web-{039A63CE-AC6E-5343-2385-21C0274B76D7}" dt="2026-01-15T02:08:06.421" v="5"/>
      <pc:docMkLst>
        <pc:docMk/>
      </pc:docMkLst>
      <pc:sldChg chg="modNotes">
        <pc:chgData name="Zhang, Weiran" userId="S::wxz9630@mavs.uta.edu::647f5b6a-3f7d-4b03-bdb2-5e95800f4c7b" providerId="AD" clId="Web-{039A63CE-AC6E-5343-2385-21C0274B76D7}" dt="2026-01-15T02:07:53.703" v="0"/>
        <pc:sldMkLst>
          <pc:docMk/>
          <pc:sldMk cId="1547186827" sldId="326"/>
        </pc:sldMkLst>
      </pc:sldChg>
      <pc:sldChg chg="modNotes">
        <pc:chgData name="Zhang, Weiran" userId="S::wxz9630@mavs.uta.edu::647f5b6a-3f7d-4b03-bdb2-5e95800f4c7b" providerId="AD" clId="Web-{039A63CE-AC6E-5343-2385-21C0274B76D7}" dt="2026-01-15T02:07:55.640" v="1"/>
        <pc:sldMkLst>
          <pc:docMk/>
          <pc:sldMk cId="3006293635" sldId="337"/>
        </pc:sldMkLst>
      </pc:sldChg>
      <pc:sldChg chg="modNotes">
        <pc:chgData name="Zhang, Weiran" userId="S::wxz9630@mavs.uta.edu::647f5b6a-3f7d-4b03-bdb2-5e95800f4c7b" providerId="AD" clId="Web-{039A63CE-AC6E-5343-2385-21C0274B76D7}" dt="2026-01-15T02:07:59.124" v="2"/>
        <pc:sldMkLst>
          <pc:docMk/>
          <pc:sldMk cId="3153051634" sldId="339"/>
        </pc:sldMkLst>
      </pc:sldChg>
      <pc:sldChg chg="modNotes">
        <pc:chgData name="Zhang, Weiran" userId="S::wxz9630@mavs.uta.edu::647f5b6a-3f7d-4b03-bdb2-5e95800f4c7b" providerId="AD" clId="Web-{039A63CE-AC6E-5343-2385-21C0274B76D7}" dt="2026-01-15T02:08:03.234" v="4"/>
        <pc:sldMkLst>
          <pc:docMk/>
          <pc:sldMk cId="414758924" sldId="340"/>
        </pc:sldMkLst>
      </pc:sldChg>
      <pc:sldChg chg="modNotes">
        <pc:chgData name="Zhang, Weiran" userId="S::wxz9630@mavs.uta.edu::647f5b6a-3f7d-4b03-bdb2-5e95800f4c7b" providerId="AD" clId="Web-{039A63CE-AC6E-5343-2385-21C0274B76D7}" dt="2026-01-15T02:08:06.421" v="5"/>
        <pc:sldMkLst>
          <pc:docMk/>
          <pc:sldMk cId="4056840040" sldId="341"/>
        </pc:sldMkLst>
      </pc:sldChg>
      <pc:sldChg chg="modNotes">
        <pc:chgData name="Zhang, Weiran" userId="S::wxz9630@mavs.uta.edu::647f5b6a-3f7d-4b03-bdb2-5e95800f4c7b" providerId="AD" clId="Web-{039A63CE-AC6E-5343-2385-21C0274B76D7}" dt="2026-01-15T02:08:01.343" v="3"/>
        <pc:sldMkLst>
          <pc:docMk/>
          <pc:sldMk cId="2909343080" sldId="34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F0ABC6-AE81-214D-B04B-F13CE22270E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823795-EAAB-8C4B-B865-8464BECAB5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1FE638-083F-2742-8710-EF25AB6A16C1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BECA2D-985E-8D44-A4FB-51751C64F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640B2F-FCD1-B940-AFB1-3C0582F356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670D12-813D-3D40-A841-271861A2D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571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15A097-495F-854B-A9AD-402D045A3296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80C5E2-78CD-F746-9BAF-2B89BCAF7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962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7443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5A386-54E6-27BF-F37B-93ABC366B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0D5B54-DA0D-79D3-CC9A-C70B0178C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38A66-7D7F-328A-2D99-66856D398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F504F-AB30-6CA1-0B50-D0982376F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3225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56FC7-7B57-9B34-0849-C63EFD745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6A493-5B8F-B9CD-9EE4-713326D26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2D1DF-D2CD-F0BF-62DF-8107F9243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99663-8861-F76C-865E-A2D41C6D0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75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FCD30-B447-862F-BA4A-F05E2DBDD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0A1D32-770F-246F-B604-45C528D5EC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3246D3-D27D-DA6C-B05A-30F5B0D563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10E35-F402-B8AE-35AC-E4ADF1E505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7532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5B524-83E4-6211-7543-441BD8771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66830-EB16-320A-F6F0-857871F196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87D04-009E-4DE1-58E2-E9ADD644D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800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40909A-EC74-FD89-D231-0648F0F92B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8000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F1B5B-303B-D7FB-1083-E6C12303D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439015-9F8E-7D7E-9C0B-0AAFD33D8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E31310-2015-F2A4-7EA2-E454E98D4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A6AAC-E726-121F-845D-E5147AFA25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057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B9055-6031-C093-3158-329304A0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8BC0CA-E7C9-EE34-344C-D433EB20E1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395A02-CC7A-5E26-7AFD-5FFF6DE27C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14CE0-493D-1C71-1529-6289C9F9D4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8825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E1485-C302-CD99-C1F5-B0DC2B35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5E2AE1-B2CA-E212-7E51-60E048E3E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7B12-15F2-3B5D-DEAA-93263871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AE71AF-7A45-5FAE-556A-609BC7F402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2938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193C3-FCBA-57EE-D86D-A4F422D37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23764B-52A7-9E03-582A-2428BBE8C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19C040-3AE7-FE6D-77D3-4D6B669D2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2D630-474F-2CF0-F20D-49E6369346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468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CDB81-B46E-BA3F-99D7-32416328D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ACA866-E817-1BB6-930A-76BCBAA8B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DF8D35-B329-EEBB-04DC-F98E39D65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92E31-C396-A523-C012-68DE5A5F9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825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852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T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031E7C7E-200A-F626-0A3D-92CC978B8D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978871" y="3562708"/>
            <a:ext cx="5226218" cy="1455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957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</p:spTree>
    <p:extLst>
      <p:ext uri="{BB962C8B-B14F-4D97-AF65-F5344CB8AC3E}">
        <p14:creationId xmlns:p14="http://schemas.microsoft.com/office/powerpoint/2010/main" val="1750241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759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255C03-226B-5FC2-208E-578716830E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1600" y="2741663"/>
            <a:ext cx="3659188" cy="898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6237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1785462"/>
            <a:ext cx="8229600" cy="857253"/>
          </a:xfrm>
        </p:spPr>
        <p:txBody>
          <a:bodyPr>
            <a:normAutofit/>
          </a:bodyPr>
          <a:lstStyle>
            <a:lvl1pPr>
              <a:defRPr sz="4400" b="1" i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DB257BD6-4D9A-CD45-BCE2-728C5AB620C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2529642"/>
            <a:ext cx="8229600" cy="679450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45287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88B4A6B9-381D-5D40-84AC-41D60C0A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8999"/>
            <a:ext cx="8229600" cy="85725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H2 Subtitle">
            <a:extLst>
              <a:ext uri="{FF2B5EF4-FFF2-40B4-BE49-F238E27FC236}">
                <a16:creationId xmlns:a16="http://schemas.microsoft.com/office/drawing/2014/main" id="{5B196C90-74A6-5E42-A204-A1E0DBCB679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8375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Body Content">
            <a:extLst>
              <a:ext uri="{FF2B5EF4-FFF2-40B4-BE49-F238E27FC236}">
                <a16:creationId xmlns:a16="http://schemas.microsoft.com/office/drawing/2014/main" id="{4F275BD8-ECF8-F54B-B4E2-A66F7AB27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8229600" cy="3098800"/>
          </a:xfrm>
        </p:spPr>
        <p:txBody>
          <a:bodyPr>
            <a:normAutofit/>
          </a:bodyPr>
          <a:lstStyle>
            <a:lvl1pPr marL="342900" indent="-342900">
              <a:buFont typeface="Wingdings" pitchFamily="2" charset="2"/>
              <a:buChar char="§"/>
              <a:defRPr sz="1600"/>
            </a:lvl1pPr>
            <a:lvl2pPr marL="742950" indent="-285750">
              <a:buFont typeface="Wingdings" pitchFamily="2" charset="2"/>
              <a:buChar char="§"/>
              <a:defRPr sz="1600"/>
            </a:lvl2pPr>
            <a:lvl3pPr marL="1143000" indent="-228600">
              <a:buFont typeface="Wingdings" pitchFamily="2" charset="2"/>
              <a:buChar char="§"/>
              <a:defRPr sz="1600"/>
            </a:lvl3pPr>
            <a:lvl4pPr marL="1600200" indent="-228600">
              <a:buFont typeface="Wingdings" pitchFamily="2" charset="2"/>
              <a:buChar char="§"/>
              <a:defRPr sz="1600"/>
            </a:lvl4pPr>
            <a:lvl5pPr marL="2057400" indent="-228600">
              <a:buFont typeface="Wingdings" pitchFamily="2" charset="2"/>
              <a:buChar char="§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66960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H2 Subtitle">
            <a:extLst>
              <a:ext uri="{FF2B5EF4-FFF2-40B4-BE49-F238E27FC236}">
                <a16:creationId xmlns:a16="http://schemas.microsoft.com/office/drawing/2014/main" id="{7E449A25-5BA8-A049-892B-A920427B81B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7994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Body Content 1"/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4038600" cy="3098800"/>
          </a:xfrm>
        </p:spPr>
        <p:txBody>
          <a:bodyPr>
            <a:normAutofit/>
          </a:bodyPr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648200" y="1310641"/>
            <a:ext cx="4038600" cy="309880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14677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7501" y="1111158"/>
            <a:ext cx="2721430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Body Content 2">
            <a:extLst>
              <a:ext uri="{FF2B5EF4-FFF2-40B4-BE49-F238E27FC236}">
                <a16:creationId xmlns:a16="http://schemas.microsoft.com/office/drawing/2014/main" id="{AF760239-E1E4-98A8-BC2A-AD64F71B7E0D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499" y="2856015"/>
            <a:ext cx="2721431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Body Content 2">
            <a:extLst>
              <a:ext uri="{FF2B5EF4-FFF2-40B4-BE49-F238E27FC236}">
                <a16:creationId xmlns:a16="http://schemas.microsoft.com/office/drawing/2014/main" id="{52458702-0A0A-743A-4663-E0EA4FBC4EB5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2919350" y="1111158"/>
            <a:ext cx="2644240" cy="1744857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Body Content 2">
            <a:extLst>
              <a:ext uri="{FF2B5EF4-FFF2-40B4-BE49-F238E27FC236}">
                <a16:creationId xmlns:a16="http://schemas.microsoft.com/office/drawing/2014/main" id="{E7DCE5C4-5A12-8BD9-2E79-6B094F4C1FDC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2909453" y="2985224"/>
            <a:ext cx="2721431" cy="1971304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Body Content 2">
            <a:extLst>
              <a:ext uri="{FF2B5EF4-FFF2-40B4-BE49-F238E27FC236}">
                <a16:creationId xmlns:a16="http://schemas.microsoft.com/office/drawing/2014/main" id="{3180402C-B205-3B02-80EC-1389CEFE02F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008916" y="1117911"/>
            <a:ext cx="2933203" cy="166173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Body Content 2">
            <a:extLst>
              <a:ext uri="{FF2B5EF4-FFF2-40B4-BE49-F238E27FC236}">
                <a16:creationId xmlns:a16="http://schemas.microsoft.com/office/drawing/2014/main" id="{1D0698A4-F993-1339-EDDC-E122275B26E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975267" y="2985224"/>
            <a:ext cx="2952999" cy="1959926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380621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Wide Table">
            <a:extLst>
              <a:ext uri="{FF2B5EF4-FFF2-40B4-BE49-F238E27FC236}">
                <a16:creationId xmlns:a16="http://schemas.microsoft.com/office/drawing/2014/main" id="{A31F2DD0-A818-C246-A801-671F4BC2994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181464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h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Wide Chart">
            <a:extLst>
              <a:ext uri="{FF2B5EF4-FFF2-40B4-BE49-F238E27FC236}">
                <a16:creationId xmlns:a16="http://schemas.microsoft.com/office/drawing/2014/main" id="{21B7D27F-640B-514B-9B11-9D1645F3F49A}"/>
              </a:ext>
            </a:extLst>
          </p:cNvPr>
          <p:cNvSpPr>
            <a:spLocks noGrp="1" noChangeAspect="1"/>
          </p:cNvSpPr>
          <p:nvPr>
            <p:ph type="chart" sz="quarter" idx="11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933253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ull Bleed Photo">
            <a:extLst>
              <a:ext uri="{FF2B5EF4-FFF2-40B4-BE49-F238E27FC236}">
                <a16:creationId xmlns:a16="http://schemas.microsoft.com/office/drawing/2014/main" id="{3D0D2707-18C2-FA48-9C1E-B114D1A3869D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809535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ull Bleed Video">
            <a:extLst>
              <a:ext uri="{FF2B5EF4-FFF2-40B4-BE49-F238E27FC236}">
                <a16:creationId xmlns:a16="http://schemas.microsoft.com/office/drawing/2014/main" id="{E64AE5ED-FB71-2940-A0AA-8B776317FAB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3238597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 Content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84154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3" r:id="rId2"/>
    <p:sldLayoutId id="2147483665" r:id="rId3"/>
    <p:sldLayoutId id="2147483666" r:id="rId4"/>
    <p:sldLayoutId id="2147483654" r:id="rId5"/>
    <p:sldLayoutId id="2147483650" r:id="rId6"/>
    <p:sldLayoutId id="2147483652" r:id="rId7"/>
    <p:sldLayoutId id="2147483664" r:id="rId8"/>
    <p:sldLayoutId id="2147483659" r:id="rId9"/>
    <p:sldLayoutId id="2147483662" r:id="rId10"/>
    <p:sldLayoutId id="2147483660" r:id="rId11"/>
    <p:sldLayoutId id="2147483661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35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tex-project.org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overleaf.com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earnpython.org/" TargetMode="External"/><Relationship Id="rId7" Type="http://schemas.openxmlformats.org/officeDocument/2006/relationships/hyperlink" Target="https://www.tutorialspoint.com/compilers/online-python-compiler.ht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rogramming-23.mooc.fi/" TargetMode="External"/><Relationship Id="rId5" Type="http://schemas.openxmlformats.org/officeDocument/2006/relationships/hyperlink" Target="https://pytorch.org/tutorials/beginner/deep_learning_60min_blitz.html" TargetMode="External"/><Relationship Id="rId4" Type="http://schemas.openxmlformats.org/officeDocument/2006/relationships/hyperlink" Target="https://numpy.org/learn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.google.com/" TargetMode="External"/><Relationship Id="rId7" Type="http://schemas.openxmlformats.org/officeDocument/2006/relationships/hyperlink" Target="https://dl.acm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ieeexplore.ieee.org/" TargetMode="External"/><Relationship Id="rId5" Type="http://schemas.openxmlformats.org/officeDocument/2006/relationships/hyperlink" Target="https://aclanthology.org" TargetMode="External"/><Relationship Id="rId4" Type="http://schemas.openxmlformats.org/officeDocument/2006/relationships/hyperlink" Target="https://dblp.org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kaggle.com/" TargetMode="External"/><Relationship Id="rId4" Type="http://schemas.openxmlformats.org/officeDocument/2006/relationships/hyperlink" Target="https://huggingface.co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577" y="422303"/>
            <a:ext cx="8229600" cy="1758197"/>
          </a:xfrm>
        </p:spPr>
        <p:txBody>
          <a:bodyPr>
            <a:noAutofit/>
          </a:bodyPr>
          <a:lstStyle/>
          <a:p>
            <a:r>
              <a:rPr lang="en-US" sz="3600" dirty="0"/>
              <a:t>Tutorial 1</a:t>
            </a:r>
            <a:endParaRPr lang="en-US" altLang="zh-CN" sz="40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46EDE5-6FC5-824E-9F44-F022997BFE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3679699"/>
            <a:ext cx="8229600" cy="933225"/>
          </a:xfrm>
        </p:spPr>
        <p:txBody>
          <a:bodyPr>
            <a:normAutofit/>
          </a:bodyPr>
          <a:lstStyle/>
          <a:p>
            <a:pPr fontAlgn="base"/>
            <a:r>
              <a:rPr lang="en-US" altLang="zh-CN" dirty="0"/>
              <a:t>Presenter: Peter​ Zhang</a:t>
            </a:r>
          </a:p>
          <a:p>
            <a:pPr fontAlgn="base"/>
            <a:r>
              <a:rPr lang="en-US" altLang="zh-CN" dirty="0"/>
              <a:t>1/14/2026</a:t>
            </a:r>
          </a:p>
          <a:p>
            <a:endParaRPr lang="en-US" sz="2400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7C796814-B4C7-06C2-94D6-3F9ED29CF958}"/>
              </a:ext>
            </a:extLst>
          </p:cNvPr>
          <p:cNvSpPr txBox="1">
            <a:spLocks/>
          </p:cNvSpPr>
          <p:nvPr/>
        </p:nvSpPr>
        <p:spPr>
          <a:xfrm>
            <a:off x="361577" y="2463487"/>
            <a:ext cx="8229600" cy="933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24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endParaRPr lang="en-US" altLang="zh-CN" sz="2800" b="1" i="1" dirty="0"/>
          </a:p>
        </p:txBody>
      </p:sp>
    </p:spTree>
    <p:extLst>
      <p:ext uri="{BB962C8B-B14F-4D97-AF65-F5344CB8AC3E}">
        <p14:creationId xmlns:p14="http://schemas.microsoft.com/office/powerpoint/2010/main" val="3506317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81E09-725E-A3E7-1716-CE5DCAF47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3588DD5-C491-7CF3-E6C4-5A55D3690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/>
          <a:p>
            <a:r>
              <a:rPr lang="en-US" dirty="0">
                <a:latin typeface="Poppins" pitchFamily="2" charset="77"/>
                <a:cs typeface="Poppins" pitchFamily="2" charset="77"/>
              </a:rPr>
              <a:t>Some</a:t>
            </a:r>
            <a:r>
              <a:rPr lang="en" dirty="0">
                <a:latin typeface="Poppins" pitchFamily="2" charset="77"/>
                <a:cs typeface="Poppins" pitchFamily="2" charset="77"/>
              </a:rPr>
              <a:t> Agreements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7FA3B8-4CAC-B25E-A7C5-8D2EBFD04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1460" y="591477"/>
            <a:ext cx="8162698" cy="3896633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lnSpc>
                <a:spcPct val="200000"/>
              </a:lnSpc>
              <a:buFont typeface="Apple Symbols" panose="02000000000000000000" pitchFamily="2" charset="-79"/>
              <a:buChar char="⬡"/>
            </a:pPr>
            <a:r>
              <a:rPr lang="en-US" sz="1700" b="1" dirty="0">
                <a:latin typeface="Poppins" pitchFamily="2" charset="77"/>
                <a:cs typeface="Poppins" pitchFamily="2" charset="77"/>
              </a:rPr>
              <a:t>There will be a weekly assignment</a:t>
            </a:r>
          </a:p>
          <a:p>
            <a:pPr lvl="1">
              <a:lnSpc>
                <a:spcPct val="150000"/>
              </a:lnSpc>
              <a:buFont typeface="System Font Regular"/>
              <a:buChar char="→"/>
            </a:pPr>
            <a:r>
              <a:rPr lang="en-US" sz="1700" dirty="0">
                <a:latin typeface="Poppins" pitchFamily="2" charset="77"/>
                <a:cs typeface="Poppins" pitchFamily="2" charset="77"/>
              </a:rPr>
              <a:t>Sometimes theoretical, sometimes programming and sometimes both</a:t>
            </a:r>
          </a:p>
          <a:p>
            <a:pPr lvl="1">
              <a:lnSpc>
                <a:spcPct val="150000"/>
              </a:lnSpc>
              <a:buFont typeface="System Font Regular"/>
              <a:buChar char="→"/>
            </a:pPr>
            <a:r>
              <a:rPr lang="en-US" sz="1700" dirty="0">
                <a:latin typeface="Poppins" pitchFamily="2" charset="77"/>
                <a:cs typeface="Poppins" pitchFamily="2" charset="77"/>
              </a:rPr>
              <a:t>Usually released on Wed. with the deadline being on next Wed.</a:t>
            </a:r>
          </a:p>
          <a:p>
            <a:pPr>
              <a:lnSpc>
                <a:spcPct val="200000"/>
              </a:lnSpc>
              <a:buFont typeface="Apple Symbols" panose="02000000000000000000" pitchFamily="2" charset="-79"/>
              <a:buChar char="⬡"/>
            </a:pPr>
            <a:r>
              <a:rPr lang="en-US" sz="1700" b="1" dirty="0">
                <a:latin typeface="Poppins" pitchFamily="2" charset="77"/>
                <a:cs typeface="Poppins" pitchFamily="2" charset="77"/>
              </a:rPr>
              <a:t>Office Hours are on Fri 2-4PM</a:t>
            </a:r>
          </a:p>
          <a:p>
            <a:pPr lvl="1">
              <a:lnSpc>
                <a:spcPct val="150000"/>
              </a:lnSpc>
              <a:buFont typeface="System Font Regular"/>
              <a:buChar char="→"/>
            </a:pPr>
            <a:r>
              <a:rPr lang="en-US" sz="1700" dirty="0">
                <a:latin typeface="Poppins" pitchFamily="2" charset="77"/>
                <a:cs typeface="Poppins" pitchFamily="2" charset="77"/>
              </a:rPr>
              <a:t>Also feel free to ask anytime via email or Teams group</a:t>
            </a:r>
            <a:endParaRPr lang="en-US" sz="1700" b="1" dirty="0">
              <a:latin typeface="Poppins" pitchFamily="2" charset="77"/>
              <a:cs typeface="Poppins" pitchFamily="2" charset="77"/>
            </a:endParaRPr>
          </a:p>
          <a:p>
            <a:pPr>
              <a:lnSpc>
                <a:spcPct val="200000"/>
              </a:lnSpc>
              <a:buFont typeface="Apple Symbols" panose="02000000000000000000" pitchFamily="2" charset="-79"/>
              <a:buChar char="⬡"/>
            </a:pPr>
            <a:r>
              <a:rPr lang="en-US" sz="1700" b="1" dirty="0">
                <a:latin typeface="Poppins" pitchFamily="2" charset="77"/>
                <a:cs typeface="Poppins" pitchFamily="2" charset="77"/>
              </a:rPr>
              <a:t>There is a team project to demonstrate your NLP skills</a:t>
            </a:r>
          </a:p>
          <a:p>
            <a:pPr lvl="1">
              <a:lnSpc>
                <a:spcPct val="150000"/>
              </a:lnSpc>
              <a:buFont typeface="System Font Regular"/>
              <a:buChar char="→"/>
            </a:pPr>
            <a:r>
              <a:rPr lang="en-US" sz="1700" dirty="0">
                <a:latin typeface="Poppins" pitchFamily="2" charset="77"/>
                <a:cs typeface="Poppins" pitchFamily="2" charset="77"/>
              </a:rPr>
              <a:t>Teams of two should be formed</a:t>
            </a:r>
          </a:p>
          <a:p>
            <a:pPr lvl="1">
              <a:lnSpc>
                <a:spcPct val="150000"/>
              </a:lnSpc>
              <a:buFont typeface="System Font Regular"/>
              <a:buChar char="→"/>
            </a:pPr>
            <a:r>
              <a:rPr lang="en-US" sz="1800" dirty="0"/>
              <a:t>The project addresses one of the NLP tasks and produces a research paper in ACL format (8 + X pages), along with code and data.</a:t>
            </a:r>
            <a:endParaRPr lang="en-US" sz="1700" dirty="0"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648553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49CCE-ED76-8FB5-A257-6CCDE2B0D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ADF500-6292-F3BD-B2A0-FC7ACB98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/>
          <a:p>
            <a:r>
              <a:rPr lang="en-US" dirty="0">
                <a:latin typeface="Poppins" pitchFamily="2" charset="77"/>
                <a:cs typeface="Poppins" pitchFamily="2" charset="77"/>
              </a:rPr>
              <a:t>Some</a:t>
            </a:r>
            <a:r>
              <a:rPr lang="en" dirty="0">
                <a:latin typeface="Poppins" pitchFamily="2" charset="77"/>
                <a:cs typeface="Poppins" pitchFamily="2" charset="77"/>
              </a:rPr>
              <a:t> Agreements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ECEAC0-2253-E353-6059-AA6EF2D429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1460" y="591478"/>
            <a:ext cx="8573758" cy="384629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endParaRPr lang="en-US" dirty="0"/>
          </a:p>
          <a:p>
            <a:pPr>
              <a:lnSpc>
                <a:spcPct val="200000"/>
              </a:lnSpc>
              <a:buFont typeface="Apple Symbols" panose="02000000000000000000" pitchFamily="2" charset="-79"/>
              <a:buChar char="⬡"/>
            </a:pPr>
            <a:r>
              <a:rPr lang="en-US" sz="1700" b="1" dirty="0">
                <a:latin typeface="Poppins" pitchFamily="2" charset="77"/>
                <a:cs typeface="Poppins" pitchFamily="2" charset="77"/>
              </a:rPr>
              <a:t>Highly recommended to keep up with the lecture</a:t>
            </a:r>
          </a:p>
          <a:p>
            <a:pPr lvl="1">
              <a:lnSpc>
                <a:spcPct val="150000"/>
              </a:lnSpc>
              <a:buFont typeface="System Font Regular"/>
              <a:buChar char="→"/>
            </a:pPr>
            <a:r>
              <a:rPr lang="en-US" sz="1700" dirty="0">
                <a:latin typeface="Poppins" pitchFamily="2" charset="77"/>
                <a:cs typeface="Poppins" pitchFamily="2" charset="77"/>
              </a:rPr>
              <a:t>On Wednesday we assume you went over Monday content</a:t>
            </a:r>
          </a:p>
          <a:p>
            <a:pPr>
              <a:lnSpc>
                <a:spcPct val="200000"/>
              </a:lnSpc>
              <a:buFont typeface="Apple Symbols" panose="02000000000000000000" pitchFamily="2" charset="-79"/>
              <a:buChar char="⬡"/>
            </a:pPr>
            <a:r>
              <a:rPr lang="en-US" sz="1700" b="1" dirty="0">
                <a:latin typeface="Poppins" pitchFamily="2" charset="77"/>
                <a:cs typeface="Poppins" pitchFamily="2" charset="77"/>
              </a:rPr>
              <a:t>In the tutorials we will generally do the following activities</a:t>
            </a:r>
          </a:p>
          <a:p>
            <a:pPr lvl="1">
              <a:lnSpc>
                <a:spcPct val="150000"/>
              </a:lnSpc>
              <a:buFont typeface="System Font Regular"/>
              <a:buChar char="→"/>
            </a:pPr>
            <a:r>
              <a:rPr lang="en-US" sz="1700" dirty="0">
                <a:latin typeface="Poppins" pitchFamily="2" charset="77"/>
                <a:cs typeface="Poppins" pitchFamily="2" charset="77"/>
              </a:rPr>
              <a:t>Solve a collective pop quiz to promote consistent study habits</a:t>
            </a:r>
          </a:p>
          <a:p>
            <a:pPr lvl="1">
              <a:lnSpc>
                <a:spcPct val="150000"/>
              </a:lnSpc>
              <a:buFont typeface="System Font Regular"/>
              <a:buChar char="→"/>
            </a:pPr>
            <a:r>
              <a:rPr lang="en-US" sz="1700" dirty="0">
                <a:latin typeface="Poppins" pitchFamily="2" charset="77"/>
                <a:cs typeface="Poppins" pitchFamily="2" charset="77"/>
              </a:rPr>
              <a:t>Present your own homework (bonus)</a:t>
            </a:r>
          </a:p>
          <a:p>
            <a:pPr lvl="1">
              <a:lnSpc>
                <a:spcPct val="150000"/>
              </a:lnSpc>
              <a:buFont typeface="System Font Regular"/>
              <a:buChar char="→"/>
            </a:pPr>
            <a:r>
              <a:rPr lang="en-US" sz="1700" dirty="0">
                <a:latin typeface="Poppins" pitchFamily="2" charset="77"/>
                <a:cs typeface="Poppins" pitchFamily="2" charset="77"/>
              </a:rPr>
              <a:t>Solve hard assignment problems or mention common mistakes</a:t>
            </a:r>
          </a:p>
          <a:p>
            <a:pPr lvl="1">
              <a:lnSpc>
                <a:spcPct val="150000"/>
              </a:lnSpc>
              <a:buFont typeface="System Font Regular"/>
              <a:buChar char="→"/>
            </a:pPr>
            <a:r>
              <a:rPr lang="en-US" sz="1700" dirty="0">
                <a:latin typeface="Poppins" pitchFamily="2" charset="77"/>
                <a:cs typeface="Poppins" pitchFamily="2" charset="77"/>
              </a:rPr>
              <a:t>Demonstrate practical aspects of concepts covered in the lecture</a:t>
            </a:r>
          </a:p>
          <a:p>
            <a:pPr>
              <a:lnSpc>
                <a:spcPct val="200000"/>
              </a:lnSpc>
              <a:buFont typeface="Apple Symbols" panose="02000000000000000000" pitchFamily="2" charset="-79"/>
              <a:buChar char="⬡"/>
            </a:pPr>
            <a:r>
              <a:rPr lang="en-US" sz="1700" b="1" dirty="0">
                <a:latin typeface="Poppins" pitchFamily="2" charset="77"/>
                <a:cs typeface="Poppins" pitchFamily="2" charset="77"/>
              </a:rPr>
              <a:t>Participation is highly encouraged</a:t>
            </a:r>
          </a:p>
          <a:p>
            <a:endParaRPr lang="en-US" dirty="0"/>
          </a:p>
          <a:p>
            <a:endParaRPr lang="en-US" dirty="0"/>
          </a:p>
          <a:p>
            <a:pPr lvl="0"/>
            <a:endParaRPr lang="en-US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22999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8264D-5C1A-7063-232E-47D6795BD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129AC0-D5B6-31B7-3AD5-9C7C738B2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Quiz recap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C5F5C94-EF21-0F0D-41A7-384B94E4E2C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799465"/>
            <a:ext cx="8229600" cy="338456"/>
          </a:xfrm>
        </p:spPr>
        <p:txBody>
          <a:bodyPr/>
          <a:lstStyle/>
          <a:p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C6A466-9FD2-0F1C-F532-9551DCA1D6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1310641"/>
            <a:ext cx="8229600" cy="30988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dirty="0"/>
              <a:t>Which of the following statement is true? </a:t>
            </a:r>
          </a:p>
          <a:p>
            <a:pPr marL="0" indent="0">
              <a:buNone/>
            </a:pPr>
            <a:r>
              <a:rPr lang="en-US" dirty="0"/>
              <a:t>Can you provide an example or evident to back up the statement?</a:t>
            </a:r>
          </a:p>
          <a:p>
            <a:pPr marL="342900" indent="-342900">
              <a:buAutoNum type="arabicParenR"/>
            </a:pPr>
            <a:r>
              <a:rPr lang="en-US" dirty="0"/>
              <a:t>human language is equivalent to human thoughts</a:t>
            </a:r>
          </a:p>
          <a:p>
            <a:pPr marL="0" indent="0">
              <a:buNone/>
            </a:pPr>
            <a:r>
              <a:rPr lang="en-US" dirty="0"/>
              <a:t>2)   human language is derived from some of the human thoughts</a:t>
            </a:r>
          </a:p>
          <a:p>
            <a:pPr marL="0" indent="0">
              <a:buNone/>
            </a:pPr>
            <a:r>
              <a:rPr lang="en-US" dirty="0"/>
              <a:t>3)   human language and thoughts interact but they are independent.</a:t>
            </a:r>
          </a:p>
        </p:txBody>
      </p:sp>
    </p:spTree>
    <p:extLst>
      <p:ext uri="{BB962C8B-B14F-4D97-AF65-F5344CB8AC3E}">
        <p14:creationId xmlns:p14="http://schemas.microsoft.com/office/powerpoint/2010/main" val="1547186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D1647-6AC7-16D3-7E01-CA8B5C799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D8F5EEF-FCD8-5487-4B5A-F78A1507F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Quiz recap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FB58BCE-5407-AF6E-E4E9-87363102C98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799465"/>
            <a:ext cx="8229600" cy="33845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B4A975-808A-DB5B-B3F6-1E288B796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1310641"/>
            <a:ext cx="8229600" cy="30988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dirty="0"/>
              <a:t>The following news headlines are ambiguous:</a:t>
            </a:r>
          </a:p>
          <a:p>
            <a:r>
              <a:rPr lang="en-US" dirty="0"/>
              <a:t>Miners refuse to work after death</a:t>
            </a:r>
          </a:p>
          <a:p>
            <a:r>
              <a:rPr lang="en-US" dirty="0"/>
              <a:t>Squad helps dog bite victim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Can you point out which part of the sentences causes the ambiguity and why?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Hint: Lexical Ambiguity, Syntactic Ambiguity, Semantic Ambiguity, Discourse Ambiguity</a:t>
            </a:r>
          </a:p>
        </p:txBody>
      </p:sp>
    </p:spTree>
    <p:extLst>
      <p:ext uri="{BB962C8B-B14F-4D97-AF65-F5344CB8AC3E}">
        <p14:creationId xmlns:p14="http://schemas.microsoft.com/office/powerpoint/2010/main" val="3006293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BFB5E-0B6A-5F10-8A10-8C33C3BA9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6BFA78-0AD7-BA6F-F18D-CFB068F3A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LaTeX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70275A6-4F4F-F876-F847-2FFB18284CE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799465"/>
            <a:ext cx="8229600" cy="338456"/>
          </a:xfrm>
        </p:spPr>
        <p:txBody>
          <a:bodyPr/>
          <a:lstStyle/>
          <a:p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2D0D81-E64F-344E-9375-5007EA8528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1310641"/>
            <a:ext cx="8229600" cy="30988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Assignment templates are provided on the course website in .</a:t>
            </a:r>
            <a:r>
              <a:rPr lang="en-US" dirty="0" err="1"/>
              <a:t>tex</a:t>
            </a:r>
            <a:r>
              <a:rPr lang="en-US" dirty="0"/>
              <a:t> and .pdf formats.</a:t>
            </a:r>
          </a:p>
          <a:p>
            <a:endParaRPr lang="en-US" dirty="0"/>
          </a:p>
          <a:p>
            <a:r>
              <a:rPr lang="en-US" dirty="0"/>
              <a:t>We highly recommend learning LaTeX. It is a document preparation system widely used for writing technical and scientific papers.</a:t>
            </a:r>
          </a:p>
          <a:p>
            <a:endParaRPr lang="en-US" dirty="0"/>
          </a:p>
          <a:p>
            <a:r>
              <a:rPr lang="en-US" dirty="0"/>
              <a:t>You can learn LaTeX: </a:t>
            </a:r>
            <a:r>
              <a:rPr lang="en-US" dirty="0">
                <a:hlinkClick r:id="rId3"/>
              </a:rPr>
              <a:t>https://www.latex-project.org/</a:t>
            </a:r>
            <a:endParaRPr lang="en-US" dirty="0"/>
          </a:p>
          <a:p>
            <a:endParaRPr lang="en-US" dirty="0"/>
          </a:p>
          <a:p>
            <a:r>
              <a:rPr lang="en-US" dirty="0"/>
              <a:t>Or use Overleaf: </a:t>
            </a:r>
            <a:r>
              <a:rPr lang="en-US" dirty="0">
                <a:hlinkClick r:id="rId4"/>
              </a:rPr>
              <a:t>https://www.overleaf.com/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554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D767-8424-3F3F-35AA-AC22231DD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14F6C1-5CA3-8B50-73E5-55B0B3AF5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Python Resource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EEFA086-1230-AB3B-9F9A-E08B4FA2742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799465"/>
            <a:ext cx="8229600" cy="338456"/>
          </a:xfrm>
        </p:spPr>
        <p:txBody>
          <a:bodyPr/>
          <a:lstStyle/>
          <a:p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EE0B97-078A-1238-1516-BFE76C6DAC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1310641"/>
            <a:ext cx="8229600" cy="3098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Python: </a:t>
            </a:r>
            <a:r>
              <a:rPr lang="en-US" dirty="0">
                <a:hlinkClick r:id="rId3"/>
              </a:rPr>
              <a:t>https://www.learnpython.org/</a:t>
            </a:r>
            <a:endParaRPr lang="en-US" dirty="0"/>
          </a:p>
          <a:p>
            <a:endParaRPr lang="en-US" dirty="0"/>
          </a:p>
          <a:p>
            <a:r>
              <a:rPr lang="en-US" dirty="0"/>
              <a:t>NumPy: </a:t>
            </a:r>
            <a:r>
              <a:rPr lang="en-US" dirty="0">
                <a:hlinkClick r:id="rId4"/>
              </a:rPr>
              <a:t>https://numpy.org/learn/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PyTorch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https://pytorch.org/tutorials/beginner/deep_learning_60min_blitz.html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Online course: </a:t>
            </a:r>
            <a:r>
              <a:rPr lang="en-US" dirty="0">
                <a:hlinkClick r:id="rId6"/>
              </a:rPr>
              <a:t>https://programming-23.mooc.fi/</a:t>
            </a:r>
            <a:endParaRPr lang="en-US" dirty="0"/>
          </a:p>
          <a:p>
            <a:endParaRPr lang="en-US" dirty="0"/>
          </a:p>
          <a:p>
            <a:r>
              <a:rPr lang="en-US" dirty="0"/>
              <a:t>Online Coding: </a:t>
            </a:r>
            <a:r>
              <a:rPr lang="en-US" dirty="0">
                <a:hlinkClick r:id="rId7"/>
              </a:rPr>
              <a:t>https://www.tutorialspoint.com/compilers/online-python-compiler.htm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30516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ABC19-7A6D-328E-78FE-B468DDD55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BE03F5-81D2-347B-5C9B-F1F53D5D4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Potential Topics (non-exclusive)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59CDA2FB-0CCA-B2AC-502E-9E0500B4A2C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799465"/>
            <a:ext cx="8229600" cy="338456"/>
          </a:xfrm>
        </p:spPr>
        <p:txBody>
          <a:bodyPr/>
          <a:lstStyle/>
          <a:p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82AEAC-78D1-AF96-96AD-E1D9A582E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1310641"/>
            <a:ext cx="8229600" cy="3098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Text Classification</a:t>
            </a:r>
          </a:p>
          <a:p>
            <a:r>
              <a:rPr lang="en-US" dirty="0"/>
              <a:t>Named entity Recognition(NER)</a:t>
            </a:r>
          </a:p>
          <a:p>
            <a:r>
              <a:rPr lang="en-US" dirty="0"/>
              <a:t>Machine Translation</a:t>
            </a:r>
          </a:p>
          <a:p>
            <a:r>
              <a:rPr lang="en-US" dirty="0"/>
              <a:t>Text Generation</a:t>
            </a:r>
          </a:p>
          <a:p>
            <a:r>
              <a:rPr lang="en-US" dirty="0"/>
              <a:t>Question-Answering </a:t>
            </a:r>
          </a:p>
          <a:p>
            <a:r>
              <a:rPr lang="en-US" dirty="0"/>
              <a:t>Speech Recognition</a:t>
            </a:r>
          </a:p>
          <a:p>
            <a:r>
              <a:rPr lang="en-US" dirty="0"/>
              <a:t>Text Summarization</a:t>
            </a:r>
          </a:p>
          <a:p>
            <a:r>
              <a:rPr lang="en-US" dirty="0"/>
              <a:t>Sentiment Analysis</a:t>
            </a:r>
          </a:p>
          <a:p>
            <a:r>
              <a:rPr lang="en-US" dirty="0"/>
              <a:t>Language Understanding (Modeling)</a:t>
            </a:r>
          </a:p>
          <a:p>
            <a:r>
              <a:rPr lang="en-US" dirty="0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909343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95DC3-CF4C-5F8D-44AC-E53A4A548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BE3026-7194-C107-F41E-FA0965131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Paper Resource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2814D84-C903-FB2B-9FA6-D04AE48F807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799465"/>
            <a:ext cx="8229600" cy="338456"/>
          </a:xfrm>
        </p:spPr>
        <p:txBody>
          <a:bodyPr/>
          <a:lstStyle/>
          <a:p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5A65D4-64FA-BEA3-AE94-D5568D3CEE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1310641"/>
            <a:ext cx="8229600" cy="3098800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r>
              <a:rPr lang="en-US" sz="2400" dirty="0"/>
              <a:t>Google Scholar </a:t>
            </a:r>
          </a:p>
          <a:p>
            <a:pPr lvl="1"/>
            <a:r>
              <a:rPr lang="en-US" sz="2200" dirty="0">
                <a:hlinkClick r:id="rId3"/>
              </a:rPr>
              <a:t>https://</a:t>
            </a:r>
            <a:r>
              <a:rPr lang="en-US" sz="2200" dirty="0">
                <a:solidFill>
                  <a:srgbClr val="000000"/>
                </a:solidFill>
                <a:latin typeface="-apple-system"/>
                <a:hlinkClick r:id="rId3"/>
              </a:rPr>
              <a:t>scholar.google.com</a:t>
            </a:r>
            <a:endParaRPr lang="en-US" sz="2200" dirty="0">
              <a:solidFill>
                <a:srgbClr val="000000"/>
              </a:solidFill>
              <a:latin typeface="-apple-system"/>
            </a:endParaRPr>
          </a:p>
          <a:p>
            <a:r>
              <a:rPr lang="en-US" sz="2400" dirty="0">
                <a:solidFill>
                  <a:srgbClr val="000000"/>
                </a:solidFill>
                <a:latin typeface="-apple-system"/>
              </a:rPr>
              <a:t>DBLP</a:t>
            </a:r>
          </a:p>
          <a:p>
            <a:pPr lvl="1"/>
            <a:r>
              <a:rPr lang="en-US" sz="2200" dirty="0">
                <a:solidFill>
                  <a:srgbClr val="000000"/>
                </a:solidFill>
                <a:latin typeface="-apple-system"/>
                <a:hlinkClick r:id="rId4"/>
              </a:rPr>
              <a:t>https://dblp.org</a:t>
            </a:r>
            <a:endParaRPr lang="en-US" sz="2200" dirty="0">
              <a:solidFill>
                <a:srgbClr val="000000"/>
              </a:solidFill>
              <a:latin typeface="-apple-system"/>
            </a:endParaRPr>
          </a:p>
          <a:p>
            <a:r>
              <a:rPr lang="en-US" sz="2400" dirty="0">
                <a:solidFill>
                  <a:srgbClr val="000000"/>
                </a:solidFill>
                <a:latin typeface="-apple-system"/>
              </a:rPr>
              <a:t>ACL Anthology </a:t>
            </a:r>
          </a:p>
          <a:p>
            <a:pPr lvl="1"/>
            <a:r>
              <a:rPr lang="en-US" sz="2200" dirty="0">
                <a:solidFill>
                  <a:srgbClr val="000000"/>
                </a:solidFill>
                <a:latin typeface="-apple-system"/>
                <a:hlinkClick r:id="rId5"/>
              </a:rPr>
              <a:t>https://aclanthology.org</a:t>
            </a:r>
          </a:p>
          <a:p>
            <a:r>
              <a:rPr lang="en-US" sz="2400" dirty="0"/>
              <a:t>IEEE Xplore </a:t>
            </a:r>
          </a:p>
          <a:p>
            <a:pPr lvl="1"/>
            <a:r>
              <a:rPr lang="en-US" sz="2200" dirty="0">
                <a:hlinkClick r:id="rId6"/>
              </a:rPr>
              <a:t>https://ieeexplore.ieee.org</a:t>
            </a:r>
            <a:endParaRPr lang="en-US" sz="2200" dirty="0"/>
          </a:p>
          <a:p>
            <a:r>
              <a:rPr lang="en-US" sz="2400" dirty="0"/>
              <a:t>ACM Digital Library </a:t>
            </a:r>
          </a:p>
          <a:p>
            <a:pPr lvl="1"/>
            <a:r>
              <a:rPr lang="en-US" sz="2200" dirty="0">
                <a:hlinkClick r:id="rId7"/>
              </a:rPr>
              <a:t>https://dl.acm.org</a:t>
            </a:r>
            <a:endParaRPr lang="en-US" sz="22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589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3FB21-0F5C-DFAA-265D-1D91F97B3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CB9F88-1F43-850B-33C0-600F18093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Experiment Resource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6BFEC30-6E47-FF8F-E664-4C5FE5A21D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799465"/>
            <a:ext cx="8229600" cy="338456"/>
          </a:xfrm>
        </p:spPr>
        <p:txBody>
          <a:bodyPr/>
          <a:lstStyle/>
          <a:p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5C16D55-BBBB-1734-92FC-A8DE3C480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1310641"/>
            <a:ext cx="8229600" cy="3098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Cloud Computing Platforms</a:t>
            </a:r>
          </a:p>
          <a:p>
            <a:pPr lvl="1"/>
            <a:r>
              <a:rPr lang="en-US" dirty="0"/>
              <a:t>Google </a:t>
            </a:r>
            <a:r>
              <a:rPr lang="en-US" dirty="0" err="1"/>
              <a:t>Colab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</a:t>
            </a:r>
            <a:r>
              <a:rPr lang="en-US" dirty="0"/>
              <a:t> (</a:t>
            </a:r>
            <a:r>
              <a:rPr lang="en-US" dirty="0" err="1"/>
              <a:t>Jupyter</a:t>
            </a:r>
            <a:r>
              <a:rPr lang="en-US" dirty="0"/>
              <a:t> notebooks, free GPU)</a:t>
            </a:r>
          </a:p>
          <a:p>
            <a:r>
              <a:rPr lang="en-US" dirty="0"/>
              <a:t>AI Platform &amp; Ecosystem</a:t>
            </a:r>
          </a:p>
          <a:p>
            <a:pPr lvl="1"/>
            <a:r>
              <a:rPr lang="en-US" dirty="0"/>
              <a:t>Hugging Face: </a:t>
            </a:r>
            <a:r>
              <a:rPr lang="en-US" dirty="0">
                <a:hlinkClick r:id="rId4"/>
              </a:rPr>
              <a:t>https://huggingface.co/</a:t>
            </a:r>
            <a:r>
              <a:rPr lang="en-US" dirty="0"/>
              <a:t> (models, datasets, inference, Spaces)</a:t>
            </a:r>
          </a:p>
          <a:p>
            <a:pPr lvl="1"/>
            <a:r>
              <a:rPr lang="en-US" dirty="0"/>
              <a:t>Kaggle: </a:t>
            </a:r>
            <a:r>
              <a:rPr lang="en-US" dirty="0">
                <a:hlinkClick r:id="rId5"/>
              </a:rPr>
              <a:t>https://www.kaggle.com/</a:t>
            </a:r>
            <a:r>
              <a:rPr lang="en-US" dirty="0"/>
              <a:t> (datasets, notebooks, competitions)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840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11854878"/>
      </p:ext>
    </p:extLst>
  </p:cSld>
  <p:clrMapOvr>
    <a:masterClrMapping/>
  </p:clrMapOvr>
</p:sld>
</file>

<file path=ppt/theme/theme1.xml><?xml version="1.0" encoding="utf-8"?>
<a:theme xmlns:a="http://schemas.openxmlformats.org/drawingml/2006/main" name="UTA Accessible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ccessible-PPT.pptx" id="{DC14534C-1046-F040-970C-D4B656BEDF73}" vid="{22719C90-FD2E-C343-B61D-D3EE9148FC7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E8C2F9B7856C4FB1B45376C9CA1279" ma:contentTypeVersion="12" ma:contentTypeDescription="Create a new document." ma:contentTypeScope="" ma:versionID="47b510a268ab94799d39988294a018bf">
  <xsd:schema xmlns:xsd="http://www.w3.org/2001/XMLSchema" xmlns:xs="http://www.w3.org/2001/XMLSchema" xmlns:p="http://schemas.microsoft.com/office/2006/metadata/properties" xmlns:ns2="56169281-d10e-4687-8d86-e0ae9795bb4c" xmlns:ns3="d98033a5-711e-4d41-9a92-34dc22feb152" targetNamespace="http://schemas.microsoft.com/office/2006/metadata/properties" ma:root="true" ma:fieldsID="430f78a0ddeb4ad93cb2cb32c7d65c5c" ns2:_="" ns3:_="">
    <xsd:import namespace="56169281-d10e-4687-8d86-e0ae9795bb4c"/>
    <xsd:import namespace="d98033a5-711e-4d41-9a92-34dc22feb15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169281-d10e-4687-8d86-e0ae9795bb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8033a5-711e-4d41-9a92-34dc22feb15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499CAED-701D-44BF-B45E-0631AD0D07E6}">
  <ds:schemaRefs>
    <ds:schemaRef ds:uri="56169281-d10e-4687-8d86-e0ae9795bb4c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www.w3.org/XML/1998/namespace"/>
    <ds:schemaRef ds:uri="http://purl.org/dc/dcmitype/"/>
    <ds:schemaRef ds:uri="http://schemas.openxmlformats.org/package/2006/metadata/core-properties"/>
    <ds:schemaRef ds:uri="d98033a5-711e-4d41-9a92-34dc22feb152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DAF4F739-B76C-4907-A1E7-133652B3E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6169281-d10e-4687-8d86-e0ae9795bb4c"/>
    <ds:schemaRef ds:uri="d98033a5-711e-4d41-9a92-34dc22feb15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87676A-099B-4B53-B66D-C60F83A7142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UTA Accessible Template</Template>
  <TotalTime>3712</TotalTime>
  <Words>994</Words>
  <Application>Microsoft Office PowerPoint</Application>
  <PresentationFormat>On-screen Show (16:9)</PresentationFormat>
  <Paragraphs>114</Paragraphs>
  <Slides>11</Slides>
  <Notes>11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UTA Accessible Template</vt:lpstr>
      <vt:lpstr>Tutorial 1</vt:lpstr>
      <vt:lpstr>Some Agreements</vt:lpstr>
      <vt:lpstr>Some Agreements</vt:lpstr>
      <vt:lpstr>Quiz recap</vt:lpstr>
      <vt:lpstr>Quiz recap</vt:lpstr>
      <vt:lpstr>LaTeX</vt:lpstr>
      <vt:lpstr>Python Resource</vt:lpstr>
      <vt:lpstr>Potential Topics (non-exclusive)</vt:lpstr>
      <vt:lpstr>Paper Resource</vt:lpstr>
      <vt:lpstr>Experiment Resource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George, Melissa J</dc:creator>
  <cp:lastModifiedBy>Zhang, Weiran</cp:lastModifiedBy>
  <cp:revision>98</cp:revision>
  <dcterms:created xsi:type="dcterms:W3CDTF">2021-08-31T19:16:02Z</dcterms:created>
  <dcterms:modified xsi:type="dcterms:W3CDTF">2026-01-15T02:08:07Z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0x0101006AE8C2F9B7856C4FB1B45376C9CA1279</vt:lpwstr>
  </property>
</Properties>
</file>