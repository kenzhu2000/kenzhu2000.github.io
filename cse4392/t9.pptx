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43" r:id="rId5"/>
    <p:sldId id="377" r:id="rId6"/>
    <p:sldId id="379" r:id="rId7"/>
    <p:sldId id="381" r:id="rId8"/>
    <p:sldId id="287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/>
    <p:restoredTop sz="78087" autoAdjust="0"/>
  </p:normalViewPr>
  <p:slideViewPr>
    <p:cSldViewPr snapToGrid="0" snapToObjects="1">
      <p:cViewPr varScale="1">
        <p:scale>
          <a:sx n="164" d="100"/>
          <a:sy n="164" d="100"/>
        </p:scale>
        <p:origin x="4488" y="132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BB3E-1798-5071-4D45-9EEC852C4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407BF-36F7-080E-298C-0407FD063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DE57E7C-61C7-A1ED-F6D8-F40D16225F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DE57E7C-61C7-A1ED-F6D8-F40D16225F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dirty="0"/>
                  <a:t>One coin is almost always heads, the other is almost always tails, and the mixing probability is about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3/5</a:t>
                </a:r>
                <a:r>
                  <a:rPr lang="en-US" sz="1800" dirty="0"/>
                  <a:t>versus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2/5</a:t>
                </a:r>
                <a:r>
                  <a:rPr lang="en-US" sz="1800" dirty="0"/>
                  <a:t>.</a:t>
                </a:r>
                <a:br>
                  <a:rPr lang="en-US" sz="1800" dirty="0"/>
                </a:br>
                <a:br>
                  <a:rPr lang="en-US" sz="1800" dirty="0"/>
                </a:br>
                <a:endParaRPr lang="en-US" sz="1800" b="1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88DD-9093-3AFA-5DF2-D19013E44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80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7B337-E21B-CF04-417A-760CD6A8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BCF55-3E63-BDEC-2A46-2E469F7D2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909BA-6AE7-2FEC-DD2A-1A4DB891D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B884B-0CEF-830A-A679-4912ED318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07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3C844-FEA9-758C-8B94-9AEF6BEA7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17E44-ACC8-343E-2B0C-27AB58483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0E542EC-6DD5-2BFB-FA41-D41DFB1F582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0E542EC-6DD5-2BFB-FA41-D41DFB1F582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800" b="1" dirty="0"/>
                  <a:t>1. Preprocessing</a:t>
                </a:r>
              </a:p>
              <a:p>
                <a:r>
                  <a:rPr lang="en-US" sz="1800" dirty="0"/>
                  <a:t>Parse WSJ into sentence-level sequences </a:t>
                </a:r>
              </a:p>
              <a:p>
                <a:r>
                  <a:rPr lang="en-US" sz="1800" dirty="0"/>
                  <a:t>Build POS state set and vocabulary </a:t>
                </a:r>
              </a:p>
              <a:p>
                <a:r>
                  <a:rPr lang="en-US" sz="1800" dirty="0"/>
                  <a:t>Replace rare/unseen words with 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&lt;UNK&gt;</a:t>
                </a:r>
                <a:r>
                  <a:rPr lang="en-US" sz="1800" dirty="0"/>
                  <a:t> </a:t>
                </a:r>
              </a:p>
              <a:p>
                <a:r>
                  <a:rPr lang="en-US" sz="1800" b="1" dirty="0"/>
                  <a:t>2. Initialization</a:t>
                </a:r>
              </a:p>
              <a:p>
                <a:r>
                  <a:rPr lang="en-US" sz="1800" dirty="0"/>
                  <a:t>Randomly initialize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𝜋,𝐴,𝐵</a:t>
                </a:r>
                <a:endParaRPr lang="en-US" sz="1800" dirty="0"/>
              </a:p>
              <a:p>
                <a:r>
                  <a:rPr lang="en-US" sz="1800" dirty="0"/>
                  <a:t>Normalize to valid probability distributions </a:t>
                </a:r>
              </a:p>
              <a:p>
                <a:r>
                  <a:rPr lang="en-US" sz="1800" b="1" dirty="0"/>
                  <a:t>3. E-step</a:t>
                </a:r>
              </a:p>
              <a:p>
                <a:r>
                  <a:rPr lang="en-US" sz="1800" dirty="0"/>
                  <a:t>For each sentence, run forward-backward </a:t>
                </a:r>
              </a:p>
              <a:p>
                <a:r>
                  <a:rPr lang="en-US" sz="1800" dirty="0"/>
                  <a:t>Compute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𝛾_𝑡 (𝑠)</a:t>
                </a:r>
                <a:r>
                  <a:rPr lang="en-US" sz="1800" dirty="0"/>
                  <a:t>and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𝜉_𝑡 (𝑠ⓜ,𝑠^′ )</a:t>
                </a:r>
                <a:endParaRPr lang="ar-AE" sz="1800" dirty="0"/>
              </a:p>
              <a:p>
                <a:r>
                  <a:rPr lang="en-US" sz="1800" dirty="0"/>
                  <a:t>Accumulate expected initial, transition, and emission counts </a:t>
                </a:r>
              </a:p>
              <a:p>
                <a:r>
                  <a:rPr lang="en-US" sz="1800" b="1" dirty="0"/>
                  <a:t>4. M-step</a:t>
                </a:r>
              </a:p>
              <a:p>
                <a:r>
                  <a:rPr lang="en-US" sz="1800" dirty="0"/>
                  <a:t>Re-estimate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𝜋,𝐴,𝐵</a:t>
                </a:r>
                <a:r>
                  <a:rPr lang="en-US" sz="1800" dirty="0"/>
                  <a:t>by normalizing expected counts </a:t>
                </a:r>
              </a:p>
              <a:p>
                <a:r>
                  <a:rPr lang="en-US" sz="1800" dirty="0"/>
                  <a:t>Optionally apply smoothing </a:t>
                </a:r>
              </a:p>
              <a:p>
                <a:r>
                  <a:rPr lang="en-US" sz="1800" b="1" dirty="0"/>
                  <a:t>5. Convergence</a:t>
                </a:r>
              </a:p>
              <a:p>
                <a:r>
                  <a:rPr lang="en-US" sz="1800" dirty="0"/>
                  <a:t>Monitor total log-likelihood </a:t>
                </a:r>
              </a:p>
              <a:p>
                <a:r>
                  <a:rPr lang="en-US" sz="1800" dirty="0"/>
                  <a:t>Stop when improvement is below threshold </a:t>
                </a:r>
              </a:p>
              <a:p>
                <a:r>
                  <a:rPr lang="en-US" sz="1800" b="1" dirty="0"/>
                  <a:t>6. Decoding and evaluation</a:t>
                </a:r>
              </a:p>
              <a:p>
                <a:r>
                  <a:rPr lang="en-US" sz="1800" dirty="0"/>
                  <a:t>Decode test sentences with Viterbi </a:t>
                </a:r>
              </a:p>
              <a:p>
                <a:r>
                  <a:rPr lang="en-US" sz="1800" dirty="0"/>
                  <a:t>Map latent states to POS tags </a:t>
                </a:r>
              </a:p>
              <a:p>
                <a:r>
                  <a:rPr lang="en-US" sz="1800" dirty="0"/>
                  <a:t>Compare with gold tags using tagging accuracy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800" b="1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2DCCF-7B98-4D98-0F32-51902E9CA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83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77" y="422304"/>
            <a:ext cx="8229600" cy="1758197"/>
          </a:xfrm>
        </p:spPr>
        <p:txBody>
          <a:bodyPr>
            <a:noAutofit/>
          </a:bodyPr>
          <a:lstStyle/>
          <a:p>
            <a:r>
              <a:rPr lang="en-US" sz="3600" dirty="0"/>
              <a:t>Tutorial 9</a:t>
            </a:r>
            <a:endParaRPr lang="en-US" altLang="zh-CN" sz="4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3679700"/>
            <a:ext cx="8229600" cy="933225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4/1/2026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361577" y="2463488"/>
            <a:ext cx="8229600" cy="933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9" fontAlgn="base"/>
            <a:r>
              <a:rPr lang="fr-FR" altLang="zh-CN" sz="2800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11 &amp; HW 8</a:t>
            </a:r>
            <a:endParaRPr lang="en-US" altLang="zh-CN" sz="2800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20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330A-F2AE-329C-4657-EE2093D3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7CFD4-4B25-2DB4-DC2A-A99396D99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72624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F505DE-ECDB-EE9E-BF5B-C6E13BB6D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66" y="100084"/>
            <a:ext cx="2590933" cy="15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2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59AEE-0CF1-94EA-C4E3-173A7A349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51336D-DFAF-5DAD-5455-6DD0240CF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5373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02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C3013-6326-BBAC-F0CE-9BB00220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70D6E-124E-324E-4C43-E17AAA109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69477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76E106-F701-4F3C-04A1-045FA6F74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915" y="1775938"/>
            <a:ext cx="3893037" cy="72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21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E8C2F9B7856C4FB1B45376C9CA1279" ma:contentTypeVersion="12" ma:contentTypeDescription="Create a new document." ma:contentTypeScope="" ma:versionID="47b510a268ab94799d39988294a018bf">
  <xsd:schema xmlns:xsd="http://www.w3.org/2001/XMLSchema" xmlns:xs="http://www.w3.org/2001/XMLSchema" xmlns:p="http://schemas.microsoft.com/office/2006/metadata/properties" xmlns:ns2="56169281-d10e-4687-8d86-e0ae9795bb4c" xmlns:ns3="d98033a5-711e-4d41-9a92-34dc22feb152" targetNamespace="http://schemas.microsoft.com/office/2006/metadata/properties" ma:root="true" ma:fieldsID="430f78a0ddeb4ad93cb2cb32c7d65c5c" ns2:_="" ns3:_="">
    <xsd:import namespace="56169281-d10e-4687-8d86-e0ae9795bb4c"/>
    <xsd:import namespace="d98033a5-711e-4d41-9a92-34dc22feb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69281-d10e-4687-8d86-e0ae9795bb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033a5-711e-4d41-9a92-34dc22feb15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99CAED-701D-44BF-B45E-0631AD0D07E6}">
  <ds:schemaRefs>
    <ds:schemaRef ds:uri="56169281-d10e-4687-8d86-e0ae9795bb4c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98033a5-711e-4d41-9a92-34dc22feb152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F4F739-B76C-4907-A1E7-133652B3E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69281-d10e-4687-8d86-e0ae9795bb4c"/>
    <ds:schemaRef ds:uri="d98033a5-711e-4d41-9a92-34dc22feb1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Accessible Template</Template>
  <TotalTime>5787</TotalTime>
  <Words>20</Words>
  <Application>Microsoft Office PowerPoint</Application>
  <PresentationFormat>On-screen Show (16:9)</PresentationFormat>
  <Paragraphs>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黑体</vt:lpstr>
      <vt:lpstr>Arial</vt:lpstr>
      <vt:lpstr>Calibri</vt:lpstr>
      <vt:lpstr>Helvetica</vt:lpstr>
      <vt:lpstr>Wingdings</vt:lpstr>
      <vt:lpstr>UTA Accessible Template</vt:lpstr>
      <vt:lpstr>Tutorial 9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Melissa J</dc:creator>
  <cp:lastModifiedBy>Zhang, Weiran</cp:lastModifiedBy>
  <cp:revision>134</cp:revision>
  <dcterms:created xsi:type="dcterms:W3CDTF">2021-08-31T19:16:02Z</dcterms:created>
  <dcterms:modified xsi:type="dcterms:W3CDTF">2026-04-01T22:11:51Z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0x0101006AE8C2F9B7856C4FB1B45376C9CA1279</vt:lpwstr>
  </property>
</Properties>
</file>